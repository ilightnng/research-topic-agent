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85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E3CDE-566D-45A9-AC73-3B477B38B403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8140B-D67E-4D49-8765-40699D0A0A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572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8140B-D67E-4D49-8765-40699D0A0A2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734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m-a1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m-a1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152650"/>
            <a:ext cx="723900" cy="9525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602361" y="2570321"/>
            <a:ext cx="284293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EE5003 MSC PROJECT · NUS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550" y="2940368"/>
            <a:ext cx="6235526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35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Intelligent Multi-Agent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0550" y="3588068"/>
            <a:ext cx="8389848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35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Literature Research Assistant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9694" y="4342448"/>
            <a:ext cx="780666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Module &amp; Framework Selection — Context &amp; Harness Engineering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1218" y="4736782"/>
            <a:ext cx="582528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智能多智能体文献研究助手 · 模块与框架选型（组会汇报）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2361" y="5103971"/>
            <a:ext cx="3371116" cy="2185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EE5003 Zhou </a:t>
            </a:r>
            <a:r>
              <a:rPr lang="en-US" sz="1420" dirty="0" err="1">
                <a:solidFill>
                  <a:srgbClr val="94A3B8"/>
                </a:solidFill>
                <a:latin typeface="Arial"/>
                <a:ea typeface="Arial"/>
                <a:cs typeface="Arial"/>
              </a:rPr>
              <a:t>Hepeng</a:t>
            </a:r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 · 10/09/2026· NUS</a:t>
            </a:r>
          </a:p>
        </p:txBody>
      </p:sp>
      <p:sp>
        <p:nvSpPr>
          <p:cNvPr id="9" name="Line 9"/>
          <p:cNvSpPr/>
          <p:nvPr/>
        </p:nvSpPr>
        <p:spPr>
          <a:xfrm>
            <a:off x="609600" y="5619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609600" y="5905500"/>
            <a:ext cx="12954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721240" y="5999321"/>
            <a:ext cx="107211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Weekly runs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038350" y="5905500"/>
            <a:ext cx="1647825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2204751" y="5999321"/>
            <a:ext cx="130549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Paper relations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819525" y="5905500"/>
            <a:ext cx="1743075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3985811" y="5999321"/>
            <a:ext cx="140097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Three interfaces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695950" y="5905500"/>
            <a:ext cx="12954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5823335" y="5999321"/>
            <a:ext cx="104063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Dual engine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124700" y="5905500"/>
            <a:ext cx="2009775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7360564" y="5999321"/>
            <a:ext cx="152852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Built-in evaluation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19100"/>
            <a:ext cx="76200" cy="28575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11911" y="474821"/>
            <a:ext cx="252829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SYSTEM REQUIREMENTS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800100"/>
            <a:ext cx="504849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What the System Must Do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694" y="1237298"/>
            <a:ext cx="622951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 weekly, unattended, self-correcting research agent.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161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609600" y="1733550"/>
            <a:ext cx="3505200" cy="2019300"/>
          </a:xfrm>
          <a:prstGeom prst="roundRect">
            <a:avLst>
              <a:gd name="adj" fmla="val 28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876300" y="2019300"/>
            <a:ext cx="266700" cy="247650"/>
          </a:xfrm>
          <a:prstGeom prst="roundRect">
            <a:avLst>
              <a:gd name="adj" fmla="val 11538"/>
            </a:avLst>
          </a:prstGeom>
          <a:noFill/>
          <a:ln w="1714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Line 9"/>
          <p:cNvSpPr/>
          <p:nvPr/>
        </p:nvSpPr>
        <p:spPr>
          <a:xfrm>
            <a:off x="876300" y="2124075"/>
            <a:ext cx="266700" cy="9525"/>
          </a:xfrm>
          <a:custGeom>
            <a:avLst/>
            <a:gdLst/>
            <a:ahLst/>
            <a:cxnLst/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714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867156" y="2472690"/>
            <a:ext cx="297523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Weekly autonomous runs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9061" y="2856071"/>
            <a:ext cx="1960473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Per-topic schedule 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9061" y="3084671"/>
            <a:ext cx="121988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weekly report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9061" y="3408521"/>
            <a:ext cx="200054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每周无人值守长跑，产出周报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343400" y="1733550"/>
            <a:ext cx="3505200" cy="2019300"/>
          </a:xfrm>
          <a:prstGeom prst="roundRect">
            <a:avLst>
              <a:gd name="adj" fmla="val 28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5"/>
          <p:cNvSpPr/>
          <p:nvPr/>
        </p:nvSpPr>
        <p:spPr>
          <a:xfrm>
            <a:off x="4438650" y="2000250"/>
            <a:ext cx="304800" cy="352425"/>
          </a:xfrm>
          <a:custGeom>
            <a:avLst/>
            <a:gdLst/>
            <a:ahLst/>
            <a:cxnLst/>
            <a:rect l="l" t="t" r="r" b="b"/>
            <a:pathLst>
              <a:path w="304800" h="352425">
                <a:moveTo>
                  <a:pt x="152400" y="0"/>
                </a:moveTo>
                <a:lnTo>
                  <a:pt x="304800" y="57150"/>
                </a:lnTo>
                <a:lnTo>
                  <a:pt x="304800" y="180975"/>
                </a:lnTo>
                <a:cubicBezTo>
                  <a:pt x="304800" y="276225"/>
                  <a:pt x="228600" y="333375"/>
                  <a:pt x="152400" y="352425"/>
                </a:cubicBezTo>
                <a:cubicBezTo>
                  <a:pt x="76200" y="333375"/>
                  <a:pt x="0" y="276225"/>
                  <a:pt x="0" y="180975"/>
                </a:cubicBezTo>
                <a:lnTo>
                  <a:pt x="0" y="57150"/>
                </a:lnTo>
                <a:close/>
              </a:path>
            </a:pathLst>
          </a:custGeom>
          <a:noFill/>
          <a:ln w="1714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6"/>
          <p:cNvSpPr/>
          <p:nvPr/>
        </p:nvSpPr>
        <p:spPr>
          <a:xfrm>
            <a:off x="4524375" y="2105025"/>
            <a:ext cx="190500" cy="133350"/>
          </a:xfrm>
          <a:custGeom>
            <a:avLst/>
            <a:gdLst/>
            <a:ahLst/>
            <a:cxnLst/>
            <a:rect l="l" t="t" r="r" b="b"/>
            <a:pathLst>
              <a:path w="190500" h="133350">
                <a:moveTo>
                  <a:pt x="0" y="66675"/>
                </a:moveTo>
                <a:lnTo>
                  <a:pt x="66675" y="133350"/>
                </a:lnTo>
                <a:lnTo>
                  <a:pt x="190500" y="0"/>
                </a:lnTo>
              </a:path>
            </a:pathLst>
          </a:custGeom>
          <a:noFill/>
          <a:ln w="1714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4600956" y="2472690"/>
            <a:ext cx="17352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Self-correction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02861" y="2856071"/>
            <a:ext cx="160941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No drift, no loops,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02861" y="3084671"/>
            <a:ext cx="1594988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no topic deviation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02861" y="3408521"/>
            <a:ext cx="167032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漂移/循环/停滞都有守卫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077200" y="1733550"/>
            <a:ext cx="3505200" cy="2019300"/>
          </a:xfrm>
          <a:prstGeom prst="roundRect">
            <a:avLst>
              <a:gd name="adj" fmla="val 28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Ellipse 22"/>
          <p:cNvSpPr/>
          <p:nvPr/>
        </p:nvSpPr>
        <p:spPr>
          <a:xfrm>
            <a:off x="8277225" y="2047875"/>
            <a:ext cx="95250" cy="95250"/>
          </a:xfrm>
          <a:prstGeom prst="ellipse">
            <a:avLst/>
          </a:prstGeom>
          <a:noFill/>
          <a:ln w="1714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Ellipse 23"/>
          <p:cNvSpPr/>
          <p:nvPr/>
        </p:nvSpPr>
        <p:spPr>
          <a:xfrm>
            <a:off x="8486775" y="1933575"/>
            <a:ext cx="95250" cy="95250"/>
          </a:xfrm>
          <a:prstGeom prst="ellipse">
            <a:avLst/>
          </a:prstGeom>
          <a:noFill/>
          <a:ln w="1714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Ellipse 24"/>
          <p:cNvSpPr/>
          <p:nvPr/>
        </p:nvSpPr>
        <p:spPr>
          <a:xfrm>
            <a:off x="8486775" y="2162175"/>
            <a:ext cx="95250" cy="95250"/>
          </a:xfrm>
          <a:prstGeom prst="ellipse">
            <a:avLst/>
          </a:prstGeom>
          <a:noFill/>
          <a:ln w="1714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5"/>
          <p:cNvSpPr/>
          <p:nvPr/>
        </p:nvSpPr>
        <p:spPr>
          <a:xfrm>
            <a:off x="8372475" y="2009775"/>
            <a:ext cx="114300" cy="57150"/>
          </a:xfrm>
          <a:custGeom>
            <a:avLst/>
            <a:gdLst/>
            <a:ahLst/>
            <a:cxnLst/>
            <a:rect l="l" t="t" r="r" b="b"/>
            <a:pathLst>
              <a:path w="114300" h="57150">
                <a:moveTo>
                  <a:pt x="0" y="57150"/>
                </a:moveTo>
                <a:lnTo>
                  <a:pt x="114300" y="0"/>
                </a:lnTo>
              </a:path>
            </a:pathLst>
          </a:custGeom>
          <a:noFill/>
          <a:ln w="1714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6"/>
          <p:cNvSpPr/>
          <p:nvPr/>
        </p:nvSpPr>
        <p:spPr>
          <a:xfrm>
            <a:off x="8372475" y="2124075"/>
            <a:ext cx="114300" cy="57150"/>
          </a:xfrm>
          <a:custGeom>
            <a:avLst/>
            <a:gdLst/>
            <a:ahLst/>
            <a:cxnLst/>
            <a:rect l="l" t="t" r="r" b="b"/>
            <a:pathLst>
              <a:path w="114300" h="57150">
                <a:moveTo>
                  <a:pt x="0" y="0"/>
                </a:moveTo>
                <a:lnTo>
                  <a:pt x="114300" y="57150"/>
                </a:lnTo>
              </a:path>
            </a:pathLst>
          </a:custGeom>
          <a:noFill/>
          <a:ln w="1714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8334756" y="2472690"/>
            <a:ext cx="17761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Paper relations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36661" y="2856071"/>
            <a:ext cx="2165657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Active authors, evolving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36661" y="3084671"/>
            <a:ext cx="1732847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research directions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36661" y="3408521"/>
            <a:ext cx="169277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谁在活跃、方向如何演变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9600" y="3867150"/>
            <a:ext cx="3505200" cy="2019300"/>
          </a:xfrm>
          <a:prstGeom prst="roundRect">
            <a:avLst>
              <a:gd name="adj" fmla="val 28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Rectangle 32"/>
          <p:cNvSpPr/>
          <p:nvPr/>
        </p:nvSpPr>
        <p:spPr>
          <a:xfrm>
            <a:off x="876300" y="4171950"/>
            <a:ext cx="133350" cy="228600"/>
          </a:xfrm>
          <a:prstGeom prst="roundRect">
            <a:avLst>
              <a:gd name="adj" fmla="val 14286"/>
            </a:avLst>
          </a:prstGeom>
          <a:noFill/>
          <a:ln w="1714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Rectangle 33"/>
          <p:cNvSpPr/>
          <p:nvPr/>
        </p:nvSpPr>
        <p:spPr>
          <a:xfrm>
            <a:off x="1057275" y="4171950"/>
            <a:ext cx="133350" cy="228600"/>
          </a:xfrm>
          <a:prstGeom prst="roundRect">
            <a:avLst>
              <a:gd name="adj" fmla="val 14286"/>
            </a:avLst>
          </a:prstGeom>
          <a:noFill/>
          <a:ln w="1714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867156" y="4606290"/>
            <a:ext cx="189743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Three interfaces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9061" y="4989671"/>
            <a:ext cx="2030684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Topic · Report (replay)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9061" y="5218271"/>
            <a:ext cx="54694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3235" indent="-113235" algn="l">
              <a:buClr>
                <a:srgbClr val="64748B"/>
              </a:buClr>
              <a:buSzTx/>
              <a:buFontTx/>
              <a:buChar char="•"/>
            </a:pP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Chat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9061" y="5542121"/>
            <a:ext cx="179215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主题管理 · 运行回放 · 对话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343400" y="3867150"/>
            <a:ext cx="3505200" cy="2019300"/>
          </a:xfrm>
          <a:prstGeom prst="roundRect">
            <a:avLst>
              <a:gd name="adj" fmla="val 28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Rectangle 39"/>
          <p:cNvSpPr/>
          <p:nvPr/>
        </p:nvSpPr>
        <p:spPr>
          <a:xfrm>
            <a:off x="4591050" y="4191000"/>
            <a:ext cx="123825" cy="190500"/>
          </a:xfrm>
          <a:prstGeom prst="roundRect">
            <a:avLst>
              <a:gd name="adj" fmla="val 15385"/>
            </a:avLst>
          </a:prstGeom>
          <a:noFill/>
          <a:ln w="1714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Rectangle 40"/>
          <p:cNvSpPr/>
          <p:nvPr/>
        </p:nvSpPr>
        <p:spPr>
          <a:xfrm>
            <a:off x="4752975" y="4152900"/>
            <a:ext cx="123825" cy="228600"/>
          </a:xfrm>
          <a:prstGeom prst="roundRect">
            <a:avLst>
              <a:gd name="adj" fmla="val 15385"/>
            </a:avLst>
          </a:prstGeom>
          <a:noFill/>
          <a:ln w="1714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Box 41"/>
          <p:cNvSpPr txBox="1"/>
          <p:nvPr/>
        </p:nvSpPr>
        <p:spPr>
          <a:xfrm>
            <a:off x="4600956" y="4606290"/>
            <a:ext cx="139936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Dual engine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02861" y="4989671"/>
            <a:ext cx="1728037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Local LLM + cloud,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602861" y="5218271"/>
            <a:ext cx="2308324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circuit breaking + fallback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602861" y="5542121"/>
            <a:ext cx="189635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本地 + 云端，熔断降级切换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077200" y="3867150"/>
            <a:ext cx="3505200" cy="2019300"/>
          </a:xfrm>
          <a:prstGeom prst="roundRect">
            <a:avLst>
              <a:gd name="adj" fmla="val 28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Freeform 46"/>
          <p:cNvSpPr/>
          <p:nvPr/>
        </p:nvSpPr>
        <p:spPr>
          <a:xfrm>
            <a:off x="8305800" y="4267200"/>
            <a:ext cx="266700" cy="133350"/>
          </a:xfrm>
          <a:custGeom>
            <a:avLst/>
            <a:gdLst/>
            <a:ahLst/>
            <a:cxnLst/>
            <a:rect l="l" t="t" r="r" b="b"/>
            <a:pathLst>
              <a:path w="266700" h="133350">
                <a:moveTo>
                  <a:pt x="0" y="133350"/>
                </a:move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</a:path>
            </a:pathLst>
          </a:custGeom>
          <a:noFill/>
          <a:ln w="1714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Line 47"/>
          <p:cNvSpPr/>
          <p:nvPr/>
        </p:nvSpPr>
        <p:spPr>
          <a:xfrm>
            <a:off x="8439150" y="4295775"/>
            <a:ext cx="95250" cy="104775"/>
          </a:xfrm>
          <a:custGeom>
            <a:avLst/>
            <a:gdLst/>
            <a:ahLst/>
            <a:cxnLst/>
            <a:rect l="l" t="t" r="r" b="b"/>
            <a:pathLst>
              <a:path w="95250" h="104775">
                <a:moveTo>
                  <a:pt x="0" y="104775"/>
                </a:moveTo>
                <a:lnTo>
                  <a:pt x="95250" y="0"/>
                </a:lnTo>
              </a:path>
            </a:pathLst>
          </a:custGeom>
          <a:noFill/>
          <a:ln w="1714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Box 48"/>
          <p:cNvSpPr txBox="1"/>
          <p:nvPr/>
        </p:nvSpPr>
        <p:spPr>
          <a:xfrm>
            <a:off x="8334756" y="4606290"/>
            <a:ext cx="21118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Evaluation built in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336661" y="4989671"/>
            <a:ext cx="2148793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Hallucination, accuracy,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336661" y="5218271"/>
            <a:ext cx="1974900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and drift — measured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336661" y="5542121"/>
            <a:ext cx="138499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指标从第一天起埋点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02361" y="6151721"/>
            <a:ext cx="810056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需求核心：长时无人值守下的可靠性（防漂移 / 防循环）· 关系与作者分析 · 双引擎 · 内置评测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990554" y="6532721"/>
            <a:ext cx="59908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02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19100"/>
            <a:ext cx="76200" cy="28575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11911" y="474821"/>
            <a:ext cx="15967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800100"/>
            <a:ext cx="473694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End-to-End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694" y="1237298"/>
            <a:ext cx="913114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Deterministic control flow in the orchestrator; agents return structured artifacts.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161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602361" y="1674971"/>
            <a:ext cx="135005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WEEKLY RUN</a:t>
            </a:r>
          </a:p>
        </p:txBody>
      </p:sp>
      <p:sp>
        <p:nvSpPr>
          <p:cNvPr id="8" name="Line 8"/>
          <p:cNvSpPr/>
          <p:nvPr/>
        </p:nvSpPr>
        <p:spPr>
          <a:xfrm>
            <a:off x="1866900" y="1781175"/>
            <a:ext cx="8572500" cy="9525"/>
          </a:xfrm>
          <a:custGeom>
            <a:avLst/>
            <a:gdLst/>
            <a:ahLst/>
            <a:cxnLst/>
            <a:rect l="l" t="t" r="r" b="b"/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952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9"/>
          <p:cNvSpPr/>
          <p:nvPr/>
        </p:nvSpPr>
        <p:spPr>
          <a:xfrm>
            <a:off x="10439400" y="1724025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00456" y="1958340"/>
            <a:ext cx="116966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Interfaces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143250" y="1828800"/>
            <a:ext cx="7334250" cy="4953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3345561" y="1979771"/>
            <a:ext cx="37312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FastAPI REST + SSE · Vue/React Web UI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06280" y="1979771"/>
            <a:ext cx="58795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三界面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0456" y="2510790"/>
            <a:ext cx="238212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Application services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143250" y="2381250"/>
            <a:ext cx="7334250" cy="4953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3345561" y="2532221"/>
            <a:ext cx="37430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Topic · Run/Job · Chat · Graph · Evaluation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15119" y="2532221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五个服务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0456" y="3063240"/>
            <a:ext cx="1614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Orchestration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143250" y="2933700"/>
            <a:ext cx="7334250" cy="495300"/>
          </a:xfrm>
          <a:prstGeom prst="roundRect">
            <a:avLst>
              <a:gd name="adj" fmla="val 7692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 20"/>
          <p:cNvSpPr/>
          <p:nvPr/>
        </p:nvSpPr>
        <p:spPr>
          <a:xfrm>
            <a:off x="3143250" y="2933700"/>
            <a:ext cx="57150" cy="495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3345561" y="3084671"/>
            <a:ext cx="367629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LangGraph weekly pipeline + chat agent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15119" y="3084671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控制核心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0456" y="3615690"/>
            <a:ext cx="23682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Context engineering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143250" y="3486150"/>
            <a:ext cx="7334250" cy="4953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3345561" y="3637121"/>
            <a:ext cx="352663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Token budget · folding · retrieval injection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23959" y="3637121"/>
            <a:ext cx="970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预算与折叠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0456" y="4168140"/>
            <a:ext cx="135905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Model layer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143250" y="4038600"/>
            <a:ext cx="7334250" cy="4953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3345561" y="4189571"/>
            <a:ext cx="396418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LiteLLM gateway → local engines / DeepSeek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22522" y="4189571"/>
            <a:ext cx="13717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协议·路由·熔断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0456" y="4720590"/>
            <a:ext cx="195224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Domain services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143250" y="4591050"/>
            <a:ext cx="7334250" cy="4953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3345561" y="4742021"/>
            <a:ext cx="41765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Retrieval · graph &amp; vector IO · reporting · parsing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13683" y="4742021"/>
            <a:ext cx="118055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检索/图/向量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0456" y="5273040"/>
            <a:ext cx="216819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Storage &amp; sources</a:t>
            </a:r>
          </a:p>
        </p:txBody>
      </p:sp>
      <p:sp>
        <p:nvSpPr>
          <p:cNvPr id="36" name="Rectangle 36"/>
          <p:cNvSpPr/>
          <p:nvPr/>
        </p:nvSpPr>
        <p:spPr>
          <a:xfrm>
            <a:off x="3143250" y="5143500"/>
            <a:ext cx="7334250" cy="4953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3345561" y="5294471"/>
            <a:ext cx="361843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SQLite · Kuzu · Qdrant · OpenAlex / arXiv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295285" y="5294471"/>
            <a:ext cx="99895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三引擎 + 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10668000" y="1828800"/>
            <a:ext cx="914400" cy="381000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10801558" y="3351371"/>
            <a:ext cx="6472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Events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735640" y="3599021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事件日志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831220" y="3846671"/>
            <a:ext cx="58795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真相源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02361" y="5827871"/>
            <a:ext cx="981352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选型理由：编排用显式状态图（可单测、可回滚），模型层统一 OpenAI 协议，存储全部嵌入式（零外部服务）。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02361" y="6094571"/>
            <a:ext cx="64980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事件日志贯穿三界面：Report 回放、评测指标、审计留痕共用同一事件表。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990554" y="6532721"/>
            <a:ext cx="59908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03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19100"/>
            <a:ext cx="76200" cy="28575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11911" y="474821"/>
            <a:ext cx="137243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MODULE MAP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800100"/>
            <a:ext cx="625734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Final Selections — Ten Modules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694" y="1237298"/>
            <a:ext cx="650684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One primary choice per module, plus a defined fallback.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161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609600" y="1695450"/>
            <a:ext cx="10972800" cy="3238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735711" y="177022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9561" y="1770221"/>
            <a:ext cx="87863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MODULE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74261" y="1770221"/>
            <a:ext cx="178782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FINAL SELECTION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41411" y="1770221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中文补充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9600" y="2019300"/>
            <a:ext cx="109728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3"/>
          <p:cNvSpPr/>
          <p:nvPr/>
        </p:nvSpPr>
        <p:spPr>
          <a:xfrm>
            <a:off x="609600" y="2019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735711" y="215122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9561" y="2151221"/>
            <a:ext cx="234704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Orchestration &amp; multi-agent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74261" y="2151221"/>
            <a:ext cx="9831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LangGraph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41411" y="2151221"/>
            <a:ext cx="116144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图状态机编排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09600" y="2457450"/>
            <a:ext cx="10972800" cy="43815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Rectangle 19"/>
          <p:cNvSpPr/>
          <p:nvPr/>
        </p:nvSpPr>
        <p:spPr>
          <a:xfrm>
            <a:off x="609600" y="2457450"/>
            <a:ext cx="47625" cy="438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735711" y="258937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9561" y="2589371"/>
            <a:ext cx="213820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LLM gateway &amp; routing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74261" y="2589371"/>
            <a:ext cx="248794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LiteLLM (SDK) + policy layer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248650" y="2543175"/>
            <a:ext cx="19050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8200933" y="2579846"/>
            <a:ext cx="200043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FRAMEWORK-FIRST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09600" y="2895600"/>
            <a:ext cx="109728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7"/>
          <p:cNvSpPr/>
          <p:nvPr/>
        </p:nvSpPr>
        <p:spPr>
          <a:xfrm>
            <a:off x="609600" y="2895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735711" y="302752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59561" y="3027521"/>
            <a:ext cx="194368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Local inference engine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374261" y="3027521"/>
            <a:ext cx="23288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Ollama (dev) / vLLM (prod)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41411" y="3027521"/>
            <a:ext cx="12665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开发/生产两档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09600" y="3333750"/>
            <a:ext cx="109728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3"/>
          <p:cNvSpPr/>
          <p:nvPr/>
        </p:nvSpPr>
        <p:spPr>
          <a:xfrm>
            <a:off x="609600" y="3333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735711" y="346567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9561" y="3465671"/>
            <a:ext cx="102959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Graph store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74261" y="3465671"/>
            <a:ext cx="154129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Kuzu (embedded)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41411" y="3465671"/>
            <a:ext cx="970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嵌入式图库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09600" y="3771900"/>
            <a:ext cx="109728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Line 39"/>
          <p:cNvSpPr/>
          <p:nvPr/>
        </p:nvSpPr>
        <p:spPr>
          <a:xfrm>
            <a:off x="609600" y="3771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735711" y="390382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59561" y="3903821"/>
            <a:ext cx="172016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Vector store &amp; RAG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74261" y="3903821"/>
            <a:ext cx="171017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Qdrant (local mode)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41411" y="3903821"/>
            <a:ext cx="146729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本地可升 server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09600" y="4210050"/>
            <a:ext cx="109728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Line 45"/>
          <p:cNvSpPr/>
          <p:nvPr/>
        </p:nvSpPr>
        <p:spPr>
          <a:xfrm>
            <a:off x="609600" y="42100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6"/>
          <p:cNvSpPr txBox="1"/>
          <p:nvPr/>
        </p:nvSpPr>
        <p:spPr>
          <a:xfrm>
            <a:off x="735711" y="434197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59561" y="4341971"/>
            <a:ext cx="158280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Sources &amp; parsing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374261" y="4341971"/>
            <a:ext cx="189657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OpenAlex-first + arXiv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241411" y="4341971"/>
            <a:ext cx="190263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OpenAlex 主 arXiv 辅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" y="4648200"/>
            <a:ext cx="109728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Line 51"/>
          <p:cNvSpPr/>
          <p:nvPr/>
        </p:nvSpPr>
        <p:spPr>
          <a:xfrm>
            <a:off x="609600" y="46482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Box 52"/>
          <p:cNvSpPr txBox="1"/>
          <p:nvPr/>
        </p:nvSpPr>
        <p:spPr>
          <a:xfrm>
            <a:off x="735711" y="478012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59561" y="4780121"/>
            <a:ext cx="198678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Scheduling &amp; long runs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374261" y="4780121"/>
            <a:ext cx="23006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APScheduler + job registry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241411" y="4780121"/>
            <a:ext cx="16680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进程内 cron + 簿记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" y="5086350"/>
            <a:ext cx="109728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Line 57"/>
          <p:cNvSpPr/>
          <p:nvPr/>
        </p:nvSpPr>
        <p:spPr>
          <a:xfrm>
            <a:off x="609600" y="50863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Box 58"/>
          <p:cNvSpPr txBox="1"/>
          <p:nvPr/>
        </p:nvSpPr>
        <p:spPr>
          <a:xfrm>
            <a:off x="735711" y="521827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59561" y="5218271"/>
            <a:ext cx="119004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Web backend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74261" y="5218271"/>
            <a:ext cx="270946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FastAPI + SQLAlchemy + SSE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241411" y="5218271"/>
            <a:ext cx="180200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异步 API + 事件推送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09600" y="5524500"/>
            <a:ext cx="10972800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Line 63"/>
          <p:cNvSpPr/>
          <p:nvPr/>
        </p:nvSpPr>
        <p:spPr>
          <a:xfrm>
            <a:off x="609600" y="5524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Box 64"/>
          <p:cNvSpPr txBox="1"/>
          <p:nvPr/>
        </p:nvSpPr>
        <p:spPr>
          <a:xfrm>
            <a:off x="735711" y="565642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59561" y="5656421"/>
            <a:ext cx="116803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Web frontend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374261" y="5656421"/>
            <a:ext cx="265337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Vue3 or React + TS + ECharts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241411" y="5656421"/>
            <a:ext cx="138127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三界面 + 关系图</a:t>
            </a:r>
          </a:p>
        </p:txBody>
      </p:sp>
      <p:sp>
        <p:nvSpPr>
          <p:cNvPr id="68" name="Rectangle 68"/>
          <p:cNvSpPr/>
          <p:nvPr/>
        </p:nvSpPr>
        <p:spPr>
          <a:xfrm>
            <a:off x="609600" y="5962650"/>
            <a:ext cx="10972800" cy="43815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Rectangle 69"/>
          <p:cNvSpPr/>
          <p:nvPr/>
        </p:nvSpPr>
        <p:spPr>
          <a:xfrm>
            <a:off x="609600" y="5962650"/>
            <a:ext cx="47625" cy="438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TextBox 70"/>
          <p:cNvSpPr txBox="1"/>
          <p:nvPr/>
        </p:nvSpPr>
        <p:spPr>
          <a:xfrm>
            <a:off x="735711" y="6094571"/>
            <a:ext cx="22712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59561" y="6094571"/>
            <a:ext cx="24105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Evaluation &amp; observability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374261" y="6094571"/>
            <a:ext cx="23590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DeepEval + custom metrics</a:t>
            </a:r>
          </a:p>
        </p:txBody>
      </p:sp>
      <p:sp>
        <p:nvSpPr>
          <p:cNvPr id="73" name="Rectangle 73"/>
          <p:cNvSpPr/>
          <p:nvPr/>
        </p:nvSpPr>
        <p:spPr>
          <a:xfrm>
            <a:off x="8248650" y="6048375"/>
            <a:ext cx="19050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TextBox 74"/>
          <p:cNvSpPr txBox="1"/>
          <p:nvPr/>
        </p:nvSpPr>
        <p:spPr>
          <a:xfrm>
            <a:off x="8200933" y="6085046"/>
            <a:ext cx="200043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FRAMEWORK-FIRST</a:t>
            </a:r>
          </a:p>
        </p:txBody>
      </p:sp>
      <p:sp>
        <p:nvSpPr>
          <p:cNvPr id="76" name="Line 76"/>
          <p:cNvSpPr/>
          <p:nvPr/>
        </p:nvSpPr>
        <p:spPr>
          <a:xfrm>
            <a:off x="609600" y="6400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19100"/>
            <a:ext cx="76200" cy="28575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11911" y="474821"/>
            <a:ext cx="459306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MODULE 1 · ORCHESTRATION &amp; MULTI-AGENT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800100"/>
            <a:ext cx="766376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LangGraph: explicit graph, checkpoints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694" y="1295818"/>
            <a:ext cx="6064032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Chosen over AutoGen and CrewAI for a controlled weekly pipeline.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161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609600" y="1733550"/>
            <a:ext cx="6667500" cy="1504950"/>
          </a:xfrm>
          <a:prstGeom prst="roundRect">
            <a:avLst>
              <a:gd name="adj" fmla="val 3797"/>
            </a:avLst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609600" y="1733550"/>
            <a:ext cx="57150" cy="15049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848106" y="1844040"/>
            <a:ext cx="13269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LangGraph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962650" y="1847850"/>
            <a:ext cx="110490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075784" y="1894046"/>
            <a:ext cx="87863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CHOSEN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0011" y="2246471"/>
            <a:ext cx="5358839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Explicit graph + conditional edges = testable self-correction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0011" y="2570321"/>
            <a:ext cx="390677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Watch: pin versions — the API evolves fast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0011" y="2894171"/>
            <a:ext cx="3770263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自纠错落在条件边与节点守卫，可单测、可回滚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09600" y="3352800"/>
            <a:ext cx="6667500" cy="1504950"/>
          </a:xfrm>
          <a:prstGeom prst="roundRect">
            <a:avLst>
              <a:gd name="adj" fmla="val 37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848106" y="3463290"/>
            <a:ext cx="105779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AutoGen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448300" y="346710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5560417" y="3513296"/>
            <a:ext cx="13950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ALTERNATIVE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0011" y="3865721"/>
            <a:ext cx="3789499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Strong free-form multi-agent conversation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0011" y="4189571"/>
            <a:ext cx="4355231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Why not: conversational flow, weak for pipelines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0011" y="4513421"/>
            <a:ext cx="3231654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偏自由对话协作，受控周更流水线难表达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" y="4972050"/>
            <a:ext cx="6667500" cy="1504950"/>
          </a:xfrm>
          <a:prstGeom prst="roundRect">
            <a:avLst>
              <a:gd name="adj" fmla="val 37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848106" y="5082540"/>
            <a:ext cx="8767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CrewAI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448300" y="508635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5560417" y="5132546"/>
            <a:ext cx="13950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ALTERNATIVE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0011" y="5484971"/>
            <a:ext cx="343523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Fastest to prototype role-based crews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0011" y="5808821"/>
            <a:ext cx="4427494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Why not: black-box orchestration, weak recovery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0011" y="6132671"/>
            <a:ext cx="3052118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编排偏黑盒、确定性弱，长跑恢复不足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17511" y="1751171"/>
            <a:ext cx="18217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WEEKLY PIPELINE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382000" y="2019300"/>
            <a:ext cx="17145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8852479" y="2151221"/>
            <a:ext cx="77354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32" name="Line 32"/>
          <p:cNvSpPr/>
          <p:nvPr/>
        </p:nvSpPr>
        <p:spPr>
          <a:xfrm>
            <a:off x="9239250" y="247650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33"/>
          <p:cNvSpPr/>
          <p:nvPr/>
        </p:nvSpPr>
        <p:spPr>
          <a:xfrm>
            <a:off x="9182100" y="2724150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0" y="0"/>
                </a:moveTo>
                <a:lnTo>
                  <a:pt x="57150" y="95250"/>
                </a:lnTo>
                <a:lnTo>
                  <a:pt x="114300" y="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Rectangle 34"/>
          <p:cNvSpPr/>
          <p:nvPr/>
        </p:nvSpPr>
        <p:spPr>
          <a:xfrm>
            <a:off x="8382000" y="2781300"/>
            <a:ext cx="17145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8735045" y="2913221"/>
            <a:ext cx="100841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Graph build</a:t>
            </a:r>
          </a:p>
        </p:txBody>
      </p:sp>
      <p:sp>
        <p:nvSpPr>
          <p:cNvPr id="36" name="Line 36"/>
          <p:cNvSpPr/>
          <p:nvPr/>
        </p:nvSpPr>
        <p:spPr>
          <a:xfrm>
            <a:off x="9239250" y="323850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37"/>
          <p:cNvSpPr/>
          <p:nvPr/>
        </p:nvSpPr>
        <p:spPr>
          <a:xfrm>
            <a:off x="9182100" y="3486150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0" y="0"/>
                </a:moveTo>
                <a:lnTo>
                  <a:pt x="57150" y="95250"/>
                </a:lnTo>
                <a:lnTo>
                  <a:pt x="114300" y="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Rectangle 38"/>
          <p:cNvSpPr/>
          <p:nvPr/>
        </p:nvSpPr>
        <p:spPr>
          <a:xfrm>
            <a:off x="8382000" y="3543300"/>
            <a:ext cx="17145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8873571" y="3675221"/>
            <a:ext cx="73135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40" name="Line 40"/>
          <p:cNvSpPr/>
          <p:nvPr/>
        </p:nvSpPr>
        <p:spPr>
          <a:xfrm>
            <a:off x="9239250" y="400050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41"/>
          <p:cNvSpPr/>
          <p:nvPr/>
        </p:nvSpPr>
        <p:spPr>
          <a:xfrm>
            <a:off x="9182100" y="4248150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0" y="0"/>
                </a:moveTo>
                <a:lnTo>
                  <a:pt x="57150" y="95250"/>
                </a:lnTo>
                <a:lnTo>
                  <a:pt x="114300" y="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Rectangle 42"/>
          <p:cNvSpPr/>
          <p:nvPr/>
        </p:nvSpPr>
        <p:spPr>
          <a:xfrm>
            <a:off x="8382000" y="4305300"/>
            <a:ext cx="1714500" cy="45720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Box 43"/>
          <p:cNvSpPr txBox="1"/>
          <p:nvPr/>
        </p:nvSpPr>
        <p:spPr>
          <a:xfrm>
            <a:off x="8942411" y="4437221"/>
            <a:ext cx="59367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4" name="Freeform 44"/>
          <p:cNvSpPr/>
          <p:nvPr/>
        </p:nvSpPr>
        <p:spPr>
          <a:xfrm>
            <a:off x="10096500" y="30099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0" y="762000"/>
                </a:moveTo>
                <a:lnTo>
                  <a:pt x="857250" y="762000"/>
                </a:lnTo>
                <a:lnTo>
                  <a:pt x="857250" y="0"/>
                </a:lnTo>
                <a:lnTo>
                  <a:pt x="57150" y="0"/>
                </a:lnTo>
              </a:path>
            </a:pathLst>
          </a:custGeom>
          <a:noFill/>
          <a:ln w="14288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Freeform 45"/>
          <p:cNvSpPr/>
          <p:nvPr/>
        </p:nvSpPr>
        <p:spPr>
          <a:xfrm>
            <a:off x="10115550" y="29622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47625"/>
                </a:lnTo>
                <a:lnTo>
                  <a:pt x="95250" y="9525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6"/>
          <p:cNvSpPr txBox="1"/>
          <p:nvPr/>
        </p:nvSpPr>
        <p:spPr>
          <a:xfrm>
            <a:off x="10990554" y="3251549"/>
            <a:ext cx="5459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replan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517511" y="4951571"/>
            <a:ext cx="274807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节点 = 阶段，条件边 = 处置路由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17511" y="5199221"/>
            <a:ext cx="217459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循环 / 漂移 → 强制重规划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17511" y="5446871"/>
            <a:ext cx="241354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checkpoint 每节点后可恢复</a:t>
            </a:r>
          </a:p>
        </p:txBody>
      </p:sp>
      <p:sp>
        <p:nvSpPr>
          <p:cNvPr id="50" name="Rectangle 50"/>
          <p:cNvSpPr/>
          <p:nvPr/>
        </p:nvSpPr>
        <p:spPr>
          <a:xfrm>
            <a:off x="7524750" y="5772150"/>
            <a:ext cx="4057650" cy="704850"/>
          </a:xfrm>
          <a:prstGeom prst="roundRect">
            <a:avLst>
              <a:gd name="adj" fmla="val 8108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Box 51"/>
          <p:cNvSpPr txBox="1"/>
          <p:nvPr/>
        </p:nvSpPr>
        <p:spPr>
          <a:xfrm>
            <a:off x="7688961" y="5885021"/>
            <a:ext cx="310171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结论：显式图 + 条件边承载自纠错；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688961" y="6151721"/>
            <a:ext cx="375166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checkpoint / 事件流 / 评测生态开箱即用。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990554" y="6532721"/>
            <a:ext cx="59908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05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19100"/>
            <a:ext cx="76200" cy="28575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11911" y="474821"/>
            <a:ext cx="302274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MODULES 2–3 · MODEL LAYER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800100"/>
            <a:ext cx="641650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One protocol, policy kept in code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9600" y="1303496"/>
            <a:ext cx="5019003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LiteLLM unifies providers; sensitivity routing stays ours.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161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609600" y="1695450"/>
            <a:ext cx="10972800" cy="30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735711" y="1751171"/>
            <a:ext cx="78875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1211" y="1751171"/>
            <a:ext cx="564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78961" y="1751171"/>
            <a:ext cx="58689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93711" y="1751171"/>
            <a:ext cx="169754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WHY NOT / NOTE</a:t>
            </a:r>
          </a:p>
        </p:txBody>
      </p:sp>
      <p:sp>
        <p:nvSpPr>
          <p:cNvPr id="12" name="Line 12"/>
          <p:cNvSpPr/>
          <p:nvPr/>
        </p:nvSpPr>
        <p:spPr>
          <a:xfrm>
            <a:off x="609600" y="2000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735711" y="2132171"/>
            <a:ext cx="13832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LiteLLM (SDK)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31211" y="2132171"/>
            <a:ext cx="67962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Chosen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78961" y="2094071"/>
            <a:ext cx="3106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One OpenAI-style interface for 100+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78961" y="2322671"/>
            <a:ext cx="345662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providers; fallback / retry / cost upstream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93711" y="2094071"/>
            <a:ext cx="263327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Pin versions; sensitivity routing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93711" y="2322671"/>
            <a:ext cx="22884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stays in our thin code layer</a:t>
            </a:r>
          </a:p>
        </p:txBody>
      </p:sp>
      <p:sp>
        <p:nvSpPr>
          <p:cNvPr id="19" name="Line 19"/>
          <p:cNvSpPr/>
          <p:nvPr/>
        </p:nvSpPr>
        <p:spPr>
          <a:xfrm>
            <a:off x="609600" y="28384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735711" y="2970371"/>
            <a:ext cx="164535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Self-built gateway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31211" y="2970371"/>
            <a:ext cx="77432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878961" y="2932271"/>
            <a:ext cx="283607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Zero dependency, fully controlled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93711" y="2932271"/>
            <a:ext cx="293176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Retry / cost / multi-vendor become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93711" y="3160871"/>
            <a:ext cx="36370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our burden — conflicts with framework-first</a:t>
            </a:r>
          </a:p>
        </p:txBody>
      </p:sp>
      <p:sp>
        <p:nvSpPr>
          <p:cNvPr id="25" name="Line 25"/>
          <p:cNvSpPr/>
          <p:nvPr/>
        </p:nvSpPr>
        <p:spPr>
          <a:xfrm>
            <a:off x="609600" y="3676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735711" y="3808571"/>
            <a:ext cx="113146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OpenRouter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31211" y="3808571"/>
            <a:ext cx="77432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78961" y="3770471"/>
            <a:ext cx="235823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Zero-ops cloud aggregation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93711" y="3770471"/>
            <a:ext cx="297416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Data leaves premises; cannot front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93711" y="3999071"/>
            <a:ext cx="113043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local engines</a:t>
            </a:r>
          </a:p>
        </p:txBody>
      </p:sp>
      <p:sp>
        <p:nvSpPr>
          <p:cNvPr id="31" name="Line 31"/>
          <p:cNvSpPr/>
          <p:nvPr/>
        </p:nvSpPr>
        <p:spPr>
          <a:xfrm>
            <a:off x="609600" y="4514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602361" y="4627721"/>
            <a:ext cx="44810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REQUEST PATH — POLICY BEFORE FAN-OUT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09600" y="4895850"/>
            <a:ext cx="1428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984839" y="5084921"/>
            <a:ext cx="67827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API call</a:t>
            </a:r>
          </a:p>
        </p:txBody>
      </p:sp>
      <p:sp>
        <p:nvSpPr>
          <p:cNvPr id="35" name="Line 35"/>
          <p:cNvSpPr/>
          <p:nvPr/>
        </p:nvSpPr>
        <p:spPr>
          <a:xfrm>
            <a:off x="2095500" y="5172075"/>
            <a:ext cx="266700" cy="9525"/>
          </a:xfrm>
          <a:custGeom>
            <a:avLst/>
            <a:gdLst/>
            <a:ahLst/>
            <a:cxnLst/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36"/>
          <p:cNvSpPr/>
          <p:nvPr/>
        </p:nvSpPr>
        <p:spPr>
          <a:xfrm>
            <a:off x="2343150" y="51149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Rectangle 37"/>
          <p:cNvSpPr/>
          <p:nvPr/>
        </p:nvSpPr>
        <p:spPr>
          <a:xfrm>
            <a:off x="2514600" y="4895850"/>
            <a:ext cx="2857500" cy="552450"/>
          </a:xfrm>
          <a:prstGeom prst="roundRect">
            <a:avLst>
              <a:gd name="adj" fmla="val 6897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2892432" y="4989671"/>
            <a:ext cx="210183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Policy filter: sensitivity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006683" y="5199221"/>
            <a:ext cx="187333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强制拦截，非 prompt 约定</a:t>
            </a:r>
          </a:p>
        </p:txBody>
      </p:sp>
      <p:sp>
        <p:nvSpPr>
          <p:cNvPr id="40" name="Line 40"/>
          <p:cNvSpPr/>
          <p:nvPr/>
        </p:nvSpPr>
        <p:spPr>
          <a:xfrm>
            <a:off x="5429250" y="5172075"/>
            <a:ext cx="266700" cy="9525"/>
          </a:xfrm>
          <a:custGeom>
            <a:avLst/>
            <a:gdLst/>
            <a:ahLst/>
            <a:cxnLst/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41"/>
          <p:cNvSpPr/>
          <p:nvPr/>
        </p:nvSpPr>
        <p:spPr>
          <a:xfrm>
            <a:off x="5676900" y="51149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Rectangle 42"/>
          <p:cNvSpPr/>
          <p:nvPr/>
        </p:nvSpPr>
        <p:spPr>
          <a:xfrm>
            <a:off x="5848350" y="4895850"/>
            <a:ext cx="2095500" cy="55245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Box 43"/>
          <p:cNvSpPr txBox="1"/>
          <p:nvPr/>
        </p:nvSpPr>
        <p:spPr>
          <a:xfrm>
            <a:off x="6221133" y="5084921"/>
            <a:ext cx="134993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LiteLLM Router</a:t>
            </a:r>
          </a:p>
        </p:txBody>
      </p:sp>
      <p:sp>
        <p:nvSpPr>
          <p:cNvPr id="44" name="Line 44"/>
          <p:cNvSpPr/>
          <p:nvPr/>
        </p:nvSpPr>
        <p:spPr>
          <a:xfrm>
            <a:off x="8001000" y="5172075"/>
            <a:ext cx="266700" cy="9525"/>
          </a:xfrm>
          <a:custGeom>
            <a:avLst/>
            <a:gdLst/>
            <a:ahLst/>
            <a:cxnLst/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Freeform 45"/>
          <p:cNvSpPr/>
          <p:nvPr/>
        </p:nvSpPr>
        <p:spPr>
          <a:xfrm>
            <a:off x="8248650" y="51149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Rectangle 46"/>
          <p:cNvSpPr/>
          <p:nvPr/>
        </p:nvSpPr>
        <p:spPr>
          <a:xfrm>
            <a:off x="8420100" y="4895850"/>
            <a:ext cx="31623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Box 47"/>
          <p:cNvSpPr txBox="1"/>
          <p:nvPr/>
        </p:nvSpPr>
        <p:spPr>
          <a:xfrm>
            <a:off x="8819526" y="4989671"/>
            <a:ext cx="23634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Ollama · vLLM · DeepSeek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307951" y="5199221"/>
            <a:ext cx="138659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本地 / 云端统一调用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02361" y="5618321"/>
            <a:ext cx="840054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理由：本地引擎与 DeepSeek 同 OpenAI 协议 → 一套协议贯通；敏感数据强制本地是代码层拦截。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02361" y="5885021"/>
            <a:ext cx="804635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熔断 / 降级 / 计量由 LiteLLM + 薄业务层承担，每次调用写入事件表 → 双引擎对比数据源。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02361" y="6189821"/>
            <a:ext cx="665177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Scale-up path: LiteLLM SDK → self-hosted proxy · vLLM scales to multi-GPU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990554" y="6532721"/>
            <a:ext cx="59908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06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19100"/>
            <a:ext cx="76200" cy="28575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11911" y="474821"/>
            <a:ext cx="257357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MODULES 4–5 · STORAGE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800100"/>
            <a:ext cx="7347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Three Engines, Three Question Types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694" y="1237298"/>
            <a:ext cx="678360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Relations, similarity and records each get the right engine.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161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609600" y="1695450"/>
            <a:ext cx="7962900" cy="30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735711" y="1751171"/>
            <a:ext cx="78887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ENGINE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64461" y="1751171"/>
            <a:ext cx="103573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59961" y="1751171"/>
            <a:ext cx="15967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55461" y="1751171"/>
            <a:ext cx="321260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ALTERNATIVE — WHY NOT NOW</a:t>
            </a:r>
          </a:p>
        </p:txBody>
      </p:sp>
      <p:sp>
        <p:nvSpPr>
          <p:cNvPr id="12" name="Line 12"/>
          <p:cNvSpPr/>
          <p:nvPr/>
        </p:nvSpPr>
        <p:spPr>
          <a:xfrm>
            <a:off x="609600" y="2000250"/>
            <a:ext cx="7962900" cy="9525"/>
          </a:xfrm>
          <a:custGeom>
            <a:avLst/>
            <a:gdLst/>
            <a:ahLst/>
            <a:cxnLst/>
            <a:rect l="l" t="t" r="r" b="b"/>
            <a:pathLst>
              <a:path w="7962900" h="9525">
                <a:moveTo>
                  <a:pt x="0" y="0"/>
                </a:moveTo>
                <a:lnTo>
                  <a:pt x="79629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735711" y="2170271"/>
            <a:ext cx="64794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5711" y="2417921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运行核心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64461" y="2132171"/>
            <a:ext cx="17845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Run records, events,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64461" y="2360771"/>
            <a:ext cx="179915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reports, chat, metrics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59961" y="2132171"/>
            <a:ext cx="164013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Row store + ACID;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59961" y="2360771"/>
            <a:ext cx="206129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SQLAlchemy + Alembic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55461" y="2132171"/>
            <a:ext cx="155683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PostgreSQL later: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55461" y="2360771"/>
            <a:ext cx="15868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richer concurrency</a:t>
            </a:r>
          </a:p>
        </p:txBody>
      </p:sp>
      <p:sp>
        <p:nvSpPr>
          <p:cNvPr id="21" name="Line 21"/>
          <p:cNvSpPr/>
          <p:nvPr/>
        </p:nvSpPr>
        <p:spPr>
          <a:xfrm>
            <a:off x="609600" y="3181350"/>
            <a:ext cx="7962900" cy="9525"/>
          </a:xfrm>
          <a:custGeom>
            <a:avLst/>
            <a:gdLst/>
            <a:ahLst/>
            <a:cxnLst/>
            <a:rect l="l" t="t" r="r" b="b"/>
            <a:pathLst>
              <a:path w="7962900" h="9525">
                <a:moveTo>
                  <a:pt x="0" y="0"/>
                </a:moveTo>
                <a:lnTo>
                  <a:pt x="79629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735711" y="3351371"/>
            <a:ext cx="48824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Kuzu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5711" y="3599021"/>
            <a:ext cx="970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嵌入式图库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64461" y="3313271"/>
            <a:ext cx="1497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Author dynamics;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64461" y="3541871"/>
            <a:ext cx="210787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citation / co-author paths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59961" y="3313271"/>
            <a:ext cx="189133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Embedded, columnar,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59961" y="3541871"/>
            <a:ext cx="133812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vectorised; MIT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55461" y="3313271"/>
            <a:ext cx="174172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Neo4j: JVM service,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55461" y="3541871"/>
            <a:ext cx="17671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GPLv3 — at millions</a:t>
            </a:r>
          </a:p>
        </p:txBody>
      </p:sp>
      <p:sp>
        <p:nvSpPr>
          <p:cNvPr id="30" name="Line 30"/>
          <p:cNvSpPr/>
          <p:nvPr/>
        </p:nvSpPr>
        <p:spPr>
          <a:xfrm>
            <a:off x="609600" y="4362450"/>
            <a:ext cx="7962900" cy="9525"/>
          </a:xfrm>
          <a:custGeom>
            <a:avLst/>
            <a:gdLst/>
            <a:ahLst/>
            <a:cxnLst/>
            <a:rect l="l" t="t" r="r" b="b"/>
            <a:pathLst>
              <a:path w="7962900" h="9525">
                <a:moveTo>
                  <a:pt x="0" y="0"/>
                </a:moveTo>
                <a:lnTo>
                  <a:pt x="79629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735711" y="4532471"/>
            <a:ext cx="64697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Qdrant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5711" y="4780121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向量检索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64461" y="4494371"/>
            <a:ext cx="175143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Semantically closest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64461" y="4722971"/>
            <a:ext cx="59900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papers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259961" y="4494371"/>
            <a:ext cx="205083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Rust engine: embedded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259961" y="4722971"/>
            <a:ext cx="165027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→ server → cluster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55461" y="4494371"/>
            <a:ext cx="208132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Milvus: multi-component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355461" y="4722971"/>
            <a:ext cx="180981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— overkill at this size</a:t>
            </a:r>
          </a:p>
        </p:txBody>
      </p:sp>
      <p:sp>
        <p:nvSpPr>
          <p:cNvPr id="39" name="Line 39"/>
          <p:cNvSpPr/>
          <p:nvPr/>
        </p:nvSpPr>
        <p:spPr>
          <a:xfrm>
            <a:off x="609600" y="5543550"/>
            <a:ext cx="7962900" cy="9525"/>
          </a:xfrm>
          <a:custGeom>
            <a:avLst/>
            <a:gdLst/>
            <a:ahLst/>
            <a:cxnLst/>
            <a:rect l="l" t="t" r="r" b="b"/>
            <a:pathLst>
              <a:path w="7962900" h="9525">
                <a:moveTo>
                  <a:pt x="0" y="0"/>
                </a:moveTo>
                <a:lnTo>
                  <a:pt x="79629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8851011" y="2351017"/>
            <a:ext cx="344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ONE WRITE, THREE PROJECTIONS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858250" y="2619146"/>
            <a:ext cx="2724150" cy="495300"/>
          </a:xfrm>
          <a:prstGeom prst="roundRect">
            <a:avLst>
              <a:gd name="adj" fmla="val 7692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9195297" y="2770117"/>
            <a:ext cx="205005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Ingest once · paper_id</a:t>
            </a:r>
          </a:p>
        </p:txBody>
      </p:sp>
      <p:sp>
        <p:nvSpPr>
          <p:cNvPr id="43" name="Line 43"/>
          <p:cNvSpPr/>
          <p:nvPr/>
        </p:nvSpPr>
        <p:spPr>
          <a:xfrm>
            <a:off x="10220325" y="3114446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Rectangle 44"/>
          <p:cNvSpPr/>
          <p:nvPr/>
        </p:nvSpPr>
        <p:spPr>
          <a:xfrm>
            <a:off x="8858250" y="3323996"/>
            <a:ext cx="2724150" cy="5334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Box 45"/>
          <p:cNvSpPr txBox="1"/>
          <p:nvPr/>
        </p:nvSpPr>
        <p:spPr>
          <a:xfrm>
            <a:off x="8965275" y="3417817"/>
            <a:ext cx="25101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SQLite — run / event records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720848" y="3627367"/>
            <a:ext cx="99895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运行 / 事件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858250" y="3933596"/>
            <a:ext cx="2724150" cy="5334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Box 48"/>
          <p:cNvSpPr txBox="1"/>
          <p:nvPr/>
        </p:nvSpPr>
        <p:spPr>
          <a:xfrm>
            <a:off x="9301053" y="4027417"/>
            <a:ext cx="183854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Kuzu — author graph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816428" y="4236967"/>
            <a:ext cx="80779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关系 / 图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858250" y="4543196"/>
            <a:ext cx="2724150" cy="5334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Box 51"/>
          <p:cNvSpPr txBox="1"/>
          <p:nvPr/>
        </p:nvSpPr>
        <p:spPr>
          <a:xfrm>
            <a:off x="9051972" y="4637017"/>
            <a:ext cx="233670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Qdrant — semantic vectors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720848" y="4846567"/>
            <a:ext cx="99895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语义 / 向量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02361" y="5713571"/>
            <a:ext cx="799542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为什么三库并存：关系、语义、运行记录是三类不同查询；写入一次、按 paper_id 投影三份。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02361" y="5980271"/>
            <a:ext cx="768073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三者均可嵌入式 → 单机零外部服务；SQLite 事件表是回放 / 评测 / 审计的共同真相源。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990554" y="6532721"/>
            <a:ext cx="59908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07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19100"/>
            <a:ext cx="76200" cy="28575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11911" y="474821"/>
            <a:ext cx="338149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MODULE 6 · SOURCES &amp; PARSING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800100"/>
            <a:ext cx="579810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OpenAlex-First, arXiv-Second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694" y="1332393"/>
            <a:ext cx="4338816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0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IEEE/ACM metadata via OpenAlex, preprints via arXiv.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161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609600" y="1695450"/>
            <a:ext cx="10972800" cy="30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735711" y="1751171"/>
            <a:ext cx="82260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ASPECT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45461" y="1751171"/>
            <a:ext cx="99085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88711" y="1751171"/>
            <a:ext cx="115930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RATIONALE</a:t>
            </a:r>
          </a:p>
        </p:txBody>
      </p:sp>
      <p:sp>
        <p:nvSpPr>
          <p:cNvPr id="11" name="Line 11"/>
          <p:cNvSpPr/>
          <p:nvPr/>
        </p:nvSpPr>
        <p:spPr>
          <a:xfrm>
            <a:off x="609600" y="2000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735711" y="2246471"/>
            <a:ext cx="141256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Primary source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45461" y="2246471"/>
            <a:ext cx="86589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OpenAlex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88711" y="2246471"/>
            <a:ext cx="539108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IEEE/ACM papers indexed, with citation links and OA locations</a:t>
            </a:r>
          </a:p>
        </p:txBody>
      </p:sp>
      <p:sp>
        <p:nvSpPr>
          <p:cNvPr id="15" name="Line 15"/>
          <p:cNvSpPr/>
          <p:nvPr/>
        </p:nvSpPr>
        <p:spPr>
          <a:xfrm>
            <a:off x="609600" y="26479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735711" y="2894171"/>
            <a:ext cx="167820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Secondary source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45461" y="2894171"/>
            <a:ext cx="4549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arXiv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88711" y="2894171"/>
            <a:ext cx="514109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Fastest-moving preprints; category whitelist keeps freshness</a:t>
            </a:r>
          </a:p>
        </p:txBody>
      </p:sp>
      <p:sp>
        <p:nvSpPr>
          <p:cNvPr id="19" name="Line 19"/>
          <p:cNvSpPr/>
          <p:nvPr/>
        </p:nvSpPr>
        <p:spPr>
          <a:xfrm>
            <a:off x="609600" y="3295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735711" y="3541871"/>
            <a:ext cx="151885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Custom sources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45461" y="3541871"/>
            <a:ext cx="240578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Venue whitelist + categories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88711" y="3541871"/>
            <a:ext cx="428242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Data-driven config — no new code path per venue</a:t>
            </a:r>
          </a:p>
        </p:txBody>
      </p:sp>
      <p:sp>
        <p:nvSpPr>
          <p:cNvPr id="23" name="Line 23"/>
          <p:cNvSpPr/>
          <p:nvPr/>
        </p:nvSpPr>
        <p:spPr>
          <a:xfrm>
            <a:off x="609600" y="39433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735711" y="4189571"/>
            <a:ext cx="115692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Text parsing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45461" y="4189571"/>
            <a:ext cx="209375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PyMuPDF + pdfplumber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688711" y="4189571"/>
            <a:ext cx="347373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Light dependencies, robust on OA PDFs</a:t>
            </a:r>
          </a:p>
        </p:txBody>
      </p:sp>
      <p:sp>
        <p:nvSpPr>
          <p:cNvPr id="27" name="Line 27"/>
          <p:cNvSpPr/>
          <p:nvPr/>
        </p:nvSpPr>
        <p:spPr>
          <a:xfrm>
            <a:off x="609600" y="45910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735711" y="4837271"/>
            <a:ext cx="80628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Deferred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45461" y="4837271"/>
            <a:ext cx="191697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Unstructured / Docling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88711" y="4837271"/>
            <a:ext cx="492957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Heavy; needed only for citation graphs or complex layouts</a:t>
            </a:r>
          </a:p>
        </p:txBody>
      </p:sp>
      <p:sp>
        <p:nvSpPr>
          <p:cNvPr id="31" name="Line 31"/>
          <p:cNvSpPr/>
          <p:nvPr/>
        </p:nvSpPr>
        <p:spPr>
          <a:xfrm>
            <a:off x="609600" y="5238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602361" y="5351621"/>
            <a:ext cx="17318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INGEST PIPELINE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09600" y="5619750"/>
            <a:ext cx="2571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762634" y="5713571"/>
            <a:ext cx="22656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OpenAlex · arXiv · venues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01495" y="5923121"/>
            <a:ext cx="58795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数据源</a:t>
            </a:r>
          </a:p>
        </p:txBody>
      </p:sp>
      <p:sp>
        <p:nvSpPr>
          <p:cNvPr id="36" name="Line 36"/>
          <p:cNvSpPr/>
          <p:nvPr/>
        </p:nvSpPr>
        <p:spPr>
          <a:xfrm>
            <a:off x="3238500" y="5895975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37"/>
          <p:cNvSpPr/>
          <p:nvPr/>
        </p:nvSpPr>
        <p:spPr>
          <a:xfrm>
            <a:off x="3448050" y="58388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Rectangle 38"/>
          <p:cNvSpPr/>
          <p:nvPr/>
        </p:nvSpPr>
        <p:spPr>
          <a:xfrm>
            <a:off x="3619500" y="5619750"/>
            <a:ext cx="2724150" cy="552450"/>
          </a:xfrm>
          <a:prstGeom prst="roundRect">
            <a:avLst>
              <a:gd name="adj" fmla="val 6897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3712289" y="5713571"/>
            <a:ext cx="253857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Adapter: id · dedup · cursor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209694" y="5923121"/>
            <a:ext cx="154376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领域胶水（自研）</a:t>
            </a:r>
          </a:p>
        </p:txBody>
      </p:sp>
      <p:sp>
        <p:nvSpPr>
          <p:cNvPr id="41" name="Line 41"/>
          <p:cNvSpPr/>
          <p:nvPr/>
        </p:nvSpPr>
        <p:spPr>
          <a:xfrm>
            <a:off x="6400800" y="5895975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42"/>
          <p:cNvSpPr/>
          <p:nvPr/>
        </p:nvSpPr>
        <p:spPr>
          <a:xfrm>
            <a:off x="6610350" y="58388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Rectangle 43"/>
          <p:cNvSpPr/>
          <p:nvPr/>
        </p:nvSpPr>
        <p:spPr>
          <a:xfrm>
            <a:off x="6781800" y="5619750"/>
            <a:ext cx="22860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Box 44"/>
          <p:cNvSpPr txBox="1"/>
          <p:nvPr/>
        </p:nvSpPr>
        <p:spPr>
          <a:xfrm>
            <a:off x="7045742" y="5713571"/>
            <a:ext cx="17581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Unified Paper model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104194" y="5923121"/>
            <a:ext cx="16412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Pydantic 统一模型</a:t>
            </a:r>
          </a:p>
        </p:txBody>
      </p:sp>
      <p:sp>
        <p:nvSpPr>
          <p:cNvPr id="46" name="Line 46"/>
          <p:cNvSpPr/>
          <p:nvPr/>
        </p:nvSpPr>
        <p:spPr>
          <a:xfrm>
            <a:off x="9124950" y="5895975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Freeform 47"/>
          <p:cNvSpPr/>
          <p:nvPr/>
        </p:nvSpPr>
        <p:spPr>
          <a:xfrm>
            <a:off x="9334500" y="58388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ectangle 48"/>
          <p:cNvSpPr/>
          <p:nvPr/>
        </p:nvSpPr>
        <p:spPr>
          <a:xfrm>
            <a:off x="9505950" y="5619750"/>
            <a:ext cx="2076450" cy="55245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Box 49"/>
          <p:cNvSpPr txBox="1"/>
          <p:nvPr/>
        </p:nvSpPr>
        <p:spPr>
          <a:xfrm>
            <a:off x="9547594" y="5713571"/>
            <a:ext cx="19931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SQLite · Kuzu · Qdrant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772294" y="5923121"/>
            <a:ext cx="154376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写一次，投影三份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02361" y="6285071"/>
            <a:ext cx="963765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为什么 OpenAlex 为主：硬件/EDA 文献常只发期刊、不进 arXiv，只用 arXiv 会系统性漏检（非 OA 仅摘要）。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990554" y="6532721"/>
            <a:ext cx="59908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08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19100"/>
            <a:ext cx="76200" cy="28575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11911" y="474821"/>
            <a:ext cx="399871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MODULE 7 · SCHEDULING &amp; LONG RUNS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800100"/>
            <a:ext cx="845177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Trigger, Run, Recover — Thin Bookkeeping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694" y="1237298"/>
            <a:ext cx="633851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APScheduler decides when; LangGraph decides how.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161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609600" y="1695450"/>
            <a:ext cx="10972800" cy="30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735711" y="1751171"/>
            <a:ext cx="78875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26461" y="1751171"/>
            <a:ext cx="564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69461" y="1751171"/>
            <a:ext cx="58689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93711" y="1751171"/>
            <a:ext cx="169754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WHY NOT / NOTE</a:t>
            </a:r>
          </a:p>
        </p:txBody>
      </p:sp>
      <p:sp>
        <p:nvSpPr>
          <p:cNvPr id="12" name="Line 12"/>
          <p:cNvSpPr/>
          <p:nvPr/>
        </p:nvSpPr>
        <p:spPr>
          <a:xfrm>
            <a:off x="609600" y="2000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735711" y="2151221"/>
            <a:ext cx="18354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APScheduler + jobs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26461" y="2151221"/>
            <a:ext cx="67962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Chosen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69461" y="2113121"/>
            <a:ext cx="277820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Trigger + state + per-topic lock 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69461" y="2341721"/>
            <a:ext cx="267099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watchdog, next to event stream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93711" y="2113121"/>
            <a:ext cx="325122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Single machine — no distributed need</a:t>
            </a:r>
          </a:p>
        </p:txBody>
      </p:sp>
      <p:sp>
        <p:nvSpPr>
          <p:cNvPr id="18" name="Line 18"/>
          <p:cNvSpPr/>
          <p:nvPr/>
        </p:nvSpPr>
        <p:spPr>
          <a:xfrm>
            <a:off x="609600" y="2762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735711" y="2913221"/>
            <a:ext cx="135103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Celery + Redis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26461" y="2913221"/>
            <a:ext cx="77432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69461" y="2875121"/>
            <a:ext cx="253846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Mature distributed task queue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93711" y="2875121"/>
            <a:ext cx="342204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Broker/worker ops; overlaps LangGraph</a:t>
            </a:r>
          </a:p>
        </p:txBody>
      </p:sp>
      <p:sp>
        <p:nvSpPr>
          <p:cNvPr id="23" name="Line 23"/>
          <p:cNvSpPr/>
          <p:nvPr/>
        </p:nvSpPr>
        <p:spPr>
          <a:xfrm>
            <a:off x="609600" y="3524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735711" y="3675221"/>
            <a:ext cx="15461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Prefect / Dagster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926461" y="3675221"/>
            <a:ext cx="77432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69461" y="3637121"/>
            <a:ext cx="231563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Rich scheduling, retries, UI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93711" y="3637121"/>
            <a:ext cx="31862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Heavy stack; duplicates orchestration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" y="4286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735711" y="4437221"/>
            <a:ext cx="8809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Temporal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26461" y="4437221"/>
            <a:ext cx="11462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Future option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69461" y="4399121"/>
            <a:ext cx="235757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Industrial durable execution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93711" y="4399121"/>
            <a:ext cx="330312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Server cluster — only at platform scale</a:t>
            </a:r>
          </a:p>
        </p:txBody>
      </p:sp>
      <p:sp>
        <p:nvSpPr>
          <p:cNvPr id="33" name="Line 33"/>
          <p:cNvSpPr/>
          <p:nvPr/>
        </p:nvSpPr>
        <p:spPr>
          <a:xfrm>
            <a:off x="609600" y="5048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602361" y="5180171"/>
            <a:ext cx="584974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 WEEKLY RUN — WITH WATCHDOG AND MANUAL RE-RUN</a:t>
            </a:r>
          </a:p>
        </p:txBody>
      </p:sp>
      <p:sp>
        <p:nvSpPr>
          <p:cNvPr id="35" name="Line 35"/>
          <p:cNvSpPr/>
          <p:nvPr/>
        </p:nvSpPr>
        <p:spPr>
          <a:xfrm>
            <a:off x="1047750" y="579120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14288">
            <a:solidFill>
              <a:srgbClr val="CBD5E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36"/>
          <p:cNvSpPr/>
          <p:nvPr/>
        </p:nvSpPr>
        <p:spPr>
          <a:xfrm>
            <a:off x="10744200" y="5734050"/>
            <a:ext cx="133350" cy="114300"/>
          </a:xfrm>
          <a:custGeom>
            <a:avLst/>
            <a:gdLst/>
            <a:ahLst/>
            <a:cxnLst/>
            <a:rect l="l" t="t" r="r" b="b"/>
            <a:pathLst>
              <a:path w="133350" h="11430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Ellipse 37"/>
          <p:cNvSpPr/>
          <p:nvPr/>
        </p:nvSpPr>
        <p:spPr>
          <a:xfrm>
            <a:off x="1362075" y="5724525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998344" y="5446871"/>
            <a:ext cx="860813" cy="2185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Mon 08:00</a:t>
            </a:r>
          </a:p>
        </p:txBody>
      </p:sp>
      <p:sp>
        <p:nvSpPr>
          <p:cNvPr id="39" name="Ellipse 39"/>
          <p:cNvSpPr/>
          <p:nvPr/>
        </p:nvSpPr>
        <p:spPr>
          <a:xfrm>
            <a:off x="3552825" y="5724525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3232729" y="5446871"/>
            <a:ext cx="77354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41" name="Ellipse 41"/>
          <p:cNvSpPr/>
          <p:nvPr/>
        </p:nvSpPr>
        <p:spPr>
          <a:xfrm>
            <a:off x="5743575" y="5724525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5306045" y="5446871"/>
            <a:ext cx="100841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Graph build</a:t>
            </a:r>
          </a:p>
        </p:txBody>
      </p:sp>
      <p:sp>
        <p:nvSpPr>
          <p:cNvPr id="43" name="Ellipse 43"/>
          <p:cNvSpPr/>
          <p:nvPr/>
        </p:nvSpPr>
        <p:spPr>
          <a:xfrm>
            <a:off x="7934325" y="5724525"/>
            <a:ext cx="133350" cy="133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Box 44"/>
          <p:cNvSpPr txBox="1"/>
          <p:nvPr/>
        </p:nvSpPr>
        <p:spPr>
          <a:xfrm>
            <a:off x="7635321" y="5446871"/>
            <a:ext cx="73135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45" name="Ellipse 45"/>
          <p:cNvSpPr/>
          <p:nvPr/>
        </p:nvSpPr>
        <p:spPr>
          <a:xfrm>
            <a:off x="10125075" y="5724525"/>
            <a:ext cx="133350" cy="133350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6"/>
          <p:cNvSpPr txBox="1"/>
          <p:nvPr/>
        </p:nvSpPr>
        <p:spPr>
          <a:xfrm>
            <a:off x="9894911" y="5446871"/>
            <a:ext cx="59367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7" name="Rectangle 47"/>
          <p:cNvSpPr/>
          <p:nvPr/>
        </p:nvSpPr>
        <p:spPr>
          <a:xfrm>
            <a:off x="2857500" y="5981700"/>
            <a:ext cx="7715250" cy="32385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Box 48"/>
          <p:cNvSpPr txBox="1"/>
          <p:nvPr/>
        </p:nvSpPr>
        <p:spPr>
          <a:xfrm>
            <a:off x="4157806" y="6046946"/>
            <a:ext cx="511463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watchdog: stage timeout · no-progress · loop · per-topic lock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02361" y="6418421"/>
            <a:ext cx="85410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理由：周更低频 + 单机运行；编排语义已在 LangGraph，调度只需簿记（状态/锁/看门狗/留痕）。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990554" y="6532721"/>
            <a:ext cx="59908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09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19100"/>
            <a:ext cx="76200" cy="28575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11911" y="474821"/>
            <a:ext cx="2865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MODULES 8–9 · INTERFACES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800100"/>
            <a:ext cx="655877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Contract-Isolated Backend and UI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694" y="1237298"/>
            <a:ext cx="582177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Pydantic is the single source; the UI swaps freely.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161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609600" y="1695450"/>
            <a:ext cx="10972800" cy="30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735711" y="1751171"/>
            <a:ext cx="78875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26461" y="1751171"/>
            <a:ext cx="564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69461" y="1751171"/>
            <a:ext cx="58689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93711" y="1751171"/>
            <a:ext cx="169754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WHY NOT / NOTE</a:t>
            </a:r>
          </a:p>
        </p:txBody>
      </p:sp>
      <p:sp>
        <p:nvSpPr>
          <p:cNvPr id="12" name="Line 12"/>
          <p:cNvSpPr/>
          <p:nvPr/>
        </p:nvSpPr>
        <p:spPr>
          <a:xfrm>
            <a:off x="609600" y="2000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735711" y="2132171"/>
            <a:ext cx="74922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26461" y="2132171"/>
            <a:ext cx="67962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Chosen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69461" y="2132171"/>
            <a:ext cx="309469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Async-native; SSE; Pydantic source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93711" y="2132171"/>
            <a:ext cx="28129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No background jobs → Module 7</a:t>
            </a:r>
          </a:p>
        </p:txBody>
      </p:sp>
      <p:sp>
        <p:nvSpPr>
          <p:cNvPr id="17" name="Line 17"/>
          <p:cNvSpPr/>
          <p:nvPr/>
        </p:nvSpPr>
        <p:spPr>
          <a:xfrm>
            <a:off x="609600" y="24574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735711" y="2589371"/>
            <a:ext cx="125943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Django REST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26461" y="2589371"/>
            <a:ext cx="77432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069461" y="2589371"/>
            <a:ext cx="2825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Batteries-included, mature admin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93711" y="2589371"/>
            <a:ext cx="297123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Sync ORM vs long-lived streaming</a:t>
            </a:r>
          </a:p>
        </p:txBody>
      </p:sp>
      <p:sp>
        <p:nvSpPr>
          <p:cNvPr id="22" name="Line 22"/>
          <p:cNvSpPr/>
          <p:nvPr/>
        </p:nvSpPr>
        <p:spPr>
          <a:xfrm>
            <a:off x="609600" y="2914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735711" y="3046571"/>
            <a:ext cx="116747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Vue3 / React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26461" y="3046571"/>
            <a:ext cx="67962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Chosen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069461" y="3046571"/>
            <a:ext cx="3273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Both mainstream; REST/SSE isolated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93711" y="3046571"/>
            <a:ext cx="197432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Pick by team familiarity</a:t>
            </a:r>
          </a:p>
        </p:txBody>
      </p:sp>
      <p:sp>
        <p:nvSpPr>
          <p:cNvPr id="27" name="Line 27"/>
          <p:cNvSpPr/>
          <p:nvPr/>
        </p:nvSpPr>
        <p:spPr>
          <a:xfrm>
            <a:off x="609600" y="3371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735711" y="3503771"/>
            <a:ext cx="6472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Next.js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26461" y="3503771"/>
            <a:ext cx="77432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69461" y="3503771"/>
            <a:ext cx="139591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Full-stack React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93711" y="3503771"/>
            <a:ext cx="332878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Backend is FastAPI — would duplicate</a:t>
            </a:r>
          </a:p>
        </p:txBody>
      </p:sp>
      <p:sp>
        <p:nvSpPr>
          <p:cNvPr id="32" name="Line 32"/>
          <p:cNvSpPr/>
          <p:nvPr/>
        </p:nvSpPr>
        <p:spPr>
          <a:xfrm>
            <a:off x="609600" y="38290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735711" y="3960971"/>
            <a:ext cx="192514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AntV G6 / Cytoscape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926461" y="3960971"/>
            <a:ext cx="11462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Future option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069461" y="3960971"/>
            <a:ext cx="197527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Strong for large graphs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93711" y="3960971"/>
            <a:ext cx="211984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ECharts is enough today</a:t>
            </a:r>
          </a:p>
        </p:txBody>
      </p:sp>
      <p:sp>
        <p:nvSpPr>
          <p:cNvPr id="37" name="Line 37"/>
          <p:cNvSpPr/>
          <p:nvPr/>
        </p:nvSpPr>
        <p:spPr>
          <a:xfrm>
            <a:off x="609600" y="4305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Rectangle 38"/>
          <p:cNvSpPr/>
          <p:nvPr/>
        </p:nvSpPr>
        <p:spPr>
          <a:xfrm>
            <a:off x="609600" y="4552950"/>
            <a:ext cx="35052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9" name="Rectangle 39"/>
          <p:cNvSpPr/>
          <p:nvPr/>
        </p:nvSpPr>
        <p:spPr>
          <a:xfrm>
            <a:off x="609600" y="4552950"/>
            <a:ext cx="3505200" cy="381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773811" y="4656296"/>
            <a:ext cx="138057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Topic manager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71469" y="4656296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主题管理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81050" y="5086350"/>
            <a:ext cx="285750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Rectangle 43"/>
          <p:cNvSpPr/>
          <p:nvPr/>
        </p:nvSpPr>
        <p:spPr>
          <a:xfrm>
            <a:off x="781050" y="5314950"/>
            <a:ext cx="228600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Rectangle 44"/>
          <p:cNvSpPr/>
          <p:nvPr/>
        </p:nvSpPr>
        <p:spPr>
          <a:xfrm>
            <a:off x="781050" y="5543550"/>
            <a:ext cx="259080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Box 45"/>
          <p:cNvSpPr txBox="1"/>
          <p:nvPr/>
        </p:nvSpPr>
        <p:spPr>
          <a:xfrm>
            <a:off x="773811" y="5732621"/>
            <a:ext cx="157877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CRUD + schedule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343400" y="4552950"/>
            <a:ext cx="35052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Rectangle 47"/>
          <p:cNvSpPr/>
          <p:nvPr/>
        </p:nvSpPr>
        <p:spPr>
          <a:xfrm>
            <a:off x="4343400" y="4552950"/>
            <a:ext cx="3505200" cy="381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Box 48"/>
          <p:cNvSpPr txBox="1"/>
          <p:nvPr/>
        </p:nvSpPr>
        <p:spPr>
          <a:xfrm>
            <a:off x="4507611" y="4656296"/>
            <a:ext cx="177917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Run report + replay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05269" y="4656296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过程回放</a:t>
            </a:r>
          </a:p>
        </p:txBody>
      </p:sp>
      <p:sp>
        <p:nvSpPr>
          <p:cNvPr id="50" name="Rectangle 50"/>
          <p:cNvSpPr/>
          <p:nvPr/>
        </p:nvSpPr>
        <p:spPr>
          <a:xfrm>
            <a:off x="4514850" y="5086350"/>
            <a:ext cx="285750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Rectangle 51"/>
          <p:cNvSpPr/>
          <p:nvPr/>
        </p:nvSpPr>
        <p:spPr>
          <a:xfrm>
            <a:off x="4514850" y="5314950"/>
            <a:ext cx="259080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Rectangle 52"/>
          <p:cNvSpPr/>
          <p:nvPr/>
        </p:nvSpPr>
        <p:spPr>
          <a:xfrm>
            <a:off x="4514850" y="5543550"/>
            <a:ext cx="209550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Box 53"/>
          <p:cNvSpPr txBox="1"/>
          <p:nvPr/>
        </p:nvSpPr>
        <p:spPr>
          <a:xfrm>
            <a:off x="4507611" y="5732621"/>
            <a:ext cx="195353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Event timeline · history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077200" y="4552950"/>
            <a:ext cx="35052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Rectangle 55"/>
          <p:cNvSpPr/>
          <p:nvPr/>
        </p:nvSpPr>
        <p:spPr>
          <a:xfrm>
            <a:off x="8077200" y="4552950"/>
            <a:ext cx="3505200" cy="381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Box 56"/>
          <p:cNvSpPr txBox="1"/>
          <p:nvPr/>
        </p:nvSpPr>
        <p:spPr>
          <a:xfrm>
            <a:off x="8241411" y="4656296"/>
            <a:ext cx="153993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Chat (streaming)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639069" y="4656296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流式对话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248650" y="5086350"/>
            <a:ext cx="266700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Rectangle 59"/>
          <p:cNvSpPr/>
          <p:nvPr/>
        </p:nvSpPr>
        <p:spPr>
          <a:xfrm>
            <a:off x="8248650" y="5314950"/>
            <a:ext cx="289560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Rectangle 60"/>
          <p:cNvSpPr/>
          <p:nvPr/>
        </p:nvSpPr>
        <p:spPr>
          <a:xfrm>
            <a:off x="8248650" y="5543550"/>
            <a:ext cx="23812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Box 61"/>
          <p:cNvSpPr txBox="1"/>
          <p:nvPr/>
        </p:nvSpPr>
        <p:spPr>
          <a:xfrm>
            <a:off x="8241411" y="5732621"/>
            <a:ext cx="23583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RAG answers with citations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02361" y="6170771"/>
            <a:ext cx="90008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前后端契约：Topic CRUD · 事件流 · 报告历史 · 流式对话 · 图查询 —— 前端被 API 隔离，可随时更换。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990554" y="6532721"/>
            <a:ext cx="59908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19100"/>
            <a:ext cx="76200" cy="28575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11911" y="474821"/>
            <a:ext cx="261845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MODULE 10 · EVALUATION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800100"/>
            <a:ext cx="678629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Framework Shell + Domain Metrics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694" y="1237298"/>
            <a:ext cx="738321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Standard metrics from DeepEval; drift and grounding stay ours.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161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609600" y="1695450"/>
            <a:ext cx="10972800" cy="30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735711" y="1751171"/>
            <a:ext cx="78875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26461" y="1751171"/>
            <a:ext cx="564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69461" y="1751171"/>
            <a:ext cx="58689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93711" y="1751171"/>
            <a:ext cx="169754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WHY NOT / NOTE</a:t>
            </a:r>
          </a:p>
        </p:txBody>
      </p:sp>
      <p:sp>
        <p:nvSpPr>
          <p:cNvPr id="12" name="Line 12"/>
          <p:cNvSpPr/>
          <p:nvPr/>
        </p:nvSpPr>
        <p:spPr>
          <a:xfrm>
            <a:off x="609600" y="2000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735711" y="2151221"/>
            <a:ext cx="15040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DeepEval (shell)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26461" y="2151221"/>
            <a:ext cx="67962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Chosen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69461" y="2113121"/>
            <a:ext cx="235280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Standard + custom metrics,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69461" y="2341721"/>
            <a:ext cx="192688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pytest-style regression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93711" y="2113121"/>
            <a:ext cx="251756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Version churn → pin versions</a:t>
            </a:r>
          </a:p>
        </p:txBody>
      </p:sp>
      <p:sp>
        <p:nvSpPr>
          <p:cNvPr id="18" name="Line 18"/>
          <p:cNvSpPr/>
          <p:nvPr/>
        </p:nvSpPr>
        <p:spPr>
          <a:xfrm>
            <a:off x="609600" y="2762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735711" y="2913221"/>
            <a:ext cx="145502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Domain module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26461" y="2913221"/>
            <a:ext cx="79577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Required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69461" y="2875121"/>
            <a:ext cx="210266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Drift, self-healing, guard;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69461" y="3103721"/>
            <a:ext cx="229915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same event table as replay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93711" y="2875121"/>
            <a:ext cx="14760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Scope kept small</a:t>
            </a:r>
          </a:p>
        </p:txBody>
      </p:sp>
      <p:sp>
        <p:nvSpPr>
          <p:cNvPr id="24" name="Line 24"/>
          <p:cNvSpPr/>
          <p:nvPr/>
        </p:nvSpPr>
        <p:spPr>
          <a:xfrm>
            <a:off x="609600" y="3524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735711" y="3675221"/>
            <a:ext cx="163941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ragas / promptfoo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26461" y="3675221"/>
            <a:ext cx="9223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Alternative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69461" y="3637121"/>
            <a:ext cx="304934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RAG metrics / file-based regression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93711" y="3637121"/>
            <a:ext cx="214537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Complementary, optional</a:t>
            </a:r>
          </a:p>
        </p:txBody>
      </p:sp>
      <p:sp>
        <p:nvSpPr>
          <p:cNvPr id="29" name="Line 29"/>
          <p:cNvSpPr/>
          <p:nvPr/>
        </p:nvSpPr>
        <p:spPr>
          <a:xfrm>
            <a:off x="609600" y="4286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735711" y="4437221"/>
            <a:ext cx="209147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LangSmith / LangFuse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26461" y="4437221"/>
            <a:ext cx="77432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069461" y="4399121"/>
            <a:ext cx="221525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SaaS tracing / self-hosted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93711" y="4399121"/>
            <a:ext cx="298340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Leaves premises; needs PG/Redis</a:t>
            </a:r>
          </a:p>
        </p:txBody>
      </p:sp>
      <p:sp>
        <p:nvSpPr>
          <p:cNvPr id="34" name="Line 34"/>
          <p:cNvSpPr/>
          <p:nvPr/>
        </p:nvSpPr>
        <p:spPr>
          <a:xfrm>
            <a:off x="609600" y="5048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602361" y="5180171"/>
            <a:ext cx="306677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FROM RUN TO PAPER CHARTS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09600" y="5448300"/>
            <a:ext cx="21907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1216675" y="5542121"/>
            <a:ext cx="9765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Weekly run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19835" y="5751671"/>
            <a:ext cx="970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运行即埋点</a:t>
            </a:r>
          </a:p>
        </p:txBody>
      </p:sp>
      <p:sp>
        <p:nvSpPr>
          <p:cNvPr id="39" name="Line 39"/>
          <p:cNvSpPr/>
          <p:nvPr/>
        </p:nvSpPr>
        <p:spPr>
          <a:xfrm>
            <a:off x="2857500" y="5724525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40"/>
          <p:cNvSpPr/>
          <p:nvPr/>
        </p:nvSpPr>
        <p:spPr>
          <a:xfrm>
            <a:off x="3067050" y="56673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Rectangle 41"/>
          <p:cNvSpPr/>
          <p:nvPr/>
        </p:nvSpPr>
        <p:spPr>
          <a:xfrm>
            <a:off x="3238500" y="5448300"/>
            <a:ext cx="2381250" cy="552450"/>
          </a:xfrm>
          <a:prstGeom prst="roundRect">
            <a:avLst>
              <a:gd name="adj" fmla="val 6897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3909079" y="5542121"/>
            <a:ext cx="104009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Event table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943985" y="5751671"/>
            <a:ext cx="970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唯一真相源</a:t>
            </a:r>
          </a:p>
        </p:txBody>
      </p:sp>
      <p:sp>
        <p:nvSpPr>
          <p:cNvPr id="44" name="Line 44"/>
          <p:cNvSpPr/>
          <p:nvPr/>
        </p:nvSpPr>
        <p:spPr>
          <a:xfrm>
            <a:off x="5676900" y="5724525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Freeform 45"/>
          <p:cNvSpPr/>
          <p:nvPr/>
        </p:nvSpPr>
        <p:spPr>
          <a:xfrm>
            <a:off x="5886450" y="56673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Rectangle 46"/>
          <p:cNvSpPr/>
          <p:nvPr/>
        </p:nvSpPr>
        <p:spPr>
          <a:xfrm>
            <a:off x="6057900" y="5448300"/>
            <a:ext cx="238125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Box 47"/>
          <p:cNvSpPr txBox="1"/>
          <p:nvPr/>
        </p:nvSpPr>
        <p:spPr>
          <a:xfrm>
            <a:off x="6409712" y="5542121"/>
            <a:ext cx="167762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Metrics / judgments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858965" y="5751671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指标聚合</a:t>
            </a:r>
          </a:p>
        </p:txBody>
      </p:sp>
      <p:sp>
        <p:nvSpPr>
          <p:cNvPr id="49" name="Line 49"/>
          <p:cNvSpPr/>
          <p:nvPr/>
        </p:nvSpPr>
        <p:spPr>
          <a:xfrm>
            <a:off x="8496300" y="5724525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50"/>
          <p:cNvSpPr/>
          <p:nvPr/>
        </p:nvSpPr>
        <p:spPr>
          <a:xfrm>
            <a:off x="8705850" y="56673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Rectangle 51"/>
          <p:cNvSpPr/>
          <p:nvPr/>
        </p:nvSpPr>
        <p:spPr>
          <a:xfrm>
            <a:off x="8877300" y="5448300"/>
            <a:ext cx="2705100" cy="55245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Box 52"/>
          <p:cNvSpPr txBox="1"/>
          <p:nvPr/>
        </p:nvSpPr>
        <p:spPr>
          <a:xfrm>
            <a:off x="9303079" y="5542121"/>
            <a:ext cx="185354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Paper charts + export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443632" y="5751671"/>
            <a:ext cx="157243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论文图表 / 数据集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02361" y="6151721"/>
            <a:ext cx="870899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理由：标准指标与 judge 外壳用 DeepEval；定义论文方法论的部分（漂移、自愈、grounding）自研。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02361" y="6399371"/>
            <a:ext cx="63132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judge 与生成异源、rubric 固定；“守卫开 vs 关”对照实验量化自愈收益。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990554" y="6532721"/>
            <a:ext cx="59908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19100"/>
            <a:ext cx="76200" cy="28575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11911" y="474821"/>
            <a:ext cx="183303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KEY CHALLENGES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800100"/>
            <a:ext cx="518451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Hard Parts and Mitigations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694" y="1237298"/>
            <a:ext cx="532445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Where the thesis contributions are measured.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161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609600" y="1695450"/>
            <a:ext cx="10972800" cy="30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735711" y="1751171"/>
            <a:ext cx="123803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16961" y="1751171"/>
            <a:ext cx="159667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WHY IT IS HARD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36461" y="1751171"/>
            <a:ext cx="215830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PLANNED APPROACH</a:t>
            </a:r>
          </a:p>
        </p:txBody>
      </p:sp>
      <p:sp>
        <p:nvSpPr>
          <p:cNvPr id="11" name="Line 11"/>
          <p:cNvSpPr/>
          <p:nvPr/>
        </p:nvSpPr>
        <p:spPr>
          <a:xfrm>
            <a:off x="609600" y="2000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735711" y="2227421"/>
            <a:ext cx="200626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Topic drift (long runs)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16961" y="2227421"/>
            <a:ext cx="330372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One early error compounds over hours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36461" y="2227421"/>
            <a:ext cx="434546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Scope anchor + drift detector + rollback to planning</a:t>
            </a:r>
          </a:p>
        </p:txBody>
      </p:sp>
      <p:sp>
        <p:nvSpPr>
          <p:cNvPr id="15" name="Line 15"/>
          <p:cNvSpPr/>
          <p:nvPr/>
        </p:nvSpPr>
        <p:spPr>
          <a:xfrm>
            <a:off x="609600" y="2667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735711" y="2894171"/>
            <a:ext cx="180527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Loops &amp; stagnation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16961" y="2894171"/>
            <a:ext cx="284642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Runs waste time and cost silently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36461" y="2894171"/>
            <a:ext cx="399472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Cycle &amp; no-progress detection → forced replan</a:t>
            </a:r>
          </a:p>
        </p:txBody>
      </p:sp>
      <p:sp>
        <p:nvSpPr>
          <p:cNvPr id="19" name="Line 19"/>
          <p:cNvSpPr/>
          <p:nvPr/>
        </p:nvSpPr>
        <p:spPr>
          <a:xfrm>
            <a:off x="609600" y="3333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735711" y="3560921"/>
            <a:ext cx="21736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Context growth / VRAM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16961" y="3560921"/>
            <a:ext cx="267648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State inflates; local budget tight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36461" y="3560921"/>
            <a:ext cx="359109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Structured state + folding + budget routing</a:t>
            </a:r>
          </a:p>
        </p:txBody>
      </p:sp>
      <p:sp>
        <p:nvSpPr>
          <p:cNvPr id="23" name="Line 23"/>
          <p:cNvSpPr/>
          <p:nvPr/>
        </p:nvSpPr>
        <p:spPr>
          <a:xfrm>
            <a:off x="609600" y="4000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735711" y="4227671"/>
            <a:ext cx="14963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Author relations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116961" y="4227671"/>
            <a:ext cx="27826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Name ambiguity; time semantics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36461" y="4227671"/>
            <a:ext cx="397319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Metadata temporal graph; disambiguation later</a:t>
            </a:r>
          </a:p>
        </p:txBody>
      </p:sp>
      <p:sp>
        <p:nvSpPr>
          <p:cNvPr id="27" name="Line 27"/>
          <p:cNvSpPr/>
          <p:nvPr/>
        </p:nvSpPr>
        <p:spPr>
          <a:xfrm>
            <a:off x="609600" y="4667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735711" y="4894421"/>
            <a:ext cx="210203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Unattended operations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16961" y="4894421"/>
            <a:ext cx="283617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Crashes, overlap, storage growth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36461" y="4894421"/>
            <a:ext cx="388779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Per-topic locks, watchdog, recovery, retention</a:t>
            </a:r>
          </a:p>
        </p:txBody>
      </p:sp>
      <p:sp>
        <p:nvSpPr>
          <p:cNvPr id="31" name="Line 31"/>
          <p:cNvSpPr/>
          <p:nvPr/>
        </p:nvSpPr>
        <p:spPr>
          <a:xfrm>
            <a:off x="609600" y="5334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735711" y="5561171"/>
            <a:ext cx="191247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Provenance &amp; replay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116961" y="5561171"/>
            <a:ext cx="257076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Evaluation needs ground truth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36461" y="5561171"/>
            <a:ext cx="368612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Event sourcing as the single source of truth</a:t>
            </a:r>
          </a:p>
        </p:txBody>
      </p:sp>
      <p:sp>
        <p:nvSpPr>
          <p:cNvPr id="35" name="Line 35"/>
          <p:cNvSpPr/>
          <p:nvPr/>
        </p:nvSpPr>
        <p:spPr>
          <a:xfrm>
            <a:off x="609600" y="6000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Box 36"/>
          <p:cNvSpPr txBox="1"/>
          <p:nvPr/>
        </p:nvSpPr>
        <p:spPr>
          <a:xfrm>
            <a:off x="602361" y="6170771"/>
            <a:ext cx="819614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对策要点：scope 锚定 · 成环检测 · 摘要折叠 · 元数据级时间图 · 串行锁与看门狗 · 事件溯源。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02361" y="6418421"/>
            <a:ext cx="75302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自愈可测：P2 起 fault-injection hook 与生产同路径，注入漂移 / 循环 / 停滞 / 故障。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90554" y="6532721"/>
            <a:ext cx="59908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42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19100"/>
            <a:ext cx="76200" cy="28575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11911" y="474821"/>
            <a:ext cx="42115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SELF-CORRECTION · SUPERVISOR FOCUS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800100"/>
            <a:ext cx="68455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Reliability Enforced by the Harness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694" y="1237298"/>
            <a:ext cx="744064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Three lines of defence, explicit detectors, one escalation ladder.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161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609600" y="1733550"/>
            <a:ext cx="3505200" cy="10668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838200" y="1905000"/>
            <a:ext cx="3619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958774" y="1951196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5306" y="1920240"/>
            <a:ext cx="18707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Runtime guards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0961" y="2284571"/>
            <a:ext cx="251810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Around every node → no drift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0961" y="2532221"/>
            <a:ext cx="123110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节点守卫，防跑偏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43400" y="1733550"/>
            <a:ext cx="3505200" cy="10668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4"/>
          <p:cNvSpPr/>
          <p:nvPr/>
        </p:nvSpPr>
        <p:spPr>
          <a:xfrm>
            <a:off x="4572000" y="1905000"/>
            <a:ext cx="3619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4692574" y="1951196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39106" y="1920240"/>
            <a:ext cx="18024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State discipline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4761" y="2284571"/>
            <a:ext cx="231507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Structured output, timeouts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64761" y="2532221"/>
            <a:ext cx="138499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结构化产出，防失控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077200" y="1733550"/>
            <a:ext cx="3505200" cy="10668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 20"/>
          <p:cNvSpPr/>
          <p:nvPr/>
        </p:nvSpPr>
        <p:spPr>
          <a:xfrm>
            <a:off x="8305800" y="1905000"/>
            <a:ext cx="3619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8426374" y="1951196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72906" y="1920240"/>
            <a:ext cx="141234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Quality gate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98561" y="2284571"/>
            <a:ext cx="215169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Grounding check + judge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98561" y="2532221"/>
            <a:ext cx="153888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质检，防劣质产出过关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09600" y="2933700"/>
            <a:ext cx="10972800" cy="30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735711" y="2989421"/>
            <a:ext cx="112537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DETECTOR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402711" y="2989421"/>
            <a:ext cx="75534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93711" y="2989421"/>
            <a:ext cx="113692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29" name="Line 29"/>
          <p:cNvSpPr/>
          <p:nvPr/>
        </p:nvSpPr>
        <p:spPr>
          <a:xfrm>
            <a:off x="609600" y="3238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735711" y="3389471"/>
            <a:ext cx="95415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Topic drift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02711" y="3389471"/>
            <a:ext cx="374980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Scope embedding similarity below threshold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93711" y="3389471"/>
            <a:ext cx="26557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Back to planning with feedback</a:t>
            </a:r>
          </a:p>
        </p:txBody>
      </p:sp>
      <p:sp>
        <p:nvSpPr>
          <p:cNvPr id="33" name="Line 33"/>
          <p:cNvSpPr/>
          <p:nvPr/>
        </p:nvSpPr>
        <p:spPr>
          <a:xfrm>
            <a:off x="609600" y="3733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735711" y="3884771"/>
            <a:ext cx="125175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Retrieval drift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02711" y="3884771"/>
            <a:ext cx="247480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Share of out-of-scope results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93711" y="3884771"/>
            <a:ext cx="216623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Tighten query, re-retrieve</a:t>
            </a:r>
          </a:p>
        </p:txBody>
      </p:sp>
      <p:sp>
        <p:nvSpPr>
          <p:cNvPr id="37" name="Line 37"/>
          <p:cNvSpPr/>
          <p:nvPr/>
        </p:nvSpPr>
        <p:spPr>
          <a:xfrm>
            <a:off x="609600" y="4229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735711" y="4380071"/>
            <a:ext cx="48813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Loop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402711" y="4380071"/>
            <a:ext cx="288901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Repeated tool-call signature cycle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93711" y="4380071"/>
            <a:ext cx="119954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Forced replan</a:t>
            </a:r>
          </a:p>
        </p:txBody>
      </p:sp>
      <p:sp>
        <p:nvSpPr>
          <p:cNvPr id="41" name="Line 41"/>
          <p:cNvSpPr/>
          <p:nvPr/>
        </p:nvSpPr>
        <p:spPr>
          <a:xfrm>
            <a:off x="609600" y="472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735711" y="4875371"/>
            <a:ext cx="10076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Stagnation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402711" y="4875371"/>
            <a:ext cx="194295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Zero new verified facts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93711" y="4875371"/>
            <a:ext cx="212493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Retry → provider → stop</a:t>
            </a:r>
          </a:p>
        </p:txBody>
      </p:sp>
      <p:sp>
        <p:nvSpPr>
          <p:cNvPr id="45" name="Line 45"/>
          <p:cNvSpPr/>
          <p:nvPr/>
        </p:nvSpPr>
        <p:spPr>
          <a:xfrm>
            <a:off x="609600" y="5219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6"/>
          <p:cNvSpPr txBox="1"/>
          <p:nvPr/>
        </p:nvSpPr>
        <p:spPr>
          <a:xfrm>
            <a:off x="735711" y="5370671"/>
            <a:ext cx="159305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Schema / citation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402711" y="5370671"/>
            <a:ext cx="311143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Invalid structure, unverifiable citation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93711" y="5370671"/>
            <a:ext cx="298633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Retry once → degrade → annotate</a:t>
            </a:r>
          </a:p>
        </p:txBody>
      </p:sp>
      <p:sp>
        <p:nvSpPr>
          <p:cNvPr id="49" name="Line 49"/>
          <p:cNvSpPr/>
          <p:nvPr/>
        </p:nvSpPr>
        <p:spPr>
          <a:xfrm>
            <a:off x="609600" y="5715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Rectangle 50"/>
          <p:cNvSpPr/>
          <p:nvPr/>
        </p:nvSpPr>
        <p:spPr>
          <a:xfrm>
            <a:off x="609600" y="5867400"/>
            <a:ext cx="10972800" cy="68580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Box 51"/>
          <p:cNvSpPr txBox="1"/>
          <p:nvPr/>
        </p:nvSpPr>
        <p:spPr>
          <a:xfrm>
            <a:off x="792861" y="5980271"/>
            <a:ext cx="620046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retry (≤2) → degrade (provider / model) → replan → abort + annotate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92861" y="6246971"/>
            <a:ext cx="594714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升级阶梯：每次升级把“失败原因 + 可信状态 + 下一步”注入上下文，绝不静默失败。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19100"/>
            <a:ext cx="76200" cy="28575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11911" y="474821"/>
            <a:ext cx="286539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EVALUATION PLAN PREVIEW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800100"/>
            <a:ext cx="525335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Datasets, Metrics, Protocol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694" y="1237298"/>
            <a:ext cx="72801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Designed in from day one: fixed datasets plus instrumentation.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161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609600" y="1733550"/>
            <a:ext cx="2857500" cy="12573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790956" y="1882140"/>
            <a:ext cx="130466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Test topics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2861" y="2246471"/>
            <a:ext cx="202927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3–5 fixed English topics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2861" y="2475071"/>
            <a:ext cx="145972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with seed papers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2861" y="2722721"/>
            <a:ext cx="138499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3–5 个固定英文主题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619500" y="1733550"/>
            <a:ext cx="2857500" cy="12573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3800856" y="1882140"/>
            <a:ext cx="16275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Gold fact lists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02761" y="2246471"/>
            <a:ext cx="182105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20–40 verifiable facts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02761" y="2475071"/>
            <a:ext cx="202277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per topic, built manually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02761" y="2722721"/>
            <a:ext cx="145552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每主题 20–40 条事实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09600" y="3067050"/>
            <a:ext cx="2857500" cy="12573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790956" y="3215640"/>
            <a:ext cx="17760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Chat questions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2861" y="3579971"/>
            <a:ext cx="17519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Five types, including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2861" y="3808571"/>
            <a:ext cx="16724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unanswerable ones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2861" y="4056221"/>
            <a:ext cx="153888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五类问题，含不可答型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619500" y="3067050"/>
            <a:ext cx="2857500" cy="12573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3800856" y="3215640"/>
            <a:ext cx="166724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Fault injection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02761" y="3579971"/>
            <a:ext cx="163477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Drift, loop, provider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02761" y="3808571"/>
            <a:ext cx="206555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failure, hallucination bait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802761" y="4056221"/>
            <a:ext cx="173605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漂移/循环/故障/幻觉诱导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9600" y="4476750"/>
            <a:ext cx="5867400" cy="171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790956" y="4625340"/>
            <a:ext cx="173537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Data discipline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2861" y="4989671"/>
            <a:ext cx="228376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Frozen corpus snapshots 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2861" y="5218271"/>
            <a:ext cx="184665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语料快照冻结，回查可复现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2861" y="5504021"/>
            <a:ext cx="25920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Injections on sandbox copies ·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2861" y="5732621"/>
            <a:ext cx="153888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注入只作用于测试副本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12261" y="4989671"/>
            <a:ext cx="165633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Datasets versioned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612261" y="5218271"/>
            <a:ext cx="87772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(Git + tag)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612261" y="5504021"/>
            <a:ext cx="169277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数据集与判定结果版本化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74561" y="1751171"/>
            <a:ext cx="92339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74561" y="2036921"/>
            <a:ext cx="28643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3235" indent="-113235" algn="l">
              <a:buClr>
                <a:srgbClr val="0F172A"/>
              </a:buClr>
              <a:buSzTx/>
              <a:buFontTx/>
              <a:buChar char="•"/>
            </a:pPr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Faithfulness / grounding support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74561" y="2322671"/>
            <a:ext cx="160972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3235" indent="-113235" algn="l">
              <a:buClr>
                <a:srgbClr val="0F172A"/>
              </a:buClr>
              <a:buSzTx/>
              <a:buFontTx/>
              <a:buChar char="•"/>
            </a:pPr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Hallucination rate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74561" y="2608421"/>
            <a:ext cx="293867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3235" indent="-113235" algn="l">
              <a:buClr>
                <a:srgbClr val="0F172A"/>
              </a:buClr>
              <a:buSzTx/>
              <a:buFontTx/>
              <a:buChar char="•"/>
            </a:pPr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Answer accuracy &amp; recall vs gold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74561" y="2894171"/>
            <a:ext cx="256598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3235" indent="-113235" algn="l">
              <a:buClr>
                <a:srgbClr val="0F172A"/>
              </a:buClr>
              <a:buSzTx/>
              <a:buFontTx/>
              <a:buChar char="•"/>
            </a:pPr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Citation correctness · refusal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774561" y="3179921"/>
            <a:ext cx="23217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3235" indent="-113235" algn="l">
              <a:buClr>
                <a:srgbClr val="0F172A"/>
              </a:buClr>
              <a:buSzTx/>
              <a:buFontTx/>
              <a:buChar char="•"/>
            </a:pPr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Drift rate (process cosine)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74561" y="3465671"/>
            <a:ext cx="28641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3235" indent="-113235" algn="l">
              <a:buClr>
                <a:srgbClr val="0F172A"/>
              </a:buClr>
              <a:buSzTx/>
              <a:buFontTx/>
              <a:buChar char="•"/>
            </a:pPr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Self-healing detection / recovery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774561" y="3751421"/>
            <a:ext cx="225845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3235" indent="-113235" algn="l">
              <a:buClr>
                <a:srgbClr val="0F172A"/>
              </a:buClr>
              <a:buSzTx/>
              <a:buFontTx/>
              <a:buChar char="•"/>
            </a:pPr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Out-of-scope side effects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774561" y="4037171"/>
            <a:ext cx="246047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3235" indent="-113235" algn="l">
              <a:buClr>
                <a:srgbClr val="0F172A"/>
              </a:buClr>
              <a:buSzTx/>
              <a:buFontTx/>
              <a:buChar char="•"/>
            </a:pPr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Local vs cloud: quality, cost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781800" y="4362450"/>
            <a:ext cx="4800600" cy="8382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6"/>
          <p:cNvSpPr txBox="1"/>
          <p:nvPr/>
        </p:nvSpPr>
        <p:spPr>
          <a:xfrm>
            <a:off x="6965061" y="4494371"/>
            <a:ext cx="79523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Protocol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65061" y="4742021"/>
            <a:ext cx="377032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Weekly runs ≥ 4 weeks · cross-source judge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965061" y="4970621"/>
            <a:ext cx="265777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≥4 周 · 异源 judge · 人工抽查报一致性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781800" y="5314950"/>
            <a:ext cx="4800600" cy="1009650"/>
          </a:xfrm>
          <a:prstGeom prst="roundRect">
            <a:avLst>
              <a:gd name="adj" fmla="val 566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Box 50"/>
          <p:cNvSpPr txBox="1"/>
          <p:nvPr/>
        </p:nvSpPr>
        <p:spPr>
          <a:xfrm>
            <a:off x="6963156" y="5425440"/>
            <a:ext cx="208424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Ablation highlight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65061" y="5713571"/>
            <a:ext cx="261298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Guards off vs on quantifies the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65061" y="5942171"/>
            <a:ext cx="277705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value of the self-correction layer.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19100"/>
            <a:ext cx="76200" cy="28575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11911" y="474821"/>
            <a:ext cx="239377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ROADMAP &amp; DECISIONS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800100"/>
            <a:ext cx="726918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Phases P1–P6 and Decisions Needed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9694" y="1237298"/>
            <a:ext cx="603979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Six phases, six decisions requested from the group.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1619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602361" y="1751171"/>
            <a:ext cx="103573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8" name="Rectangle 8"/>
          <p:cNvSpPr/>
          <p:nvPr/>
        </p:nvSpPr>
        <p:spPr>
          <a:xfrm>
            <a:off x="609600" y="2019300"/>
            <a:ext cx="533400" cy="2857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745530" y="2075021"/>
            <a:ext cx="26154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6256" y="2034540"/>
            <a:ext cx="234166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Minimal closed loop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8161" y="2322671"/>
            <a:ext cx="373835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retrieval → store → report + instrumentation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8161" y="2551271"/>
            <a:ext cx="138127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最小闭环 + 埋点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9600" y="2781300"/>
            <a:ext cx="533400" cy="2857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745530" y="2837021"/>
            <a:ext cx="26154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6256" y="2796540"/>
            <a:ext cx="156179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Harness core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8161" y="3084671"/>
            <a:ext cx="351087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pipeline, guards, watchdog, fault injection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8161" y="3313271"/>
            <a:ext cx="198343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编排 + 守卫 + 故障注入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09600" y="3543300"/>
            <a:ext cx="533400" cy="2857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745530" y="3599021"/>
            <a:ext cx="26154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86256" y="3558540"/>
            <a:ext cx="188284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Multi-agent split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8161" y="3846671"/>
            <a:ext cx="261276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context folding + chat interface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8161" y="4075271"/>
            <a:ext cx="243265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多 agent 拆分 + 折叠 + 对话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9600" y="4305300"/>
            <a:ext cx="533400" cy="2857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745530" y="4361021"/>
            <a:ext cx="26154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6256" y="4320540"/>
            <a:ext cx="223427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Weekly automation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8161" y="4608671"/>
            <a:ext cx="262855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novelty detection, author views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88161" y="4837271"/>
            <a:ext cx="195475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周更自动化 + 作者动向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09600" y="5067300"/>
            <a:ext cx="533400" cy="2857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745530" y="5123021"/>
            <a:ext cx="26154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6256" y="5082540"/>
            <a:ext cx="244965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Evaluation campaign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8161" y="5370671"/>
            <a:ext cx="276527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≥ 4 weeks of data, local vs cloud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88161" y="5599271"/>
            <a:ext cx="20312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≥4 周数据 + 双引擎对比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09600" y="5829300"/>
            <a:ext cx="533400" cy="2857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745530" y="5885021"/>
            <a:ext cx="26154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86256" y="5844540"/>
            <a:ext cx="15827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Spec + thesis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88161" y="6132671"/>
            <a:ext cx="295838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methodology and evaluation report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88161" y="6361271"/>
            <a:ext cx="138127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规格说明 + 论文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65061" y="1751171"/>
            <a:ext cx="243865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DECISIONS REQUESTED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972300" y="2019300"/>
            <a:ext cx="36195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7092874" y="207502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60361" y="2075021"/>
            <a:ext cx="28611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Approve LangGraph + LiteLLM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460361" y="2322671"/>
            <a:ext cx="175403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认可“框架优先”组合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972300" y="2781300"/>
            <a:ext cx="36195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Box 44"/>
          <p:cNvSpPr txBox="1"/>
          <p:nvPr/>
        </p:nvSpPr>
        <p:spPr>
          <a:xfrm>
            <a:off x="7092874" y="283702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460361" y="2837021"/>
            <a:ext cx="335457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Approve DeepEval + domain metrics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460361" y="3084671"/>
            <a:ext cx="21459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评测外壳 + 自研领域指标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972300" y="3543300"/>
            <a:ext cx="36195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Box 48"/>
          <p:cNvSpPr txBox="1"/>
          <p:nvPr/>
        </p:nvSpPr>
        <p:spPr>
          <a:xfrm>
            <a:off x="7092874" y="359902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460361" y="3599021"/>
            <a:ext cx="292192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Confirm OpenAlex-first sources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460361" y="3846671"/>
            <a:ext cx="19260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数据源范围与英文报告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972300" y="4305300"/>
            <a:ext cx="36195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Box 52"/>
          <p:cNvSpPr txBox="1"/>
          <p:nvPr/>
        </p:nvSpPr>
        <p:spPr>
          <a:xfrm>
            <a:off x="7092874" y="436102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460361" y="4361021"/>
            <a:ext cx="28129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Confirm machine and GPU tier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60361" y="4608671"/>
            <a:ext cx="211724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部署形态与本地模型档位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972300" y="5067300"/>
            <a:ext cx="36195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Box 56"/>
          <p:cNvSpPr txBox="1"/>
          <p:nvPr/>
        </p:nvSpPr>
        <p:spPr>
          <a:xfrm>
            <a:off x="7092874" y="512302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460361" y="5123021"/>
            <a:ext cx="225532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Frontend: Vue3 or React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460361" y="5370671"/>
            <a:ext cx="24382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前端二选一（被 API 隔离）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972300" y="5829300"/>
            <a:ext cx="36195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Box 60"/>
          <p:cNvSpPr txBox="1"/>
          <p:nvPr/>
        </p:nvSpPr>
        <p:spPr>
          <a:xfrm>
            <a:off x="7092874" y="5885021"/>
            <a:ext cx="12080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460361" y="5885021"/>
            <a:ext cx="26758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Optional comparison chapter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460361" y="6132671"/>
            <a:ext cx="313666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是否加 DeepSeek Harness 对照章节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gm-a15">
  <a:themeElements>
    <a:clrScheme name="gm-a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-a1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m-a1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3018</Words>
  <Application>Microsoft Office PowerPoint</Application>
  <PresentationFormat>宽屏</PresentationFormat>
  <Paragraphs>516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Microsoft YaHei</vt:lpstr>
      <vt:lpstr>Arial</vt:lpstr>
      <vt:lpstr>Calibri</vt:lpstr>
      <vt:lpstr>gm-a15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ZHP</dc:creator>
  <cp:keywords/>
  <dc:description/>
  <cp:lastModifiedBy>贺鹏 周</cp:lastModifiedBy>
  <cp:revision>3</cp:revision>
  <dcterms:created xsi:type="dcterms:W3CDTF">2026-09-10T05:50:50Z</dcterms:created>
  <dcterms:modified xsi:type="dcterms:W3CDTF">2026-09-10T07:32:35Z</dcterms:modified>
  <cp:category/>
  <cp:contentStatus/>
  <dc:language/>
</cp:coreProperties>
</file>