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856"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Twenty-one slides, three parts: how the stack was chosen, the six problems the design has to survive, and eight feasibility checks that were actually run in Phase 0. Everything shown is measured, and every number traces to a file in the prototype tree.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Phase 0 targets are met. The stores hold at five thousand papers, the guards fire on every injected fault with no false alarms, and one topic runs end to end for about six tenths of a cent. The three-store split stands, no store swap is needed, and the only miss — vector latency — is attributable to the embedded deployment mode rather than to the architecture. On that basis Phase 1 can start.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Ten rows, ten decisions. Two are framework-first: LangGraph for orchestration and LiteLLM as an in-process gateway. The other eight are deliberately boring — local inference is deferred, Kuzu for the graph, Qdrant local for vectors, direct OpenAlex and arXiv clients with our own parsing, APScheduler, FastAPI, Vue 3, and DeepEval plus a custom event metric layer. Every row has a measurement behind it, which is what slides 14 to 21 show.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Most of LangChain is a wrapper layer, not an engine: community loaders wrap pypdf, retrievers hide the pipeline, vectorstore wrappers trim capability. We keep the two parts that are real engines — LangGraph and the provider model classes — and write the rest ourselves so nothing important is hidden. The v1 migration made this explicit by moving chains, AgentExecutor and memory into langchain-classic and making LangGraph the orchestration core.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choice is between a state machine, a chat room, and a vendor SDK. AutoGen hides control flow inside dialogue turns and was rewritten in v0.4; the OpenAI Agents SDK is OpenAI-first and its guardrails are input/output checks rather than stage guards. LangGraph wins because control flow is explicit, recovery happens at node granularity, state is inspectable, and the runtime stays vendor-neutral.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LiteLLM runs in-process, so there is no extra service to operate, and it brings price tables, retries and health cooldowns for a hundred-plus providers. On top we keep a thin layer of our own: a content-addressed cache, truncation detection, a budget breaker, and one event per call carrying tokens, cost, latency and cache hit. OpenRouter is kept only for one-off model benchmarking — its data hop, lack of local engines and hidden failures are not acceptable in the main path.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Ten nodes and five guard diamonds. S0 validates scope, S1 plans, S2 retrieves, S3 parses and chunks, S4 writes to the stores idempotently, S5 diffs against last week, S6 analyses with citations, S7 drafts the report and claims, S8 critiques with a second vendor, S9 finalises and persists metrics. Four edges come back: a scope failure or stagnation returns to S1, a critique below threshold returns to S7, and an exhausted budget finalises or aborts with an annotation. The spine across every node is the same: a checkpoint per node, so resume equals node boundary, and the escalation ladder retry, degrade, replan, abort.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Early drift is amplified downstream, so the mechanism has to be explicit. The Scope Anchor is one versioned object holding the statement, the in-scope boundaries and the counter-examples; it is injected into every node's system slot. Crucially, the retrieval scorer and the drift guard read the same object, so scope can never fork into two definitions — which also means a new topic costs one recalibration instead of a rewrite, and old runs stay readable against the anchor version they ran on.</a:t>
            </a:r>
          </a:p>
          <a:p>
            <a:endParaRPr lang="en-US" dirty="0"/>
          </a:p>
          <a:p>
            <a:r>
              <a:rPr lang="en-US" dirty="0"/>
              <a:t>The representation matters as much as the anchor: the scope is stored as a mean embedding of the accepted seed papers, so "is this still on topic" becomes a cosine distance rather than a judgement call by the model. Around that sit stage contracts with per-stage validators, a role split where the cross-vendor critic never writes, evidence-first claims, hard limits such as the source whitelist and dedup fingerprints enforced in code rather than in prompts, and cross-week anchoring where per-topic state is persisted and diffed against last week so slow drift shows up as a trend. The thresholds themselves are calibrated on real corpora — slide 20 shows the arithmetic.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An unattended run that re-issues the same query, adds no facts and keeps spending is the failure mode here. Five detectors cover it without any model call: a signature window over tool name plus a normalised argument hash, with window five and a repeat threshold of three; state-hash repetition, which catches the graph returning to a place it has already paid for; a facts delta of zero, which catches stagnation before it even looks like a loop; bounded back-edges, so re-entry cannot be unbounded; and an escalation ladder that replans once with a recovery packet and aborts with an annotation on the second hit. Because both primary detectors read only the event log and the state hash, policing a loop adds no tokens to the run being policed.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There is no natural cost ceiling in an unattended run, and "let it finish" is the wrong default when the meter is the only thing still moving. The watchdog reads four meters — tokens, seconds, cost and steps — after every model and tool call, with ceilings declared per topic and overridable there so an expensive topic cannot inherit a cheap default. Before the ceiling it degrades: a cheaper model tier and shorter retrieval batches. At eighty percent it warns without blocking; at a hundred percent it stops and annotates the report, because a partial report beats a burnt budget. Every reading emits a metric event and every verdict a guard trigger, so the ladder is auditable afterwards. Related ceilings — per-node timeout and the graph recursion limit — live in the same config block, and the ladder itself is data: the watchdog chooses the rung, the state machine executes 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Factuality is enforced by contract, not by tone. Claim and evidence are one unit, so the schema rejects a claim object with no citation field and an unsupported sentence cannot reach the report stage at all. Citations must resolve: the paper id plus snippet has to be found in the corpus snapshot, or the claim is marked unverified and counted into the hallucination rate. Contradictions are first-class — when sources disagree the report presents the disagreement instead of a silent average. Refusal is legal, provided it names what is missing and what would settle the question. Numbers carry provenance from tool results, with no source silently winning over another, and a second vendor's model re-reads each claim against its cited snippet before finalize, without the ability to rewrite it. The resolver reads the same snapshot the retrieval used, so a citation that resolves today survives a re-import.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run spans hours, so state, tool results and retrieval history grow without bound — and on-device tiers are tighter still. State keeps summaries and pointers only: paper ids and event ids, with raw text left in the filesystem and the stores and re-read on demand. The token budget of a call is computed from the state that call will receive, and folding is an explicit node rather than an implicit behaviour. The folding rules are fixed: retrieval history becomes structured points plus citations, old dialogue becomes a sliding window plus a summary, and long documents never enter whole. Memory is layered into topic state, evidence stores and report history, each with its own read interface, and prompt assembly uses fixed slots — system, user, tools — so it stays deterministic. Every fold emits before and after token counts, which turns window pressure into a number. Status: designed and instrumented, not yet measured, because Phase 0 data volume is too small to stress the window.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Tool output is untrusted data, and one word, "reasonable", hides four different questions: protocol validity, numeric domains, cross-field consistency, and semantics. The pipeline answers them cheapest-first. L0 checks JSON-RPC validity, the error flag, output schema, types and enums with Pydantic before a single field is read. L1 applies domain rules: ratios between zero and one, non-negative citation counts, year not in the future, published not after updated, citations resolvable in the local store, unit normalisation, source whitelist, freshness and dedup. L2 recomputes key numbers from an independent second source — OpenAlex against Crossref against the local graph. L3 flags statistical anomalies by z-score and IQR against history, plus count spikes. Only then does L4 use an LLM, and only for semantics: rubric-based, cross-vendor, sampled and cached. L5 is a human spot check that calibrates the judge rather than the data. A failed layer means no graph write, no evidence-pool entry and no report claim, and the same validators wrap our own node outputs.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measurement is simple: count whitelist-venue recall over three years from the twelve configured source ids, match arXiv preprints to OpenAlex records by DOI, hand-score sampled relevance, and probe the polite-pool rate limit with twenty sequential requests while recording status and latency percentiles. The whitelist returns 386 papers over three years, about 129 a year, and that is a floor because NeurIPS, ICLR and OSDI records are missing from the count; ninety-one point seven percent of arXiv preprints are indexed in OpenAlex; the relevance spot-check was ten out of ten; and all twenty requests returned HTTP 200 with a median of 1.09 seconds. The conclusion is that whitelist filtering must be the primary retrieval channel, with arXiv as a freshness supplement rather than a gap-filler.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Comparing broad, whitelist and expansion strategies over the same window produced 994 records. Overlap between whitelist and broad recall is a Jaccard of 0.014 on one topic and 0.004 on the other — essentially disjoint corpora, which is why both strategies are needed and why whitelist filtering is not merely denoising. Same-title duplicates run at 19.8 and 19.3 percent, so a sha1 of the canonical id is not enough: the dedup key is DOI plus normalised title plus year, with merged ids kept on the surviving record. Reference completeness is the counter-intuitive one: broad records carry references 25 to 27 percent of the time, whitelist records only 1.5 and 14.3 percent, and a DOI cross-check across all versions showed this is a property of the source record, not a version artefact. That is why reverse cited_by edges and a Crossref supplement are planned. Expansion adds 126 and 155 papers, and the incremental API picture is: the updated-date filter is a paid feature returning 429, while publication date with a cursor is stable with zero page overlap. A 2050 publication date also appeared, so date sanity filtering is mandatory at ingest.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Five thousand real records were imported into SQLite, Kuzu and Qdrant, four query classes were run thirty rounds each, the batch was re-imported to test idempotency, and the indexes were deleted and rebuilt from the truth source. Graph two-hop p95 is 4.42 milliseconds, author aggregation p95 5.06 milliseconds, SQLite lookup p50 0.07 milliseconds; twenty thousand edges were written through match-and-merge; the rebuild reproduced identical counts; re-import grew every count by zero; total disk is 64.9 megabytes, split 12.89 for Kuzu, 49.06 for Qdrant and 2.95 for SQLite. Two silent traps surfaced: a stale Kuzu database inflated author counts to 957 against the true 631, and Kuzu only flushes on database close, which produced a false zero-megabyte reading. The verdict is that no store swap is needed, count reconciliation became mandatory, and the vector-latency item moves to Phase 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Vector top-ten latency was 155 milliseconds against a 100 millisecond target, so the question was whether the architecture or the measurement was at fault. Reading the local-mode implementation settled it: HNSW appears zero times and numpy dot zero times — the embedded mode is a Python scan with no ANN index, and payload indexes have no effect there. The attribution probe at five thousand points and 1024 dimensions shows the pure-math floor is 0.65 milliseconds, about 0.3 percent of the total; the Python glue costs about 26 percent, since even the unfiltered path takes 49.91 milliseconds; and payload filtering adds around 140 milliseconds, 74 percent. Notably, a year filter that matches all five thousand points still costs 112 milliseconds, so filter cost tracks scanned points, not selectivity. The scale curve gives about 0.038 milliseconds per point, extrapolating to roughly 0.76 seconds per query at twenty thousand papers. So this is exact kNN — higher recall, slower — and the deployment decision plus target recalibration belong to Phase 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Six scenarios ran with deterministic hard kills rather than simulated exceptions: control, single crash, double crash, input drift, re-trigger, and correct resume. Calling invoke with no input reproduces the control state field by field, and events stayed contiguous from one to N across three kills — which is what makes the event log usable as the post-crash truth source. Passing the full input, however, replays from the start: fetching ran two to three times. Crashed nodes always re-run, and neither input drift nor re-triggering of a finished run is blocked by the framework. Checkpoints are 28 to 37 kilobytes per run, about four kilobytes per super-step. Two requirements came out of this: node idempotency is now mandatory, and a resume guard was added for input drift and re-triggering.</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One HTTP request fetched twenty-four real OpenAlex records with abstracts, and the full chain then ran locally: normalise, dedup, chunk, store, retrieve, LLM card extraction, LLM report, citation check, events. Cost and latency come from the event log, and the run was repeated against a warm cache to separate API cost from model cost. The report is 8.9 to 10.8 thousand characters with 16 to 23 claims, all of them citable; a cold start costs between $0.0036 and $0.0126 in 60 to 91 seconds; a cached rerun costs nothing in about a tenth of a second with byte-identical claims; each run writes 33 to 34 events. The loop is feasible and cheap. One gateway behaviour to keep: a reasoning model called with a small max-tokens budget returns a length finish reason and an empty body, which looks like success, so truncation detection is mandatory.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Calibration came first, on real corpora: twenty-four on-topic papers against eight real off-topic ones, with an honest hold-out — the first fifteen build the centroid by leave-one-out and the last nine are held back as the inspected artefacts. With the seed-corpus centroid on-topic scores run from 0.0885 to 0.2149 and off-topic from 0.0330 to 0.0670, so the two distributions separate by a gap of 0.0215. The block threshold is the midpoint of that gap, 0.0885 plus 0.0670 over two, which is 0.0777. The warn threshold is the lower bound of the on-topic distribution discounted by a two percent margin, 0.0885 times 0.98, which is 0.0867. That gives a true-positive rate of one and a false-positive rate of zero.</a:t>
            </a:r>
          </a:p>
          <a:p>
            <a:endParaRPr lang="en-US" dirty="0"/>
          </a:p>
          <a:p>
            <a:r>
              <a:rPr lang="en-US" dirty="0"/>
              <a:t>The counter-example is the more useful slide content: with a keyword-string scope the distributions overlapped — 0.000 to 0.165 on-topic against 0.000 to 0.029 off-topic — and no threshold worked; the best zero-false-positive sweep still gave 0.88 true positives against 0.29 false positives. And the first version of the warn rule, block times 1.5, landed at 0.12, inside the on-topic distribution, producing three false alarms out of three normal runs. Hence the rule is frozen: warn is the on-topic lower bound times one minus the margin, never block times a constant. Six scenarios were then injected three times each, entirely offline, and all five fault families were detected three out of three with no false alarms on the normal runs.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Five metrics are aggregated from the event log only, never from summary files, over a defined campaign: the last three runs per scenario, the last two report runs, and the cold start. Grounding is supported over verifiable, 31 over 39, which is 0.7949; hallucination is its complement, 8 over 39, 0.2051; severe hallucination is contradicted over verifiable, 2 over 39, 0.0513; topicality is the mean cosine between claim and scope, 0.0699; mean cost per run is $0.006294 with a cold-start maximum of $0.012589. The citation-resolvable rate is 1.0, injection detection is 1.0 and the false-positive rate is 0.0, none of which depend on a model. Hand-checking one run against its raw claim file gave 16 supported, 1 contradicted, 6 unsupported and 23 verifiable, matching the event-side statistic exactly, which is what makes the numbers auditable. One caveat to keep in the write-up: Phase 0 support labels are model-self-reported, so grounding is not yet independently verified; the deterministic citation-resolvable rate of 1.0 is the hard lower bound, and a gold fact set with a cross-vendor judge is the next step.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gm1013v4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m1013v4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2095500"/>
            <a:ext cx="723900" cy="95250"/>
          </a:xfrm>
          <a:prstGeom prst="roundRect">
            <a:avLst>
              <a:gd name="adj" fmla="val 30000"/>
            </a:avLst>
          </a:prstGeom>
          <a:solidFill>
            <a:srgbClr val="2563EB"/>
          </a:solidFill>
          <a:ln>
            <a:noFill/>
          </a:ln>
        </p:spPr>
        <p:txBody>
          <a:bodyPr/>
          <a:lstStyle/>
          <a:p>
            <a:endParaRPr lang="zh-CN" altLang="en-US"/>
          </a:p>
        </p:txBody>
      </p:sp>
      <p:sp>
        <p:nvSpPr>
          <p:cNvPr id="3" name="TextBox 3"/>
          <p:cNvSpPr txBox="1"/>
          <p:nvPr/>
        </p:nvSpPr>
        <p:spPr>
          <a:xfrm>
            <a:off x="602361" y="2513171"/>
            <a:ext cx="2428593" cy="278702"/>
          </a:xfrm>
          <a:prstGeom prst="rect">
            <a:avLst/>
          </a:prstGeom>
          <a:noFill/>
          <a:ln>
            <a:noFill/>
          </a:ln>
        </p:spPr>
        <p:txBody>
          <a:bodyPr wrap="none" lIns="0" tIns="0" rIns="0" bIns="0" anchor="t" anchorCtr="0">
            <a:spAutoFit/>
          </a:bodyPr>
          <a:lstStyle/>
          <a:p>
            <a:pPr algn="l"/>
            <a:r>
              <a:rPr lang="en-US" sz="1420" dirty="0">
                <a:solidFill>
                  <a:srgbClr val="2563EB"/>
                </a:solidFill>
                <a:latin typeface="Arial"/>
                <a:ea typeface="Arial"/>
                <a:cs typeface="Arial"/>
              </a:rPr>
              <a:t>NUS EE5003 · 2026-10-13</a:t>
            </a:r>
          </a:p>
        </p:txBody>
      </p:sp>
      <p:sp>
        <p:nvSpPr>
          <p:cNvPr id="4" name="TextBox 4"/>
          <p:cNvSpPr txBox="1"/>
          <p:nvPr/>
        </p:nvSpPr>
        <p:spPr>
          <a:xfrm>
            <a:off x="590550" y="2883218"/>
            <a:ext cx="6235526" cy="847725"/>
          </a:xfrm>
          <a:prstGeom prst="rect">
            <a:avLst/>
          </a:prstGeom>
          <a:noFill/>
          <a:ln>
            <a:noFill/>
          </a:ln>
        </p:spPr>
        <p:txBody>
          <a:bodyPr wrap="none" lIns="0" tIns="0" rIns="0" bIns="0" anchor="t" anchorCtr="0">
            <a:spAutoFit/>
          </a:bodyPr>
          <a:lstStyle/>
          <a:p>
            <a:pPr algn="l"/>
            <a:r>
              <a:rPr lang="en-US" sz="4350" b="1" dirty="0">
                <a:solidFill>
                  <a:srgbClr val="0F172A"/>
                </a:solidFill>
                <a:latin typeface="Arial"/>
                <a:ea typeface="Arial"/>
                <a:cs typeface="Arial"/>
              </a:rPr>
              <a:t>Intelligent Multi-Agent</a:t>
            </a:r>
          </a:p>
        </p:txBody>
      </p:sp>
      <p:sp>
        <p:nvSpPr>
          <p:cNvPr id="5" name="TextBox 5"/>
          <p:cNvSpPr txBox="1"/>
          <p:nvPr/>
        </p:nvSpPr>
        <p:spPr>
          <a:xfrm>
            <a:off x="590550" y="3530918"/>
            <a:ext cx="8389848" cy="847725"/>
          </a:xfrm>
          <a:prstGeom prst="rect">
            <a:avLst/>
          </a:prstGeom>
          <a:noFill/>
          <a:ln>
            <a:noFill/>
          </a:ln>
        </p:spPr>
        <p:txBody>
          <a:bodyPr wrap="none" lIns="0" tIns="0" rIns="0" bIns="0" anchor="t" anchorCtr="0">
            <a:spAutoFit/>
          </a:bodyPr>
          <a:lstStyle/>
          <a:p>
            <a:pPr algn="l"/>
            <a:r>
              <a:rPr lang="en-US" sz="4350" b="1" dirty="0">
                <a:solidFill>
                  <a:srgbClr val="0F172A"/>
                </a:solidFill>
                <a:latin typeface="Arial"/>
                <a:ea typeface="Arial"/>
                <a:cs typeface="Arial"/>
              </a:rPr>
              <a:t>Literature Research Assistant</a:t>
            </a:r>
          </a:p>
        </p:txBody>
      </p:sp>
      <p:sp>
        <p:nvSpPr>
          <p:cNvPr id="6" name="TextBox 6"/>
          <p:cNvSpPr txBox="1"/>
          <p:nvPr/>
        </p:nvSpPr>
        <p:spPr>
          <a:xfrm>
            <a:off x="599694" y="4304348"/>
            <a:ext cx="6930901" cy="381381"/>
          </a:xfrm>
          <a:prstGeom prst="rect">
            <a:avLst/>
          </a:prstGeom>
          <a:noFill/>
          <a:ln>
            <a:noFill/>
          </a:ln>
        </p:spPr>
        <p:txBody>
          <a:bodyPr wrap="none" lIns="0" tIns="0" rIns="0" bIns="0" anchor="t" anchorCtr="0">
            <a:spAutoFit/>
          </a:bodyPr>
          <a:lstStyle/>
          <a:p>
            <a:pPr algn="l"/>
            <a:r>
              <a:rPr lang="en-US" sz="1950" dirty="0">
                <a:solidFill>
                  <a:srgbClr val="64748B"/>
                </a:solidFill>
                <a:latin typeface="Arial"/>
                <a:ea typeface="Arial"/>
                <a:cs typeface="Arial"/>
              </a:rPr>
              <a:t>Phase 0 Progress Report · Context &amp; Harness Engineering</a:t>
            </a:r>
          </a:p>
        </p:txBody>
      </p:sp>
      <p:sp>
        <p:nvSpPr>
          <p:cNvPr id="7" name="TextBox 7"/>
          <p:cNvSpPr txBox="1"/>
          <p:nvPr/>
        </p:nvSpPr>
        <p:spPr>
          <a:xfrm>
            <a:off x="601218" y="4698682"/>
            <a:ext cx="4745385" cy="322707"/>
          </a:xfrm>
          <a:prstGeom prst="rect">
            <a:avLst/>
          </a:prstGeom>
          <a:noFill/>
          <a:ln>
            <a:noFill/>
          </a:ln>
        </p:spPr>
        <p:txBody>
          <a:bodyPr wrap="none" lIns="0" tIns="0" rIns="0" bIns="0" anchor="t" anchorCtr="0">
            <a:spAutoFit/>
          </a:bodyPr>
          <a:lstStyle/>
          <a:p>
            <a:pPr algn="l"/>
            <a:r>
              <a:rPr lang="zh-CN" sz="1650" dirty="0">
                <a:solidFill>
                  <a:srgbClr val="2563EB"/>
                </a:solidFill>
                <a:latin typeface="Microsoft YaHei"/>
                <a:ea typeface="Microsoft YaHei"/>
                <a:cs typeface="Microsoft YaHei"/>
              </a:rPr>
              <a:t>智能多智能体文献研究助手 · Phase 0 进展汇报</a:t>
            </a:r>
          </a:p>
        </p:txBody>
      </p:sp>
      <p:sp>
        <p:nvSpPr>
          <p:cNvPr id="8" name="TextBox 8"/>
          <p:cNvSpPr txBox="1"/>
          <p:nvPr/>
        </p:nvSpPr>
        <p:spPr>
          <a:xfrm>
            <a:off x="602361" y="5103971"/>
            <a:ext cx="4765285"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Group meeting · supervisor + research group · 21 slides</a:t>
            </a:r>
          </a:p>
        </p:txBody>
      </p:sp>
      <p:sp>
        <p:nvSpPr>
          <p:cNvPr id="9" name="Line 9"/>
          <p:cNvSpPr/>
          <p:nvPr/>
        </p:nvSpPr>
        <p:spPr>
          <a:xfrm>
            <a:off x="609600" y="56197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0" name="Rectangle 10"/>
          <p:cNvSpPr/>
          <p:nvPr/>
        </p:nvSpPr>
        <p:spPr>
          <a:xfrm>
            <a:off x="609600" y="5886450"/>
            <a:ext cx="1314450" cy="419100"/>
          </a:xfrm>
          <a:prstGeom prst="roundRect">
            <a:avLst>
              <a:gd name="adj" fmla="val 50000"/>
            </a:avLst>
          </a:prstGeom>
          <a:solidFill>
            <a:srgbClr val="DBEAFE"/>
          </a:solidFill>
          <a:ln>
            <a:noFill/>
          </a:ln>
        </p:spPr>
        <p:txBody>
          <a:bodyPr/>
          <a:lstStyle/>
          <a:p>
            <a:endParaRPr lang="zh-CN" altLang="en-US"/>
          </a:p>
        </p:txBody>
      </p:sp>
      <p:sp>
        <p:nvSpPr>
          <p:cNvPr id="11" name="TextBox 11"/>
          <p:cNvSpPr txBox="1"/>
          <p:nvPr/>
        </p:nvSpPr>
        <p:spPr>
          <a:xfrm>
            <a:off x="784277" y="5999321"/>
            <a:ext cx="965096"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① Selection</a:t>
            </a:r>
          </a:p>
        </p:txBody>
      </p:sp>
      <p:sp>
        <p:nvSpPr>
          <p:cNvPr id="12" name="Rectangle 12"/>
          <p:cNvSpPr/>
          <p:nvPr/>
        </p:nvSpPr>
        <p:spPr>
          <a:xfrm>
            <a:off x="2057400" y="5886450"/>
            <a:ext cx="1752600" cy="419100"/>
          </a:xfrm>
          <a:prstGeom prst="roundRect">
            <a:avLst>
              <a:gd name="adj" fmla="val 50000"/>
            </a:avLst>
          </a:prstGeom>
          <a:solidFill>
            <a:srgbClr val="DBEAFE"/>
          </a:solidFill>
          <a:ln>
            <a:noFill/>
          </a:ln>
        </p:spPr>
        <p:txBody>
          <a:bodyPr/>
          <a:lstStyle/>
          <a:p>
            <a:endParaRPr lang="zh-CN" altLang="en-US"/>
          </a:p>
        </p:txBody>
      </p:sp>
      <p:sp>
        <p:nvSpPr>
          <p:cNvPr id="13" name="TextBox 13"/>
          <p:cNvSpPr txBox="1"/>
          <p:nvPr/>
        </p:nvSpPr>
        <p:spPr>
          <a:xfrm>
            <a:off x="2217156" y="5999321"/>
            <a:ext cx="1433087"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② Hard problems</a:t>
            </a:r>
          </a:p>
        </p:txBody>
      </p:sp>
      <p:sp>
        <p:nvSpPr>
          <p:cNvPr id="14" name="Rectangle 14"/>
          <p:cNvSpPr/>
          <p:nvPr/>
        </p:nvSpPr>
        <p:spPr>
          <a:xfrm>
            <a:off x="3943350" y="5886450"/>
            <a:ext cx="1314450" cy="419100"/>
          </a:xfrm>
          <a:prstGeom prst="roundRect">
            <a:avLst>
              <a:gd name="adj" fmla="val 50000"/>
            </a:avLst>
          </a:prstGeom>
          <a:solidFill>
            <a:srgbClr val="DBEAFE"/>
          </a:solidFill>
          <a:ln>
            <a:noFill/>
          </a:ln>
        </p:spPr>
        <p:txBody>
          <a:bodyPr/>
          <a:lstStyle/>
          <a:p>
            <a:endParaRPr lang="zh-CN" altLang="en-US"/>
          </a:p>
        </p:txBody>
      </p:sp>
      <p:sp>
        <p:nvSpPr>
          <p:cNvPr id="15" name="TextBox 15"/>
          <p:cNvSpPr txBox="1"/>
          <p:nvPr/>
        </p:nvSpPr>
        <p:spPr>
          <a:xfrm>
            <a:off x="4117656" y="5999321"/>
            <a:ext cx="965838"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③ Evidence</a:t>
            </a:r>
          </a:p>
        </p:txBody>
      </p:sp>
      <p:sp>
        <p:nvSpPr>
          <p:cNvPr id="16" name="TextBox 16"/>
          <p:cNvSpPr txBox="1"/>
          <p:nvPr/>
        </p:nvSpPr>
        <p:spPr>
          <a:xfrm>
            <a:off x="602361" y="6418421"/>
            <a:ext cx="7862943"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Every number reproducible · evidence in prototype/out/ · decision gate is a separate handout</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200075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CONCLUSION FIRST</a:t>
            </a:r>
          </a:p>
        </p:txBody>
      </p:sp>
      <p:sp>
        <p:nvSpPr>
          <p:cNvPr id="4" name="TextBox 4"/>
          <p:cNvSpPr txBox="1"/>
          <p:nvPr/>
        </p:nvSpPr>
        <p:spPr>
          <a:xfrm>
            <a:off x="594360" y="723900"/>
            <a:ext cx="6499786"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Viable, verified, ready for Phase 1</a:t>
            </a:r>
          </a:p>
        </p:txBody>
      </p:sp>
      <p:sp>
        <p:nvSpPr>
          <p:cNvPr id="5" name="TextBox 5"/>
          <p:cNvSpPr txBox="1"/>
          <p:nvPr/>
        </p:nvSpPr>
        <p:spPr>
          <a:xfrm>
            <a:off x="602361" y="1179671"/>
            <a:ext cx="2690724"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结论先行：选型可行、闭环跑通</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1409700"/>
          </a:xfrm>
          <a:prstGeom prst="roundRect">
            <a:avLst>
              <a:gd name="adj" fmla="val 5405"/>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827532" y="1811655"/>
            <a:ext cx="8861258" cy="410718"/>
          </a:xfrm>
          <a:prstGeom prst="rect">
            <a:avLst/>
          </a:prstGeom>
          <a:noFill/>
          <a:ln>
            <a:noFill/>
          </a:ln>
        </p:spPr>
        <p:txBody>
          <a:bodyPr wrap="none" lIns="0" tIns="0" rIns="0" bIns="0" anchor="t" anchorCtr="0">
            <a:spAutoFit/>
          </a:bodyPr>
          <a:lstStyle/>
          <a:p>
            <a:pPr algn="l"/>
            <a:r>
              <a:rPr lang="en-US" sz="2100" b="1" dirty="0">
                <a:solidFill>
                  <a:srgbClr val="0F172A"/>
                </a:solidFill>
                <a:latin typeface="Arial"/>
                <a:ea typeface="Arial"/>
                <a:cs typeface="Arial"/>
              </a:rPr>
              <a:t>Phase 0 meets its targets: fast stores, precise guards, cheap runs</a:t>
            </a:r>
          </a:p>
        </p:txBody>
      </p:sp>
      <p:sp>
        <p:nvSpPr>
          <p:cNvPr id="9" name="TextBox 9"/>
          <p:cNvSpPr txBox="1"/>
          <p:nvPr/>
        </p:nvSpPr>
        <p:spPr>
          <a:xfrm>
            <a:off x="830961" y="2265521"/>
            <a:ext cx="653237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Storage — graph 2-hop p95 4.42 ms; three stores hold 5k papers in 64.9 MB</a:t>
            </a:r>
          </a:p>
        </p:txBody>
      </p:sp>
      <p:sp>
        <p:nvSpPr>
          <p:cNvPr id="10" name="TextBox 10"/>
          <p:cNvSpPr txBox="1"/>
          <p:nvPr/>
        </p:nvSpPr>
        <p:spPr>
          <a:xfrm>
            <a:off x="830961" y="2513171"/>
            <a:ext cx="626922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Guards — 15 of 15 injected faults detected, 0 false alarms on normal runs</a:t>
            </a:r>
          </a:p>
        </p:txBody>
      </p:sp>
      <p:sp>
        <p:nvSpPr>
          <p:cNvPr id="11" name="TextBox 11"/>
          <p:cNvSpPr txBox="1"/>
          <p:nvPr/>
        </p:nvSpPr>
        <p:spPr>
          <a:xfrm>
            <a:off x="830961" y="2760821"/>
            <a:ext cx="705596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Loop — $0.006 per run with every claim citable; resume point is the node boundary</a:t>
            </a:r>
          </a:p>
        </p:txBody>
      </p:sp>
      <p:sp>
        <p:nvSpPr>
          <p:cNvPr id="12" name="TextBox 12"/>
          <p:cNvSpPr txBox="1"/>
          <p:nvPr/>
        </p:nvSpPr>
        <p:spPr>
          <a:xfrm>
            <a:off x="600456" y="3196590"/>
            <a:ext cx="982297"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Sources</a:t>
            </a:r>
          </a:p>
        </p:txBody>
      </p:sp>
      <p:sp>
        <p:nvSpPr>
          <p:cNvPr id="13" name="TextBox 13"/>
          <p:cNvSpPr txBox="1"/>
          <p:nvPr/>
        </p:nvSpPr>
        <p:spPr>
          <a:xfrm>
            <a:off x="601599" y="3601879"/>
            <a:ext cx="2001595" cy="308039"/>
          </a:xfrm>
          <a:prstGeom prst="rect">
            <a:avLst/>
          </a:prstGeom>
          <a:noFill/>
          <a:ln>
            <a:noFill/>
          </a:ln>
        </p:spPr>
        <p:txBody>
          <a:bodyPr wrap="none" lIns="0" tIns="0" rIns="0" bIns="0" anchor="t" anchorCtr="0">
            <a:spAutoFit/>
          </a:bodyPr>
          <a:lstStyle/>
          <a:p>
            <a:pPr algn="l"/>
            <a:r>
              <a:rPr lang="en-US" sz="1580" dirty="0">
                <a:solidFill>
                  <a:srgbClr val="0F172A"/>
                </a:solidFill>
                <a:latin typeface="Arial"/>
                <a:ea typeface="Arial"/>
                <a:cs typeface="Arial"/>
              </a:rPr>
              <a:t>whitelist-first retrieval</a:t>
            </a:r>
          </a:p>
        </p:txBody>
      </p:sp>
      <p:sp>
        <p:nvSpPr>
          <p:cNvPr id="14" name="TextBox 14"/>
          <p:cNvSpPr txBox="1"/>
          <p:nvPr/>
        </p:nvSpPr>
        <p:spPr>
          <a:xfrm>
            <a:off x="601599" y="3868579"/>
            <a:ext cx="1777793" cy="308039"/>
          </a:xfrm>
          <a:prstGeom prst="rect">
            <a:avLst/>
          </a:prstGeom>
          <a:noFill/>
          <a:ln>
            <a:noFill/>
          </a:ln>
        </p:spPr>
        <p:txBody>
          <a:bodyPr wrap="none" lIns="0" tIns="0" rIns="0" bIns="0" anchor="t" anchorCtr="0">
            <a:spAutoFit/>
          </a:bodyPr>
          <a:lstStyle/>
          <a:p>
            <a:pPr algn="l"/>
            <a:r>
              <a:rPr lang="en-US" sz="1580" dirty="0">
                <a:solidFill>
                  <a:srgbClr val="0F172A"/>
                </a:solidFill>
                <a:latin typeface="Arial"/>
                <a:ea typeface="Arial"/>
                <a:cs typeface="Arial"/>
              </a:rPr>
              <a:t>over target venues</a:t>
            </a:r>
          </a:p>
        </p:txBody>
      </p:sp>
      <p:sp>
        <p:nvSpPr>
          <p:cNvPr id="15" name="TextBox 15"/>
          <p:cNvSpPr txBox="1"/>
          <p:nvPr/>
        </p:nvSpPr>
        <p:spPr>
          <a:xfrm>
            <a:off x="602361" y="4227671"/>
            <a:ext cx="262836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whitelist recall 386 papers / 3 y</a:t>
            </a:r>
          </a:p>
        </p:txBody>
      </p:sp>
      <p:sp>
        <p:nvSpPr>
          <p:cNvPr id="16" name="TextBox 16"/>
          <p:cNvSpPr txBox="1"/>
          <p:nvPr/>
        </p:nvSpPr>
        <p:spPr>
          <a:xfrm>
            <a:off x="602361" y="4513421"/>
            <a:ext cx="218512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arXiv-in-OpenAlex 91.7%</a:t>
            </a:r>
          </a:p>
        </p:txBody>
      </p:sp>
      <p:sp>
        <p:nvSpPr>
          <p:cNvPr id="17" name="TextBox 17"/>
          <p:cNvSpPr txBox="1"/>
          <p:nvPr/>
        </p:nvSpPr>
        <p:spPr>
          <a:xfrm>
            <a:off x="4334256" y="3196590"/>
            <a:ext cx="1412668"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Closed loop</a:t>
            </a:r>
          </a:p>
        </p:txBody>
      </p:sp>
      <p:sp>
        <p:nvSpPr>
          <p:cNvPr id="18" name="TextBox 18"/>
          <p:cNvSpPr txBox="1"/>
          <p:nvPr/>
        </p:nvSpPr>
        <p:spPr>
          <a:xfrm>
            <a:off x="4335399" y="3601879"/>
            <a:ext cx="2617616" cy="308039"/>
          </a:xfrm>
          <a:prstGeom prst="rect">
            <a:avLst/>
          </a:prstGeom>
          <a:noFill/>
          <a:ln>
            <a:noFill/>
          </a:ln>
        </p:spPr>
        <p:txBody>
          <a:bodyPr wrap="none" lIns="0" tIns="0" rIns="0" bIns="0" anchor="t" anchorCtr="0">
            <a:spAutoFit/>
          </a:bodyPr>
          <a:lstStyle/>
          <a:p>
            <a:pPr algn="l"/>
            <a:r>
              <a:rPr lang="en-US" sz="1580" dirty="0">
                <a:solidFill>
                  <a:srgbClr val="0F172A"/>
                </a:solidFill>
                <a:latin typeface="Arial"/>
                <a:ea typeface="Arial"/>
                <a:cs typeface="Arial"/>
              </a:rPr>
              <a:t>a report that can be audited</a:t>
            </a:r>
          </a:p>
        </p:txBody>
      </p:sp>
      <p:sp>
        <p:nvSpPr>
          <p:cNvPr id="19" name="TextBox 19"/>
          <p:cNvSpPr txBox="1"/>
          <p:nvPr/>
        </p:nvSpPr>
        <p:spPr>
          <a:xfrm>
            <a:off x="4336161" y="4227671"/>
            <a:ext cx="191644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100% of claims citable</a:t>
            </a:r>
          </a:p>
        </p:txBody>
      </p:sp>
      <p:sp>
        <p:nvSpPr>
          <p:cNvPr id="20" name="TextBox 20"/>
          <p:cNvSpPr txBox="1"/>
          <p:nvPr/>
        </p:nvSpPr>
        <p:spPr>
          <a:xfrm>
            <a:off x="4336161" y="4513421"/>
            <a:ext cx="189534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8.9k–10.8k characters</a:t>
            </a:r>
          </a:p>
        </p:txBody>
      </p:sp>
      <p:sp>
        <p:nvSpPr>
          <p:cNvPr id="21" name="TextBox 21"/>
          <p:cNvSpPr txBox="1"/>
          <p:nvPr/>
        </p:nvSpPr>
        <p:spPr>
          <a:xfrm>
            <a:off x="4336161" y="4799171"/>
            <a:ext cx="179968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16–23 claims per run</a:t>
            </a:r>
          </a:p>
        </p:txBody>
      </p:sp>
      <p:sp>
        <p:nvSpPr>
          <p:cNvPr id="22" name="TextBox 22"/>
          <p:cNvSpPr txBox="1"/>
          <p:nvPr/>
        </p:nvSpPr>
        <p:spPr>
          <a:xfrm>
            <a:off x="8068056" y="3196590"/>
            <a:ext cx="1735275"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Self-correction</a:t>
            </a:r>
          </a:p>
        </p:txBody>
      </p:sp>
      <p:sp>
        <p:nvSpPr>
          <p:cNvPr id="23" name="TextBox 23"/>
          <p:cNvSpPr txBox="1"/>
          <p:nvPr/>
        </p:nvSpPr>
        <p:spPr>
          <a:xfrm>
            <a:off x="8069199" y="3601879"/>
            <a:ext cx="2499142" cy="308039"/>
          </a:xfrm>
          <a:prstGeom prst="rect">
            <a:avLst/>
          </a:prstGeom>
          <a:noFill/>
          <a:ln>
            <a:noFill/>
          </a:ln>
        </p:spPr>
        <p:txBody>
          <a:bodyPr wrap="none" lIns="0" tIns="0" rIns="0" bIns="0" anchor="t" anchorCtr="0">
            <a:spAutoFit/>
          </a:bodyPr>
          <a:lstStyle/>
          <a:p>
            <a:pPr algn="l"/>
            <a:r>
              <a:rPr lang="en-US" sz="1580" dirty="0">
                <a:solidFill>
                  <a:srgbClr val="0F172A"/>
                </a:solidFill>
                <a:latin typeface="Arial"/>
                <a:ea typeface="Arial"/>
                <a:cs typeface="Arial"/>
              </a:rPr>
              <a:t>guards proven by injection</a:t>
            </a:r>
          </a:p>
        </p:txBody>
      </p:sp>
      <p:sp>
        <p:nvSpPr>
          <p:cNvPr id="24" name="TextBox 24"/>
          <p:cNvSpPr txBox="1"/>
          <p:nvPr/>
        </p:nvSpPr>
        <p:spPr>
          <a:xfrm>
            <a:off x="8069961" y="4227671"/>
            <a:ext cx="198549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5 fault families × 3 runs</a:t>
            </a:r>
          </a:p>
        </p:txBody>
      </p:sp>
      <p:sp>
        <p:nvSpPr>
          <p:cNvPr id="25" name="TextBox 25"/>
          <p:cNvSpPr txBox="1"/>
          <p:nvPr/>
        </p:nvSpPr>
        <p:spPr>
          <a:xfrm>
            <a:off x="8069961" y="4513421"/>
            <a:ext cx="121553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detection 1.00</a:t>
            </a:r>
          </a:p>
        </p:txBody>
      </p:sp>
      <p:sp>
        <p:nvSpPr>
          <p:cNvPr id="26" name="TextBox 26"/>
          <p:cNvSpPr txBox="1"/>
          <p:nvPr/>
        </p:nvSpPr>
        <p:spPr>
          <a:xfrm>
            <a:off x="8069961" y="4799171"/>
            <a:ext cx="137458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false positives 0</a:t>
            </a:r>
          </a:p>
        </p:txBody>
      </p:sp>
      <p:sp>
        <p:nvSpPr>
          <p:cNvPr id="27" name="TextBox 27"/>
          <p:cNvSpPr txBox="1"/>
          <p:nvPr/>
        </p:nvSpPr>
        <p:spPr>
          <a:xfrm>
            <a:off x="602361" y="5180171"/>
            <a:ext cx="9075710"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Three stores hold at 5k papers (64.9 MB) · resume granularity = node boundary · checkpoint 4 KB per step</a:t>
            </a:r>
          </a:p>
        </p:txBody>
      </p:sp>
      <p:sp>
        <p:nvSpPr>
          <p:cNvPr id="28" name="Rectangle 28"/>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9" name="Rectangle 29"/>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0" name="TextBox 30"/>
          <p:cNvSpPr txBox="1"/>
          <p:nvPr/>
        </p:nvSpPr>
        <p:spPr>
          <a:xfrm>
            <a:off x="850011" y="6237446"/>
            <a:ext cx="4119476"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Phase 0 targets met — ready to start Phase 1</a:t>
            </a:r>
          </a:p>
        </p:txBody>
      </p:sp>
      <p:sp>
        <p:nvSpPr>
          <p:cNvPr id="31" name="TextBox 31"/>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2" name="TextBox 32"/>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02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137243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MODULE MAP</a:t>
            </a:r>
          </a:p>
        </p:txBody>
      </p:sp>
      <p:sp>
        <p:nvSpPr>
          <p:cNvPr id="4" name="TextBox 4"/>
          <p:cNvSpPr txBox="1"/>
          <p:nvPr/>
        </p:nvSpPr>
        <p:spPr>
          <a:xfrm>
            <a:off x="594360" y="723900"/>
            <a:ext cx="5340165"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Ten modules, ten decisions</a:t>
            </a:r>
          </a:p>
        </p:txBody>
      </p:sp>
      <p:sp>
        <p:nvSpPr>
          <p:cNvPr id="5" name="TextBox 5"/>
          <p:cNvSpPr txBox="1"/>
          <p:nvPr/>
        </p:nvSpPr>
        <p:spPr>
          <a:xfrm>
            <a:off x="602361" y="1179671"/>
            <a:ext cx="2117242"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模块选型总表：十行定稿</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266700"/>
          </a:xfrm>
          <a:prstGeom prst="rect">
            <a:avLst/>
          </a:prstGeom>
          <a:solidFill>
            <a:srgbClr val="F1F5F9"/>
          </a:solidFill>
          <a:ln>
            <a:noFill/>
          </a:ln>
        </p:spPr>
        <p:txBody>
          <a:bodyPr/>
          <a:lstStyle/>
          <a:p>
            <a:endParaRPr lang="zh-CN" altLang="en-US"/>
          </a:p>
        </p:txBody>
      </p:sp>
      <p:sp>
        <p:nvSpPr>
          <p:cNvPr id="8" name="TextBox 8"/>
          <p:cNvSpPr txBox="1"/>
          <p:nvPr/>
        </p:nvSpPr>
        <p:spPr>
          <a:xfrm>
            <a:off x="716661" y="1674971"/>
            <a:ext cx="120801"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a:t>
            </a:r>
          </a:p>
        </p:txBody>
      </p:sp>
      <p:sp>
        <p:nvSpPr>
          <p:cNvPr id="9" name="TextBox 9"/>
          <p:cNvSpPr txBox="1"/>
          <p:nvPr/>
        </p:nvSpPr>
        <p:spPr>
          <a:xfrm>
            <a:off x="1116711" y="1674971"/>
            <a:ext cx="689736"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Module</a:t>
            </a:r>
          </a:p>
        </p:txBody>
      </p:sp>
      <p:sp>
        <p:nvSpPr>
          <p:cNvPr id="10" name="TextBox 10"/>
          <p:cNvSpPr txBox="1"/>
          <p:nvPr/>
        </p:nvSpPr>
        <p:spPr>
          <a:xfrm>
            <a:off x="5669661" y="1674971"/>
            <a:ext cx="657819"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Choice</a:t>
            </a:r>
          </a:p>
        </p:txBody>
      </p:sp>
      <p:sp>
        <p:nvSpPr>
          <p:cNvPr id="11" name="Line 11"/>
          <p:cNvSpPr/>
          <p:nvPr/>
        </p:nvSpPr>
        <p:spPr>
          <a:xfrm>
            <a:off x="609600" y="19050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2" name="TextBox 12"/>
          <p:cNvSpPr txBox="1"/>
          <p:nvPr/>
        </p:nvSpPr>
        <p:spPr>
          <a:xfrm>
            <a:off x="716661" y="19702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1</a:t>
            </a:r>
          </a:p>
        </p:txBody>
      </p:sp>
      <p:sp>
        <p:nvSpPr>
          <p:cNvPr id="13" name="TextBox 13"/>
          <p:cNvSpPr txBox="1"/>
          <p:nvPr/>
        </p:nvSpPr>
        <p:spPr>
          <a:xfrm>
            <a:off x="1116711" y="1970246"/>
            <a:ext cx="116693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Orchestration</a:t>
            </a:r>
          </a:p>
        </p:txBody>
      </p:sp>
      <p:sp>
        <p:nvSpPr>
          <p:cNvPr id="14" name="Rectangle 14"/>
          <p:cNvSpPr/>
          <p:nvPr/>
        </p:nvSpPr>
        <p:spPr>
          <a:xfrm>
            <a:off x="5676900" y="1933575"/>
            <a:ext cx="1905000" cy="228600"/>
          </a:xfrm>
          <a:prstGeom prst="roundRect">
            <a:avLst>
              <a:gd name="adj" fmla="val 50000"/>
            </a:avLst>
          </a:prstGeom>
          <a:solidFill>
            <a:srgbClr val="2563EB"/>
          </a:solidFill>
          <a:ln>
            <a:noFill/>
          </a:ln>
        </p:spPr>
        <p:txBody>
          <a:bodyPr/>
          <a:lstStyle/>
          <a:p>
            <a:endParaRPr lang="zh-CN" altLang="en-US"/>
          </a:p>
        </p:txBody>
      </p:sp>
      <p:sp>
        <p:nvSpPr>
          <p:cNvPr id="15" name="TextBox 15"/>
          <p:cNvSpPr txBox="1"/>
          <p:nvPr/>
        </p:nvSpPr>
        <p:spPr>
          <a:xfrm>
            <a:off x="6137842" y="1951196"/>
            <a:ext cx="983116" cy="278702"/>
          </a:xfrm>
          <a:prstGeom prst="rect">
            <a:avLst/>
          </a:prstGeom>
          <a:noFill/>
          <a:ln>
            <a:noFill/>
          </a:ln>
        </p:spPr>
        <p:txBody>
          <a:bodyPr wrap="none" lIns="0" tIns="0" rIns="0" bIns="0" anchor="t" anchorCtr="0">
            <a:spAutoFit/>
          </a:bodyPr>
          <a:lstStyle/>
          <a:p>
            <a:pPr algn="ctr"/>
            <a:r>
              <a:rPr lang="en-US" sz="1420" dirty="0">
                <a:solidFill>
                  <a:srgbClr val="FFFFFF"/>
                </a:solidFill>
                <a:latin typeface="Arial"/>
                <a:ea typeface="Arial"/>
                <a:cs typeface="Arial"/>
              </a:rPr>
              <a:t>LangGraph</a:t>
            </a:r>
          </a:p>
        </p:txBody>
      </p:sp>
      <p:sp>
        <p:nvSpPr>
          <p:cNvPr id="16" name="Line 16"/>
          <p:cNvSpPr/>
          <p:nvPr/>
        </p:nvSpPr>
        <p:spPr>
          <a:xfrm>
            <a:off x="609600" y="22098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7" name="TextBox 17"/>
          <p:cNvSpPr txBox="1"/>
          <p:nvPr/>
        </p:nvSpPr>
        <p:spPr>
          <a:xfrm>
            <a:off x="716661" y="22750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2</a:t>
            </a:r>
          </a:p>
        </p:txBody>
      </p:sp>
      <p:sp>
        <p:nvSpPr>
          <p:cNvPr id="18" name="TextBox 18"/>
          <p:cNvSpPr txBox="1"/>
          <p:nvPr/>
        </p:nvSpPr>
        <p:spPr>
          <a:xfrm>
            <a:off x="1116711" y="2275046"/>
            <a:ext cx="77497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Gateway</a:t>
            </a:r>
          </a:p>
        </p:txBody>
      </p:sp>
      <p:sp>
        <p:nvSpPr>
          <p:cNvPr id="19" name="Rectangle 19"/>
          <p:cNvSpPr/>
          <p:nvPr/>
        </p:nvSpPr>
        <p:spPr>
          <a:xfrm>
            <a:off x="5676900" y="2238375"/>
            <a:ext cx="2381250" cy="228600"/>
          </a:xfrm>
          <a:prstGeom prst="roundRect">
            <a:avLst>
              <a:gd name="adj" fmla="val 50000"/>
            </a:avLst>
          </a:prstGeom>
          <a:solidFill>
            <a:srgbClr val="2563EB"/>
          </a:solidFill>
          <a:ln>
            <a:noFill/>
          </a:ln>
        </p:spPr>
        <p:txBody>
          <a:bodyPr/>
          <a:lstStyle/>
          <a:p>
            <a:endParaRPr lang="zh-CN" altLang="en-US"/>
          </a:p>
        </p:txBody>
      </p:sp>
      <p:sp>
        <p:nvSpPr>
          <p:cNvPr id="20" name="TextBox 20"/>
          <p:cNvSpPr txBox="1"/>
          <p:nvPr/>
        </p:nvSpPr>
        <p:spPr>
          <a:xfrm>
            <a:off x="5743207" y="2255996"/>
            <a:ext cx="2248636" cy="278702"/>
          </a:xfrm>
          <a:prstGeom prst="rect">
            <a:avLst/>
          </a:prstGeom>
          <a:noFill/>
          <a:ln>
            <a:noFill/>
          </a:ln>
        </p:spPr>
        <p:txBody>
          <a:bodyPr wrap="none" lIns="0" tIns="0" rIns="0" bIns="0" anchor="t" anchorCtr="0">
            <a:spAutoFit/>
          </a:bodyPr>
          <a:lstStyle/>
          <a:p>
            <a:pPr algn="ctr"/>
            <a:r>
              <a:rPr lang="en-US" sz="1420" dirty="0">
                <a:solidFill>
                  <a:srgbClr val="FFFFFF"/>
                </a:solidFill>
                <a:latin typeface="Arial"/>
                <a:ea typeface="Arial"/>
                <a:cs typeface="Arial"/>
              </a:rPr>
              <a:t>LiteLLM (in-process SDK)</a:t>
            </a:r>
          </a:p>
        </p:txBody>
      </p:sp>
      <p:sp>
        <p:nvSpPr>
          <p:cNvPr id="21" name="Line 21"/>
          <p:cNvSpPr/>
          <p:nvPr/>
        </p:nvSpPr>
        <p:spPr>
          <a:xfrm>
            <a:off x="609600" y="25146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2" name="TextBox 22"/>
          <p:cNvSpPr txBox="1"/>
          <p:nvPr/>
        </p:nvSpPr>
        <p:spPr>
          <a:xfrm>
            <a:off x="716661" y="25798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3</a:t>
            </a:r>
          </a:p>
        </p:txBody>
      </p:sp>
      <p:sp>
        <p:nvSpPr>
          <p:cNvPr id="23" name="TextBox 23"/>
          <p:cNvSpPr txBox="1"/>
          <p:nvPr/>
        </p:nvSpPr>
        <p:spPr>
          <a:xfrm>
            <a:off x="1116711" y="2579846"/>
            <a:ext cx="131628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Local inference</a:t>
            </a:r>
          </a:p>
        </p:txBody>
      </p:sp>
      <p:sp>
        <p:nvSpPr>
          <p:cNvPr id="24" name="TextBox 24"/>
          <p:cNvSpPr txBox="1"/>
          <p:nvPr/>
        </p:nvSpPr>
        <p:spPr>
          <a:xfrm>
            <a:off x="5669661" y="2579846"/>
            <a:ext cx="216595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Ollama / vLLM (deferred)</a:t>
            </a:r>
          </a:p>
        </p:txBody>
      </p:sp>
      <p:sp>
        <p:nvSpPr>
          <p:cNvPr id="25" name="Line 25"/>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6" name="TextBox 26"/>
          <p:cNvSpPr txBox="1"/>
          <p:nvPr/>
        </p:nvSpPr>
        <p:spPr>
          <a:xfrm>
            <a:off x="716661" y="28846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4</a:t>
            </a:r>
          </a:p>
        </p:txBody>
      </p:sp>
      <p:sp>
        <p:nvSpPr>
          <p:cNvPr id="27" name="TextBox 27"/>
          <p:cNvSpPr txBox="1"/>
          <p:nvPr/>
        </p:nvSpPr>
        <p:spPr>
          <a:xfrm>
            <a:off x="1116711" y="2884646"/>
            <a:ext cx="102959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Graph store</a:t>
            </a:r>
          </a:p>
        </p:txBody>
      </p:sp>
      <p:sp>
        <p:nvSpPr>
          <p:cNvPr id="28" name="TextBox 28"/>
          <p:cNvSpPr txBox="1"/>
          <p:nvPr/>
        </p:nvSpPr>
        <p:spPr>
          <a:xfrm>
            <a:off x="5669661" y="2884646"/>
            <a:ext cx="154129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Kuzu (embedded)</a:t>
            </a:r>
          </a:p>
        </p:txBody>
      </p:sp>
      <p:sp>
        <p:nvSpPr>
          <p:cNvPr id="29" name="Line 29"/>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30" name="TextBox 30"/>
          <p:cNvSpPr txBox="1"/>
          <p:nvPr/>
        </p:nvSpPr>
        <p:spPr>
          <a:xfrm>
            <a:off x="716661" y="31894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5</a:t>
            </a:r>
          </a:p>
        </p:txBody>
      </p:sp>
      <p:sp>
        <p:nvSpPr>
          <p:cNvPr id="31" name="TextBox 31"/>
          <p:cNvSpPr txBox="1"/>
          <p:nvPr/>
        </p:nvSpPr>
        <p:spPr>
          <a:xfrm>
            <a:off x="1116711" y="3189446"/>
            <a:ext cx="105036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Vector store</a:t>
            </a:r>
          </a:p>
        </p:txBody>
      </p:sp>
      <p:sp>
        <p:nvSpPr>
          <p:cNvPr id="32" name="TextBox 32"/>
          <p:cNvSpPr txBox="1"/>
          <p:nvPr/>
        </p:nvSpPr>
        <p:spPr>
          <a:xfrm>
            <a:off x="5669661" y="3189446"/>
            <a:ext cx="117844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Qdrant (local)</a:t>
            </a:r>
          </a:p>
        </p:txBody>
      </p:sp>
      <p:sp>
        <p:nvSpPr>
          <p:cNvPr id="33" name="Line 33"/>
          <p:cNvSpPr/>
          <p:nvPr/>
        </p:nvSpPr>
        <p:spPr>
          <a:xfrm>
            <a:off x="609600" y="34290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34" name="TextBox 34"/>
          <p:cNvSpPr txBox="1"/>
          <p:nvPr/>
        </p:nvSpPr>
        <p:spPr>
          <a:xfrm>
            <a:off x="716661" y="34942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6</a:t>
            </a:r>
          </a:p>
        </p:txBody>
      </p:sp>
      <p:sp>
        <p:nvSpPr>
          <p:cNvPr id="35" name="TextBox 35"/>
          <p:cNvSpPr txBox="1"/>
          <p:nvPr/>
        </p:nvSpPr>
        <p:spPr>
          <a:xfrm>
            <a:off x="1116711" y="3494246"/>
            <a:ext cx="158280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Sources &amp; parsing</a:t>
            </a:r>
          </a:p>
        </p:txBody>
      </p:sp>
      <p:sp>
        <p:nvSpPr>
          <p:cNvPr id="36" name="TextBox 36"/>
          <p:cNvSpPr txBox="1"/>
          <p:nvPr/>
        </p:nvSpPr>
        <p:spPr>
          <a:xfrm>
            <a:off x="5669661" y="3494246"/>
            <a:ext cx="266384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OpenAlex + arXiv, own parsing</a:t>
            </a:r>
          </a:p>
        </p:txBody>
      </p:sp>
      <p:sp>
        <p:nvSpPr>
          <p:cNvPr id="37" name="Line 37"/>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38" name="TextBox 38"/>
          <p:cNvSpPr txBox="1"/>
          <p:nvPr/>
        </p:nvSpPr>
        <p:spPr>
          <a:xfrm>
            <a:off x="716661" y="37990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7</a:t>
            </a:r>
          </a:p>
        </p:txBody>
      </p:sp>
      <p:sp>
        <p:nvSpPr>
          <p:cNvPr id="39" name="TextBox 39"/>
          <p:cNvSpPr txBox="1"/>
          <p:nvPr/>
        </p:nvSpPr>
        <p:spPr>
          <a:xfrm>
            <a:off x="1116711" y="3799046"/>
            <a:ext cx="96580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Scheduling</a:t>
            </a:r>
          </a:p>
        </p:txBody>
      </p:sp>
      <p:sp>
        <p:nvSpPr>
          <p:cNvPr id="40" name="TextBox 40"/>
          <p:cNvSpPr txBox="1"/>
          <p:nvPr/>
        </p:nvSpPr>
        <p:spPr>
          <a:xfrm>
            <a:off x="5669661" y="3799046"/>
            <a:ext cx="114754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APScheduler</a:t>
            </a:r>
          </a:p>
        </p:txBody>
      </p:sp>
      <p:sp>
        <p:nvSpPr>
          <p:cNvPr id="41" name="Line 41"/>
          <p:cNvSpPr/>
          <p:nvPr/>
        </p:nvSpPr>
        <p:spPr>
          <a:xfrm>
            <a:off x="609600" y="40386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42" name="TextBox 42"/>
          <p:cNvSpPr txBox="1"/>
          <p:nvPr/>
        </p:nvSpPr>
        <p:spPr>
          <a:xfrm>
            <a:off x="716661" y="41038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8</a:t>
            </a:r>
          </a:p>
        </p:txBody>
      </p:sp>
      <p:sp>
        <p:nvSpPr>
          <p:cNvPr id="43" name="TextBox 43"/>
          <p:cNvSpPr txBox="1"/>
          <p:nvPr/>
        </p:nvSpPr>
        <p:spPr>
          <a:xfrm>
            <a:off x="1116711" y="4103846"/>
            <a:ext cx="119004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Web backend</a:t>
            </a:r>
          </a:p>
        </p:txBody>
      </p:sp>
      <p:sp>
        <p:nvSpPr>
          <p:cNvPr id="44" name="TextBox 44"/>
          <p:cNvSpPr txBox="1"/>
          <p:nvPr/>
        </p:nvSpPr>
        <p:spPr>
          <a:xfrm>
            <a:off x="5669661" y="4103846"/>
            <a:ext cx="71635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FastAPI</a:t>
            </a:r>
          </a:p>
        </p:txBody>
      </p:sp>
      <p:sp>
        <p:nvSpPr>
          <p:cNvPr id="45" name="Line 45"/>
          <p:cNvSpPr/>
          <p:nvPr/>
        </p:nvSpPr>
        <p:spPr>
          <a:xfrm>
            <a:off x="609600" y="43434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46" name="TextBox 46"/>
          <p:cNvSpPr txBox="1"/>
          <p:nvPr/>
        </p:nvSpPr>
        <p:spPr>
          <a:xfrm>
            <a:off x="716661" y="4408646"/>
            <a:ext cx="1208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9</a:t>
            </a:r>
          </a:p>
        </p:txBody>
      </p:sp>
      <p:sp>
        <p:nvSpPr>
          <p:cNvPr id="47" name="TextBox 47"/>
          <p:cNvSpPr txBox="1"/>
          <p:nvPr/>
        </p:nvSpPr>
        <p:spPr>
          <a:xfrm>
            <a:off x="1116711" y="4408646"/>
            <a:ext cx="78503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Frontend</a:t>
            </a:r>
          </a:p>
        </p:txBody>
      </p:sp>
      <p:sp>
        <p:nvSpPr>
          <p:cNvPr id="48" name="TextBox 48"/>
          <p:cNvSpPr txBox="1"/>
          <p:nvPr/>
        </p:nvSpPr>
        <p:spPr>
          <a:xfrm>
            <a:off x="5669661" y="4408646"/>
            <a:ext cx="194736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Vue3 + Vite + ECharts</a:t>
            </a:r>
          </a:p>
        </p:txBody>
      </p:sp>
      <p:sp>
        <p:nvSpPr>
          <p:cNvPr id="49" name="Line 49"/>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50" name="TextBox 50"/>
          <p:cNvSpPr txBox="1"/>
          <p:nvPr/>
        </p:nvSpPr>
        <p:spPr>
          <a:xfrm>
            <a:off x="716661" y="4713446"/>
            <a:ext cx="22712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10</a:t>
            </a:r>
          </a:p>
        </p:txBody>
      </p:sp>
      <p:sp>
        <p:nvSpPr>
          <p:cNvPr id="51" name="TextBox 51"/>
          <p:cNvSpPr txBox="1"/>
          <p:nvPr/>
        </p:nvSpPr>
        <p:spPr>
          <a:xfrm>
            <a:off x="1116711" y="4713446"/>
            <a:ext cx="91228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Evaluation</a:t>
            </a:r>
          </a:p>
        </p:txBody>
      </p:sp>
      <p:sp>
        <p:nvSpPr>
          <p:cNvPr id="52" name="TextBox 52"/>
          <p:cNvSpPr txBox="1"/>
          <p:nvPr/>
        </p:nvSpPr>
        <p:spPr>
          <a:xfrm>
            <a:off x="5669661" y="4713446"/>
            <a:ext cx="287962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DeepEval + custom event metrics</a:t>
            </a:r>
          </a:p>
        </p:txBody>
      </p:sp>
      <p:sp>
        <p:nvSpPr>
          <p:cNvPr id="53" name="Line 53"/>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54" name="TextBox 54"/>
          <p:cNvSpPr txBox="1"/>
          <p:nvPr/>
        </p:nvSpPr>
        <p:spPr>
          <a:xfrm>
            <a:off x="601599" y="5125879"/>
            <a:ext cx="8817582" cy="308039"/>
          </a:xfrm>
          <a:prstGeom prst="rect">
            <a:avLst/>
          </a:prstGeom>
          <a:noFill/>
          <a:ln>
            <a:noFill/>
          </a:ln>
        </p:spPr>
        <p:txBody>
          <a:bodyPr wrap="none" lIns="0" tIns="0" rIns="0" bIns="0" anchor="t" anchorCtr="0">
            <a:spAutoFit/>
          </a:bodyPr>
          <a:lstStyle/>
          <a:p>
            <a:pPr algn="l"/>
            <a:r>
              <a:rPr lang="en-US" sz="1580" dirty="0">
                <a:solidFill>
                  <a:srgbClr val="0F172A"/>
                </a:solidFill>
                <a:latin typeface="Arial"/>
                <a:ea typeface="Arial"/>
                <a:cs typeface="Arial"/>
              </a:rPr>
              <a:t>Framework-first rows — 1 Orchestration: LangGraph · 2 Gateway: LiteLLM (in-process SDK)</a:t>
            </a:r>
          </a:p>
        </p:txBody>
      </p:sp>
      <p:sp>
        <p:nvSpPr>
          <p:cNvPr id="55" name="TextBox 55"/>
          <p:cNvSpPr txBox="1"/>
          <p:nvPr/>
        </p:nvSpPr>
        <p:spPr>
          <a:xfrm>
            <a:off x="602361" y="5427821"/>
            <a:ext cx="834014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Rows 3–10 — local inference (deferred) · Kuzu · Qdrant (local) · OpenAlex + arXiv · APScheduler</a:t>
            </a:r>
          </a:p>
        </p:txBody>
      </p:sp>
      <p:sp>
        <p:nvSpPr>
          <p:cNvPr id="56" name="TextBox 56"/>
          <p:cNvSpPr txBox="1"/>
          <p:nvPr/>
        </p:nvSpPr>
        <p:spPr>
          <a:xfrm>
            <a:off x="602361" y="5637371"/>
            <a:ext cx="585848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FastAPI · Vue3 + Vite + ECharts · DeepEval + custom event metrics</a:t>
            </a:r>
          </a:p>
        </p:txBody>
      </p:sp>
      <p:sp>
        <p:nvSpPr>
          <p:cNvPr id="57" name="Rectangle 57"/>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58" name="Rectangle 58"/>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59" name="TextBox 59"/>
          <p:cNvSpPr txBox="1"/>
          <p:nvPr/>
        </p:nvSpPr>
        <p:spPr>
          <a:xfrm>
            <a:off x="850011" y="6237446"/>
            <a:ext cx="2984450"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Framework-first where it matters</a:t>
            </a:r>
          </a:p>
        </p:txBody>
      </p:sp>
      <p:sp>
        <p:nvSpPr>
          <p:cNvPr id="60" name="TextBox 60"/>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03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03344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LANGCHAIN VS THIS PROJECT</a:t>
            </a:r>
          </a:p>
        </p:txBody>
      </p:sp>
      <p:sp>
        <p:nvSpPr>
          <p:cNvPr id="4" name="TextBox 4"/>
          <p:cNvSpPr txBox="1"/>
          <p:nvPr/>
        </p:nvSpPr>
        <p:spPr>
          <a:xfrm>
            <a:off x="594360" y="723900"/>
            <a:ext cx="7248046"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Mostly a wrapper layer, not an engine</a:t>
            </a:r>
          </a:p>
        </p:txBody>
      </p:sp>
      <p:sp>
        <p:nvSpPr>
          <p:cNvPr id="5" name="TextBox 5"/>
          <p:cNvSpPr txBox="1"/>
          <p:nvPr/>
        </p:nvSpPr>
        <p:spPr>
          <a:xfrm>
            <a:off x="602361" y="1179671"/>
            <a:ext cx="2853456"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LangChain 各模块 vs 本项目选型</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5943600" y="1638300"/>
            <a:ext cx="3048000" cy="3352800"/>
          </a:xfrm>
          <a:prstGeom prst="rect">
            <a:avLst/>
          </a:prstGeom>
          <a:solidFill>
            <a:srgbClr val="DBEAFE"/>
          </a:solidFill>
          <a:ln>
            <a:noFill/>
          </a:ln>
        </p:spPr>
        <p:txBody>
          <a:bodyPr/>
          <a:lstStyle/>
          <a:p>
            <a:endParaRPr lang="zh-CN" altLang="en-US"/>
          </a:p>
        </p:txBody>
      </p:sp>
      <p:sp>
        <p:nvSpPr>
          <p:cNvPr id="8" name="Rectangle 8"/>
          <p:cNvSpPr/>
          <p:nvPr/>
        </p:nvSpPr>
        <p:spPr>
          <a:xfrm>
            <a:off x="609600" y="1638300"/>
            <a:ext cx="10972800" cy="304800"/>
          </a:xfrm>
          <a:prstGeom prst="rect">
            <a:avLst/>
          </a:prstGeom>
          <a:solidFill>
            <a:srgbClr val="F1F5F9"/>
          </a:solidFill>
          <a:ln>
            <a:noFill/>
          </a:ln>
        </p:spPr>
        <p:txBody>
          <a:bodyPr/>
          <a:lstStyle/>
          <a:p>
            <a:endParaRPr lang="zh-CN" altLang="en-US"/>
          </a:p>
        </p:txBody>
      </p:sp>
      <p:sp>
        <p:nvSpPr>
          <p:cNvPr id="9" name="TextBox 9"/>
          <p:cNvSpPr txBox="1"/>
          <p:nvPr/>
        </p:nvSpPr>
        <p:spPr>
          <a:xfrm>
            <a:off x="735711" y="1694021"/>
            <a:ext cx="689736"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Module</a:t>
            </a:r>
          </a:p>
        </p:txBody>
      </p:sp>
      <p:sp>
        <p:nvSpPr>
          <p:cNvPr id="10" name="TextBox 10"/>
          <p:cNvSpPr txBox="1"/>
          <p:nvPr/>
        </p:nvSpPr>
        <p:spPr>
          <a:xfrm>
            <a:off x="3021711" y="1694021"/>
            <a:ext cx="1428541"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LangChain part</a:t>
            </a:r>
          </a:p>
        </p:txBody>
      </p:sp>
      <p:sp>
        <p:nvSpPr>
          <p:cNvPr id="11" name="TextBox 11"/>
          <p:cNvSpPr txBox="1"/>
          <p:nvPr/>
        </p:nvSpPr>
        <p:spPr>
          <a:xfrm>
            <a:off x="6069711" y="1694021"/>
            <a:ext cx="870044"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What it is</a:t>
            </a:r>
          </a:p>
        </p:txBody>
      </p:sp>
      <p:sp>
        <p:nvSpPr>
          <p:cNvPr id="12" name="TextBox 12"/>
          <p:cNvSpPr txBox="1"/>
          <p:nvPr/>
        </p:nvSpPr>
        <p:spPr>
          <a:xfrm>
            <a:off x="9117711" y="1694021"/>
            <a:ext cx="466960"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Ours</a:t>
            </a:r>
          </a:p>
        </p:txBody>
      </p:sp>
      <p:sp>
        <p:nvSpPr>
          <p:cNvPr id="13" name="Line 13"/>
          <p:cNvSpPr/>
          <p:nvPr/>
        </p:nvSpPr>
        <p:spPr>
          <a:xfrm>
            <a:off x="609600" y="1943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4" name="TextBox 14"/>
          <p:cNvSpPr txBox="1"/>
          <p:nvPr/>
        </p:nvSpPr>
        <p:spPr>
          <a:xfrm>
            <a:off x="735711" y="2075021"/>
            <a:ext cx="1273413"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Orchestration</a:t>
            </a:r>
          </a:p>
        </p:txBody>
      </p:sp>
      <p:sp>
        <p:nvSpPr>
          <p:cNvPr id="15" name="TextBox 15"/>
          <p:cNvSpPr txBox="1"/>
          <p:nvPr/>
        </p:nvSpPr>
        <p:spPr>
          <a:xfrm>
            <a:off x="3021711" y="2075021"/>
            <a:ext cx="238638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LangGraph (its own engine)</a:t>
            </a:r>
          </a:p>
        </p:txBody>
      </p:sp>
      <p:sp>
        <p:nvSpPr>
          <p:cNvPr id="16" name="TextBox 16"/>
          <p:cNvSpPr txBox="1"/>
          <p:nvPr/>
        </p:nvSpPr>
        <p:spPr>
          <a:xfrm>
            <a:off x="6069711" y="2075021"/>
            <a:ext cx="58857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engine</a:t>
            </a:r>
          </a:p>
        </p:txBody>
      </p:sp>
      <p:sp>
        <p:nvSpPr>
          <p:cNvPr id="17" name="TextBox 17"/>
          <p:cNvSpPr txBox="1"/>
          <p:nvPr/>
        </p:nvSpPr>
        <p:spPr>
          <a:xfrm>
            <a:off x="9117711" y="2075021"/>
            <a:ext cx="172726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LangGraph adopted</a:t>
            </a:r>
          </a:p>
        </p:txBody>
      </p:sp>
      <p:sp>
        <p:nvSpPr>
          <p:cNvPr id="18" name="Line 18"/>
          <p:cNvSpPr/>
          <p:nvPr/>
        </p:nvSpPr>
        <p:spPr>
          <a:xfrm>
            <a:off x="609600" y="2324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9" name="TextBox 19"/>
          <p:cNvSpPr txBox="1"/>
          <p:nvPr/>
        </p:nvSpPr>
        <p:spPr>
          <a:xfrm>
            <a:off x="735711" y="2456021"/>
            <a:ext cx="807156"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Gateway</a:t>
            </a:r>
          </a:p>
        </p:txBody>
      </p:sp>
      <p:sp>
        <p:nvSpPr>
          <p:cNvPr id="20" name="TextBox 20"/>
          <p:cNvSpPr txBox="1"/>
          <p:nvPr/>
        </p:nvSpPr>
        <p:spPr>
          <a:xfrm>
            <a:off x="3021711" y="2456021"/>
            <a:ext cx="196947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provider model classes</a:t>
            </a:r>
          </a:p>
        </p:txBody>
      </p:sp>
      <p:sp>
        <p:nvSpPr>
          <p:cNvPr id="21" name="TextBox 21"/>
          <p:cNvSpPr txBox="1"/>
          <p:nvPr/>
        </p:nvSpPr>
        <p:spPr>
          <a:xfrm>
            <a:off x="6069711" y="2456021"/>
            <a:ext cx="181844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vendor-SDK wrapper</a:t>
            </a:r>
          </a:p>
        </p:txBody>
      </p:sp>
      <p:sp>
        <p:nvSpPr>
          <p:cNvPr id="22" name="TextBox 22"/>
          <p:cNvSpPr txBox="1"/>
          <p:nvPr/>
        </p:nvSpPr>
        <p:spPr>
          <a:xfrm>
            <a:off x="9117711" y="2456021"/>
            <a:ext cx="71658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LiteLLM</a:t>
            </a:r>
          </a:p>
        </p:txBody>
      </p:sp>
      <p:sp>
        <p:nvSpPr>
          <p:cNvPr id="23" name="Line 23"/>
          <p:cNvSpPr/>
          <p:nvPr/>
        </p:nvSpPr>
        <p:spPr>
          <a:xfrm>
            <a:off x="609600" y="2705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4" name="TextBox 24"/>
          <p:cNvSpPr txBox="1"/>
          <p:nvPr/>
        </p:nvSpPr>
        <p:spPr>
          <a:xfrm>
            <a:off x="735711" y="2837021"/>
            <a:ext cx="1710401"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Sources &amp; parsing</a:t>
            </a:r>
          </a:p>
        </p:txBody>
      </p:sp>
      <p:sp>
        <p:nvSpPr>
          <p:cNvPr id="25" name="TextBox 25"/>
          <p:cNvSpPr txBox="1"/>
          <p:nvPr/>
        </p:nvSpPr>
        <p:spPr>
          <a:xfrm>
            <a:off x="3021711" y="2837021"/>
            <a:ext cx="161877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community loaders</a:t>
            </a:r>
          </a:p>
        </p:txBody>
      </p:sp>
      <p:sp>
        <p:nvSpPr>
          <p:cNvPr id="26" name="TextBox 26"/>
          <p:cNvSpPr txBox="1"/>
          <p:nvPr/>
        </p:nvSpPr>
        <p:spPr>
          <a:xfrm>
            <a:off x="6069711" y="2837021"/>
            <a:ext cx="248538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pypdf / Unstructured wrapper</a:t>
            </a:r>
          </a:p>
        </p:txBody>
      </p:sp>
      <p:sp>
        <p:nvSpPr>
          <p:cNvPr id="27" name="TextBox 27"/>
          <p:cNvSpPr txBox="1"/>
          <p:nvPr/>
        </p:nvSpPr>
        <p:spPr>
          <a:xfrm>
            <a:off x="9117711" y="2837021"/>
            <a:ext cx="226703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direct clients, own chunker</a:t>
            </a:r>
          </a:p>
        </p:txBody>
      </p:sp>
      <p:sp>
        <p:nvSpPr>
          <p:cNvPr id="28" name="Line 28"/>
          <p:cNvSpPr/>
          <p:nvPr/>
        </p:nvSpPr>
        <p:spPr>
          <a:xfrm>
            <a:off x="609600" y="3086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9" name="TextBox 29"/>
          <p:cNvSpPr txBox="1"/>
          <p:nvPr/>
        </p:nvSpPr>
        <p:spPr>
          <a:xfrm>
            <a:off x="735711" y="3218021"/>
            <a:ext cx="827172"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Retrieval</a:t>
            </a:r>
          </a:p>
        </p:txBody>
      </p:sp>
      <p:sp>
        <p:nvSpPr>
          <p:cNvPr id="30" name="TextBox 30"/>
          <p:cNvSpPr txBox="1"/>
          <p:nvPr/>
        </p:nvSpPr>
        <p:spPr>
          <a:xfrm>
            <a:off x="3021711" y="3218021"/>
            <a:ext cx="81115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retrievers</a:t>
            </a:r>
          </a:p>
        </p:txBody>
      </p:sp>
      <p:sp>
        <p:nvSpPr>
          <p:cNvPr id="31" name="TextBox 31"/>
          <p:cNvSpPr txBox="1"/>
          <p:nvPr/>
        </p:nvSpPr>
        <p:spPr>
          <a:xfrm>
            <a:off x="6069711" y="3218021"/>
            <a:ext cx="130072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hidden pipeline</a:t>
            </a:r>
          </a:p>
        </p:txBody>
      </p:sp>
      <p:sp>
        <p:nvSpPr>
          <p:cNvPr id="32" name="TextBox 32"/>
          <p:cNvSpPr txBox="1"/>
          <p:nvPr/>
        </p:nvSpPr>
        <p:spPr>
          <a:xfrm>
            <a:off x="9117711" y="3218021"/>
            <a:ext cx="172536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filter, dedup, novelty</a:t>
            </a:r>
          </a:p>
        </p:txBody>
      </p:sp>
      <p:sp>
        <p:nvSpPr>
          <p:cNvPr id="33" name="Line 33"/>
          <p:cNvSpPr/>
          <p:nvPr/>
        </p:nvSpPr>
        <p:spPr>
          <a:xfrm>
            <a:off x="609600" y="3467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34" name="TextBox 34"/>
          <p:cNvSpPr txBox="1"/>
          <p:nvPr/>
        </p:nvSpPr>
        <p:spPr>
          <a:xfrm>
            <a:off x="735711" y="3599021"/>
            <a:ext cx="615059"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Stores</a:t>
            </a:r>
          </a:p>
        </p:txBody>
      </p:sp>
      <p:sp>
        <p:nvSpPr>
          <p:cNvPr id="35" name="TextBox 35"/>
          <p:cNvSpPr txBox="1"/>
          <p:nvPr/>
        </p:nvSpPr>
        <p:spPr>
          <a:xfrm>
            <a:off x="3021711" y="3599021"/>
            <a:ext cx="179938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vectorstore wrappers</a:t>
            </a:r>
          </a:p>
        </p:txBody>
      </p:sp>
      <p:sp>
        <p:nvSpPr>
          <p:cNvPr id="36" name="TextBox 36"/>
          <p:cNvSpPr txBox="1"/>
          <p:nvPr/>
        </p:nvSpPr>
        <p:spPr>
          <a:xfrm>
            <a:off x="6069711" y="3599021"/>
            <a:ext cx="155492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trimmed capability</a:t>
            </a:r>
          </a:p>
        </p:txBody>
      </p:sp>
      <p:sp>
        <p:nvSpPr>
          <p:cNvPr id="37" name="TextBox 37"/>
          <p:cNvSpPr txBox="1"/>
          <p:nvPr/>
        </p:nvSpPr>
        <p:spPr>
          <a:xfrm>
            <a:off x="9117711" y="3599021"/>
            <a:ext cx="115130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official clients</a:t>
            </a:r>
          </a:p>
        </p:txBody>
      </p:sp>
      <p:sp>
        <p:nvSpPr>
          <p:cNvPr id="38" name="Line 38"/>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39" name="TextBox 39"/>
          <p:cNvSpPr txBox="1"/>
          <p:nvPr/>
        </p:nvSpPr>
        <p:spPr>
          <a:xfrm>
            <a:off x="735711" y="3980021"/>
            <a:ext cx="1615431"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Memory &amp; agents</a:t>
            </a:r>
          </a:p>
        </p:txBody>
      </p:sp>
      <p:sp>
        <p:nvSpPr>
          <p:cNvPr id="40" name="TextBox 40"/>
          <p:cNvSpPr txBox="1"/>
          <p:nvPr/>
        </p:nvSpPr>
        <p:spPr>
          <a:xfrm>
            <a:off x="3021711" y="3980021"/>
            <a:ext cx="147020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langchain-classic</a:t>
            </a:r>
          </a:p>
        </p:txBody>
      </p:sp>
      <p:sp>
        <p:nvSpPr>
          <p:cNvPr id="41" name="TextBox 41"/>
          <p:cNvSpPr txBox="1"/>
          <p:nvPr/>
        </p:nvSpPr>
        <p:spPr>
          <a:xfrm>
            <a:off x="6069711" y="3980021"/>
            <a:ext cx="167237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legacy, superseded</a:t>
            </a:r>
          </a:p>
        </p:txBody>
      </p:sp>
      <p:sp>
        <p:nvSpPr>
          <p:cNvPr id="42" name="TextBox 42"/>
          <p:cNvSpPr txBox="1"/>
          <p:nvPr/>
        </p:nvSpPr>
        <p:spPr>
          <a:xfrm>
            <a:off x="9117711" y="3980021"/>
            <a:ext cx="204513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LangGraph checkpoints</a:t>
            </a:r>
          </a:p>
        </p:txBody>
      </p:sp>
      <p:sp>
        <p:nvSpPr>
          <p:cNvPr id="43" name="Line 43"/>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44" name="TextBox 44"/>
          <p:cNvSpPr txBox="1"/>
          <p:nvPr/>
        </p:nvSpPr>
        <p:spPr>
          <a:xfrm>
            <a:off x="735711" y="4361021"/>
            <a:ext cx="1868847"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Evaluation &amp; tracing</a:t>
            </a:r>
          </a:p>
        </p:txBody>
      </p:sp>
      <p:sp>
        <p:nvSpPr>
          <p:cNvPr id="45" name="TextBox 45"/>
          <p:cNvSpPr txBox="1"/>
          <p:nvPr/>
        </p:nvSpPr>
        <p:spPr>
          <a:xfrm>
            <a:off x="3021711" y="4361021"/>
            <a:ext cx="93991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LangSmith</a:t>
            </a:r>
          </a:p>
        </p:txBody>
      </p:sp>
      <p:sp>
        <p:nvSpPr>
          <p:cNvPr id="46" name="TextBox 46"/>
          <p:cNvSpPr txBox="1"/>
          <p:nvPr/>
        </p:nvSpPr>
        <p:spPr>
          <a:xfrm>
            <a:off x="6069711" y="4361021"/>
            <a:ext cx="49536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SaaS</a:t>
            </a:r>
          </a:p>
        </p:txBody>
      </p:sp>
      <p:sp>
        <p:nvSpPr>
          <p:cNvPr id="47" name="TextBox 47"/>
          <p:cNvSpPr txBox="1"/>
          <p:nvPr/>
        </p:nvSpPr>
        <p:spPr>
          <a:xfrm>
            <a:off x="9117711" y="4361021"/>
            <a:ext cx="200901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DeepEval + event table</a:t>
            </a:r>
          </a:p>
        </p:txBody>
      </p:sp>
      <p:sp>
        <p:nvSpPr>
          <p:cNvPr id="48" name="Line 48"/>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49" name="TextBox 49"/>
          <p:cNvSpPr txBox="1"/>
          <p:nvPr/>
        </p:nvSpPr>
        <p:spPr>
          <a:xfrm>
            <a:off x="735711" y="4742021"/>
            <a:ext cx="1582688"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Service &amp; tracing</a:t>
            </a:r>
          </a:p>
        </p:txBody>
      </p:sp>
      <p:sp>
        <p:nvSpPr>
          <p:cNvPr id="50" name="TextBox 50"/>
          <p:cNvSpPr txBox="1"/>
          <p:nvPr/>
        </p:nvSpPr>
        <p:spPr>
          <a:xfrm>
            <a:off x="3021711" y="4742021"/>
            <a:ext cx="178894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langserve / callbacks</a:t>
            </a:r>
          </a:p>
        </p:txBody>
      </p:sp>
      <p:sp>
        <p:nvSpPr>
          <p:cNvPr id="51" name="TextBox 51"/>
          <p:cNvSpPr txBox="1"/>
          <p:nvPr/>
        </p:nvSpPr>
        <p:spPr>
          <a:xfrm>
            <a:off x="6069711" y="4742021"/>
            <a:ext cx="119397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route wrapper</a:t>
            </a:r>
          </a:p>
        </p:txBody>
      </p:sp>
      <p:sp>
        <p:nvSpPr>
          <p:cNvPr id="52" name="TextBox 52"/>
          <p:cNvSpPr txBox="1"/>
          <p:nvPr/>
        </p:nvSpPr>
        <p:spPr>
          <a:xfrm>
            <a:off x="9117711" y="4742021"/>
            <a:ext cx="190563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own FastAPI + events</a:t>
            </a:r>
          </a:p>
        </p:txBody>
      </p:sp>
      <p:sp>
        <p:nvSpPr>
          <p:cNvPr id="53" name="Line 53"/>
          <p:cNvSpPr/>
          <p:nvPr/>
        </p:nvSpPr>
        <p:spPr>
          <a:xfrm>
            <a:off x="609600" y="4991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54" name="TextBox 54"/>
          <p:cNvSpPr txBox="1"/>
          <p:nvPr/>
        </p:nvSpPr>
        <p:spPr>
          <a:xfrm>
            <a:off x="602361" y="5142071"/>
            <a:ext cx="10071190"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Why ours fits — full-strength capability (payload filters, local mode, quantisation) · prompts and tool formats stay visible</a:t>
            </a:r>
          </a:p>
        </p:txBody>
      </p:sp>
      <p:sp>
        <p:nvSpPr>
          <p:cNvPr id="55" name="TextBox 55"/>
          <p:cNvSpPr txBox="1"/>
          <p:nvPr/>
        </p:nvSpPr>
        <p:spPr>
          <a:xfrm>
            <a:off x="602361" y="5370671"/>
            <a:ext cx="663409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no version matrix to maintain · every wrapper replaced by the client it wrapped</a:t>
            </a:r>
          </a:p>
        </p:txBody>
      </p:sp>
      <p:sp>
        <p:nvSpPr>
          <p:cNvPr id="56" name="TextBox 56"/>
          <p:cNvSpPr txBox="1"/>
          <p:nvPr/>
        </p:nvSpPr>
        <p:spPr>
          <a:xfrm>
            <a:off x="602361" y="5637371"/>
            <a:ext cx="9517050"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v1 moved chains, AgentExecutor and memory into langchain-classic; LangGraph became the orchestration core</a:t>
            </a:r>
          </a:p>
        </p:txBody>
      </p:sp>
      <p:sp>
        <p:nvSpPr>
          <p:cNvPr id="57" name="Rectangle 57"/>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58" name="Rectangle 58"/>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59" name="TextBox 59"/>
          <p:cNvSpPr txBox="1"/>
          <p:nvPr/>
        </p:nvSpPr>
        <p:spPr>
          <a:xfrm>
            <a:off x="850011" y="6237446"/>
            <a:ext cx="2698431"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Same libraries, one less layer</a:t>
            </a:r>
          </a:p>
        </p:txBody>
      </p:sp>
      <p:sp>
        <p:nvSpPr>
          <p:cNvPr id="60" name="TextBox 60"/>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04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1765046"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ORCHESTRATION</a:t>
            </a:r>
          </a:p>
        </p:txBody>
      </p:sp>
      <p:sp>
        <p:nvSpPr>
          <p:cNvPr id="4" name="TextBox 4"/>
          <p:cNvSpPr txBox="1"/>
          <p:nvPr/>
        </p:nvSpPr>
        <p:spPr>
          <a:xfrm>
            <a:off x="594360" y="723900"/>
            <a:ext cx="6395800"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A state machine, not a chat room</a:t>
            </a:r>
          </a:p>
        </p:txBody>
      </p:sp>
      <p:sp>
        <p:nvSpPr>
          <p:cNvPr id="5" name="TextBox 5"/>
          <p:cNvSpPr txBox="1"/>
          <p:nvPr/>
        </p:nvSpPr>
        <p:spPr>
          <a:xfrm>
            <a:off x="602361" y="1179671"/>
            <a:ext cx="1352601"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编排内核三选一</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2324100" y="1638300"/>
            <a:ext cx="3086100" cy="2438400"/>
          </a:xfrm>
          <a:prstGeom prst="rect">
            <a:avLst/>
          </a:prstGeom>
          <a:solidFill>
            <a:srgbClr val="DBEAFE"/>
          </a:solidFill>
          <a:ln>
            <a:noFill/>
          </a:ln>
        </p:spPr>
        <p:txBody>
          <a:bodyPr/>
          <a:lstStyle/>
          <a:p>
            <a:endParaRPr lang="zh-CN" altLang="en-US"/>
          </a:p>
        </p:txBody>
      </p:sp>
      <p:sp>
        <p:nvSpPr>
          <p:cNvPr id="8" name="Rectangle 8"/>
          <p:cNvSpPr/>
          <p:nvPr/>
        </p:nvSpPr>
        <p:spPr>
          <a:xfrm>
            <a:off x="609600" y="1638300"/>
            <a:ext cx="10972800" cy="304800"/>
          </a:xfrm>
          <a:prstGeom prst="rect">
            <a:avLst/>
          </a:prstGeom>
          <a:solidFill>
            <a:srgbClr val="F1F5F9"/>
          </a:solidFill>
          <a:ln>
            <a:noFill/>
          </a:ln>
        </p:spPr>
        <p:txBody>
          <a:bodyPr/>
          <a:lstStyle/>
          <a:p>
            <a:endParaRPr lang="zh-CN" altLang="en-US"/>
          </a:p>
        </p:txBody>
      </p:sp>
      <p:sp>
        <p:nvSpPr>
          <p:cNvPr id="9" name="TextBox 9"/>
          <p:cNvSpPr txBox="1"/>
          <p:nvPr/>
        </p:nvSpPr>
        <p:spPr>
          <a:xfrm>
            <a:off x="735711" y="1694021"/>
            <a:ext cx="997797"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Dimension</a:t>
            </a:r>
          </a:p>
        </p:txBody>
      </p:sp>
      <p:sp>
        <p:nvSpPr>
          <p:cNvPr id="10" name="TextBox 10"/>
          <p:cNvSpPr txBox="1"/>
          <p:nvPr/>
        </p:nvSpPr>
        <p:spPr>
          <a:xfrm>
            <a:off x="2450211" y="1694021"/>
            <a:ext cx="1046837"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LangGraph</a:t>
            </a:r>
          </a:p>
        </p:txBody>
      </p:sp>
      <p:sp>
        <p:nvSpPr>
          <p:cNvPr id="11" name="TextBox 11"/>
          <p:cNvSpPr txBox="1"/>
          <p:nvPr/>
        </p:nvSpPr>
        <p:spPr>
          <a:xfrm>
            <a:off x="5536311" y="1694021"/>
            <a:ext cx="834532"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AutoGen</a:t>
            </a:r>
          </a:p>
        </p:txBody>
      </p:sp>
      <p:sp>
        <p:nvSpPr>
          <p:cNvPr id="12" name="TextBox 12"/>
          <p:cNvSpPr txBox="1"/>
          <p:nvPr/>
        </p:nvSpPr>
        <p:spPr>
          <a:xfrm>
            <a:off x="8622411" y="1694021"/>
            <a:ext cx="1900409"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OpenAI Agents SDK</a:t>
            </a:r>
          </a:p>
        </p:txBody>
      </p:sp>
      <p:sp>
        <p:nvSpPr>
          <p:cNvPr id="13" name="Line 13"/>
          <p:cNvSpPr/>
          <p:nvPr/>
        </p:nvSpPr>
        <p:spPr>
          <a:xfrm>
            <a:off x="609600" y="1943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4" name="TextBox 14"/>
          <p:cNvSpPr txBox="1"/>
          <p:nvPr/>
        </p:nvSpPr>
        <p:spPr>
          <a:xfrm>
            <a:off x="735711" y="2132171"/>
            <a:ext cx="1135024"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Control flow</a:t>
            </a:r>
          </a:p>
        </p:txBody>
      </p:sp>
      <p:sp>
        <p:nvSpPr>
          <p:cNvPr id="15" name="TextBox 15"/>
          <p:cNvSpPr txBox="1"/>
          <p:nvPr/>
        </p:nvSpPr>
        <p:spPr>
          <a:xfrm>
            <a:off x="2450211" y="2132171"/>
            <a:ext cx="287867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explicit nodes + conditional edges</a:t>
            </a:r>
          </a:p>
        </p:txBody>
      </p:sp>
      <p:sp>
        <p:nvSpPr>
          <p:cNvPr id="16" name="TextBox 16"/>
          <p:cNvSpPr txBox="1"/>
          <p:nvPr/>
        </p:nvSpPr>
        <p:spPr>
          <a:xfrm>
            <a:off x="5536311" y="2132171"/>
            <a:ext cx="219324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decided by dialogue turns</a:t>
            </a:r>
          </a:p>
        </p:txBody>
      </p:sp>
      <p:sp>
        <p:nvSpPr>
          <p:cNvPr id="17" name="TextBox 17"/>
          <p:cNvSpPr txBox="1"/>
          <p:nvPr/>
        </p:nvSpPr>
        <p:spPr>
          <a:xfrm>
            <a:off x="8622411" y="2132171"/>
            <a:ext cx="157667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driven by handoffs</a:t>
            </a:r>
          </a:p>
        </p:txBody>
      </p:sp>
      <p:sp>
        <p:nvSpPr>
          <p:cNvPr id="18" name="Line 18"/>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9" name="TextBox 19"/>
          <p:cNvSpPr txBox="1"/>
          <p:nvPr/>
        </p:nvSpPr>
        <p:spPr>
          <a:xfrm>
            <a:off x="735711" y="2665571"/>
            <a:ext cx="1401472"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Recovery point</a:t>
            </a:r>
          </a:p>
        </p:txBody>
      </p:sp>
      <p:sp>
        <p:nvSpPr>
          <p:cNvPr id="20" name="TextBox 20"/>
          <p:cNvSpPr txBox="1"/>
          <p:nvPr/>
        </p:nvSpPr>
        <p:spPr>
          <a:xfrm>
            <a:off x="2450211" y="2665571"/>
            <a:ext cx="263960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checkpointer at node boundary</a:t>
            </a:r>
          </a:p>
        </p:txBody>
      </p:sp>
      <p:sp>
        <p:nvSpPr>
          <p:cNvPr id="21" name="TextBox 21"/>
          <p:cNvSpPr txBox="1"/>
          <p:nvPr/>
        </p:nvSpPr>
        <p:spPr>
          <a:xfrm>
            <a:off x="5536311" y="2665571"/>
            <a:ext cx="110894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session level</a:t>
            </a:r>
          </a:p>
        </p:txBody>
      </p:sp>
      <p:sp>
        <p:nvSpPr>
          <p:cNvPr id="22" name="TextBox 22"/>
          <p:cNvSpPr txBox="1"/>
          <p:nvPr/>
        </p:nvSpPr>
        <p:spPr>
          <a:xfrm>
            <a:off x="8622411" y="2665571"/>
            <a:ext cx="116205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sessions only</a:t>
            </a:r>
          </a:p>
        </p:txBody>
      </p:sp>
      <p:sp>
        <p:nvSpPr>
          <p:cNvPr id="23" name="Line 23"/>
          <p:cNvSpPr/>
          <p:nvPr/>
        </p:nvSpPr>
        <p:spPr>
          <a:xfrm>
            <a:off x="609600" y="30099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4" name="TextBox 24"/>
          <p:cNvSpPr txBox="1"/>
          <p:nvPr/>
        </p:nvSpPr>
        <p:spPr>
          <a:xfrm>
            <a:off x="735711" y="3198971"/>
            <a:ext cx="1230944"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Observability</a:t>
            </a:r>
          </a:p>
        </p:txBody>
      </p:sp>
      <p:sp>
        <p:nvSpPr>
          <p:cNvPr id="25" name="TextBox 25"/>
          <p:cNvSpPr txBox="1"/>
          <p:nvPr/>
        </p:nvSpPr>
        <p:spPr>
          <a:xfrm>
            <a:off x="2450211" y="3198971"/>
            <a:ext cx="179025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LangSmith (optional)</a:t>
            </a:r>
          </a:p>
        </p:txBody>
      </p:sp>
      <p:sp>
        <p:nvSpPr>
          <p:cNvPr id="26" name="TextBox 26"/>
          <p:cNvSpPr txBox="1"/>
          <p:nvPr/>
        </p:nvSpPr>
        <p:spPr>
          <a:xfrm>
            <a:off x="5536311" y="3198971"/>
            <a:ext cx="1369346"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events + tracing</a:t>
            </a:r>
          </a:p>
        </p:txBody>
      </p:sp>
      <p:sp>
        <p:nvSpPr>
          <p:cNvPr id="27" name="TextBox 27"/>
          <p:cNvSpPr txBox="1"/>
          <p:nvPr/>
        </p:nvSpPr>
        <p:spPr>
          <a:xfrm>
            <a:off x="8622411" y="3198971"/>
            <a:ext cx="154042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reports to OpenAI</a:t>
            </a:r>
          </a:p>
        </p:txBody>
      </p:sp>
      <p:sp>
        <p:nvSpPr>
          <p:cNvPr id="28" name="Line 28"/>
          <p:cNvSpPr/>
          <p:nvPr/>
        </p:nvSpPr>
        <p:spPr>
          <a:xfrm>
            <a:off x="609600" y="35433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9" name="TextBox 29"/>
          <p:cNvSpPr txBox="1"/>
          <p:nvPr/>
        </p:nvSpPr>
        <p:spPr>
          <a:xfrm>
            <a:off x="735711" y="3732371"/>
            <a:ext cx="1592066"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Vendor neutrality</a:t>
            </a:r>
          </a:p>
        </p:txBody>
      </p:sp>
      <p:sp>
        <p:nvSpPr>
          <p:cNvPr id="30" name="TextBox 30"/>
          <p:cNvSpPr txBox="1"/>
          <p:nvPr/>
        </p:nvSpPr>
        <p:spPr>
          <a:xfrm>
            <a:off x="2450211" y="3732371"/>
            <a:ext cx="142810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change base_url</a:t>
            </a:r>
          </a:p>
        </p:txBody>
      </p:sp>
      <p:sp>
        <p:nvSpPr>
          <p:cNvPr id="31" name="TextBox 31"/>
          <p:cNvSpPr txBox="1"/>
          <p:nvPr/>
        </p:nvSpPr>
        <p:spPr>
          <a:xfrm>
            <a:off x="5536311" y="3732371"/>
            <a:ext cx="106628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multi-vendor</a:t>
            </a:r>
          </a:p>
        </p:txBody>
      </p:sp>
      <p:sp>
        <p:nvSpPr>
          <p:cNvPr id="32" name="TextBox 32"/>
          <p:cNvSpPr txBox="1"/>
          <p:nvPr/>
        </p:nvSpPr>
        <p:spPr>
          <a:xfrm>
            <a:off x="8622411" y="3732371"/>
            <a:ext cx="105006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OpenAI-first</a:t>
            </a:r>
          </a:p>
        </p:txBody>
      </p:sp>
      <p:sp>
        <p:nvSpPr>
          <p:cNvPr id="33" name="Line 33"/>
          <p:cNvSpPr/>
          <p:nvPr/>
        </p:nvSpPr>
        <p:spPr>
          <a:xfrm>
            <a:off x="609600" y="40767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34" name="TextBox 34"/>
          <p:cNvSpPr txBox="1"/>
          <p:nvPr/>
        </p:nvSpPr>
        <p:spPr>
          <a:xfrm>
            <a:off x="602361" y="4227671"/>
            <a:ext cx="920046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Built for — product backends embedding LLM flows (chosen) · multi-agent conversation research (AutoGen)</a:t>
            </a:r>
          </a:p>
        </p:txBody>
      </p:sp>
      <p:sp>
        <p:nvSpPr>
          <p:cNvPr id="35" name="TextBox 35"/>
          <p:cNvSpPr txBox="1"/>
          <p:nvPr/>
        </p:nvSpPr>
        <p:spPr>
          <a:xfrm>
            <a:off x="602361" y="4456271"/>
            <a:ext cx="605826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shipping agent apps fast (OpenAI Agents SDK, kept for the Chat page)</a:t>
            </a:r>
          </a:p>
        </p:txBody>
      </p:sp>
      <p:sp>
        <p:nvSpPr>
          <p:cNvPr id="36" name="TextBox 36"/>
          <p:cNvSpPr txBox="1"/>
          <p:nvPr/>
        </p:nvSpPr>
        <p:spPr>
          <a:xfrm>
            <a:off x="602361" y="4761071"/>
            <a:ext cx="7896476"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Why not the others — AutoGen hides control flow in dialogue turns and was rewritten in v0.4;</a:t>
            </a:r>
          </a:p>
        </p:txBody>
      </p:sp>
      <p:sp>
        <p:nvSpPr>
          <p:cNvPr id="37" name="TextBox 37"/>
          <p:cNvSpPr txBox="1"/>
          <p:nvPr/>
        </p:nvSpPr>
        <p:spPr>
          <a:xfrm>
            <a:off x="602361" y="4989671"/>
            <a:ext cx="8148884"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OpenAI Agents SDK is OpenAI-first and its guardrails are input/output checks, not stage guards</a:t>
            </a:r>
          </a:p>
        </p:txBody>
      </p:sp>
      <p:sp>
        <p:nvSpPr>
          <p:cNvPr id="38" name="Rectangle 38"/>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9" name="Rectangle 39"/>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40" name="TextBox 40"/>
          <p:cNvSpPr txBox="1"/>
          <p:nvPr/>
        </p:nvSpPr>
        <p:spPr>
          <a:xfrm>
            <a:off x="850011" y="6237446"/>
            <a:ext cx="1769516"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LangGraph chosen</a:t>
            </a:r>
          </a:p>
        </p:txBody>
      </p:sp>
      <p:sp>
        <p:nvSpPr>
          <p:cNvPr id="41" name="TextBox 41"/>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05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102446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GATEWAY</a:t>
            </a:r>
          </a:p>
        </p:txBody>
      </p:sp>
      <p:sp>
        <p:nvSpPr>
          <p:cNvPr id="4" name="TextBox 4"/>
          <p:cNvSpPr txBox="1"/>
          <p:nvPr/>
        </p:nvSpPr>
        <p:spPr>
          <a:xfrm>
            <a:off x="594360" y="723900"/>
            <a:ext cx="5811387"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A transport layer we can audit</a:t>
            </a:r>
          </a:p>
        </p:txBody>
      </p:sp>
      <p:sp>
        <p:nvSpPr>
          <p:cNvPr id="5" name="TextBox 5"/>
          <p:cNvSpPr txBox="1"/>
          <p:nvPr/>
        </p:nvSpPr>
        <p:spPr>
          <a:xfrm>
            <a:off x="602361" y="1179671"/>
            <a:ext cx="97028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网关三选一</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2324100" y="1638300"/>
            <a:ext cx="3086100" cy="2133600"/>
          </a:xfrm>
          <a:prstGeom prst="rect">
            <a:avLst/>
          </a:prstGeom>
          <a:solidFill>
            <a:srgbClr val="DBEAFE"/>
          </a:solidFill>
          <a:ln>
            <a:noFill/>
          </a:ln>
        </p:spPr>
        <p:txBody>
          <a:bodyPr/>
          <a:lstStyle/>
          <a:p>
            <a:endParaRPr lang="zh-CN" altLang="en-US"/>
          </a:p>
        </p:txBody>
      </p:sp>
      <p:sp>
        <p:nvSpPr>
          <p:cNvPr id="8" name="Rectangle 8"/>
          <p:cNvSpPr/>
          <p:nvPr/>
        </p:nvSpPr>
        <p:spPr>
          <a:xfrm>
            <a:off x="609600" y="1638300"/>
            <a:ext cx="10972800" cy="304800"/>
          </a:xfrm>
          <a:prstGeom prst="rect">
            <a:avLst/>
          </a:prstGeom>
          <a:solidFill>
            <a:srgbClr val="F1F5F9"/>
          </a:solidFill>
          <a:ln>
            <a:noFill/>
          </a:ln>
        </p:spPr>
        <p:txBody>
          <a:bodyPr/>
          <a:lstStyle/>
          <a:p>
            <a:endParaRPr lang="zh-CN" altLang="en-US"/>
          </a:p>
        </p:txBody>
      </p:sp>
      <p:sp>
        <p:nvSpPr>
          <p:cNvPr id="9" name="TextBox 9"/>
          <p:cNvSpPr txBox="1"/>
          <p:nvPr/>
        </p:nvSpPr>
        <p:spPr>
          <a:xfrm>
            <a:off x="735711" y="1694021"/>
            <a:ext cx="997797"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Dimension</a:t>
            </a:r>
          </a:p>
        </p:txBody>
      </p:sp>
      <p:sp>
        <p:nvSpPr>
          <p:cNvPr id="10" name="TextBox 10"/>
          <p:cNvSpPr txBox="1"/>
          <p:nvPr/>
        </p:nvSpPr>
        <p:spPr>
          <a:xfrm>
            <a:off x="2450211" y="1694021"/>
            <a:ext cx="1624309"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LiteLLM (chosen)</a:t>
            </a:r>
          </a:p>
        </p:txBody>
      </p:sp>
      <p:sp>
        <p:nvSpPr>
          <p:cNvPr id="11" name="TextBox 11"/>
          <p:cNvSpPr txBox="1"/>
          <p:nvPr/>
        </p:nvSpPr>
        <p:spPr>
          <a:xfrm>
            <a:off x="5536311" y="1694021"/>
            <a:ext cx="1240812"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Self-built thin</a:t>
            </a:r>
          </a:p>
        </p:txBody>
      </p:sp>
      <p:sp>
        <p:nvSpPr>
          <p:cNvPr id="12" name="TextBox 12"/>
          <p:cNvSpPr txBox="1"/>
          <p:nvPr/>
        </p:nvSpPr>
        <p:spPr>
          <a:xfrm>
            <a:off x="8622411" y="1694021"/>
            <a:ext cx="1131468"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OpenRouter</a:t>
            </a:r>
          </a:p>
        </p:txBody>
      </p:sp>
      <p:sp>
        <p:nvSpPr>
          <p:cNvPr id="13" name="Line 13"/>
          <p:cNvSpPr/>
          <p:nvPr/>
        </p:nvSpPr>
        <p:spPr>
          <a:xfrm>
            <a:off x="609600" y="19431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4" name="TextBox 14"/>
          <p:cNvSpPr txBox="1"/>
          <p:nvPr/>
        </p:nvSpPr>
        <p:spPr>
          <a:xfrm>
            <a:off x="735711" y="2170271"/>
            <a:ext cx="816361"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Interface</a:t>
            </a:r>
          </a:p>
        </p:txBody>
      </p:sp>
      <p:sp>
        <p:nvSpPr>
          <p:cNvPr id="15" name="TextBox 15"/>
          <p:cNvSpPr txBox="1"/>
          <p:nvPr/>
        </p:nvSpPr>
        <p:spPr>
          <a:xfrm>
            <a:off x="2450211" y="2170271"/>
            <a:ext cx="227758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in-process, no new service</a:t>
            </a:r>
          </a:p>
        </p:txBody>
      </p:sp>
      <p:sp>
        <p:nvSpPr>
          <p:cNvPr id="16" name="TextBox 16"/>
          <p:cNvSpPr txBox="1"/>
          <p:nvPr/>
        </p:nvSpPr>
        <p:spPr>
          <a:xfrm>
            <a:off x="5536311" y="2170271"/>
            <a:ext cx="1295176"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own ~300 lines</a:t>
            </a:r>
          </a:p>
        </p:txBody>
      </p:sp>
      <p:sp>
        <p:nvSpPr>
          <p:cNvPr id="17" name="TextBox 17"/>
          <p:cNvSpPr txBox="1"/>
          <p:nvPr/>
        </p:nvSpPr>
        <p:spPr>
          <a:xfrm>
            <a:off x="8622411" y="2170271"/>
            <a:ext cx="1247080"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third-party hop</a:t>
            </a:r>
          </a:p>
        </p:txBody>
      </p:sp>
      <p:sp>
        <p:nvSpPr>
          <p:cNvPr id="18" name="Line 18"/>
          <p:cNvSpPr/>
          <p:nvPr/>
        </p:nvSpPr>
        <p:spPr>
          <a:xfrm>
            <a:off x="609600" y="25527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19" name="TextBox 19"/>
          <p:cNvSpPr txBox="1"/>
          <p:nvPr/>
        </p:nvSpPr>
        <p:spPr>
          <a:xfrm>
            <a:off x="735711" y="2779871"/>
            <a:ext cx="1507796"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Retries and cost</a:t>
            </a:r>
          </a:p>
        </p:txBody>
      </p:sp>
      <p:sp>
        <p:nvSpPr>
          <p:cNvPr id="20" name="TextBox 20"/>
          <p:cNvSpPr txBox="1"/>
          <p:nvPr/>
        </p:nvSpPr>
        <p:spPr>
          <a:xfrm>
            <a:off x="2450211" y="2779871"/>
            <a:ext cx="243227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cost table + health cooldown</a:t>
            </a:r>
          </a:p>
        </p:txBody>
      </p:sp>
      <p:sp>
        <p:nvSpPr>
          <p:cNvPr id="21" name="TextBox 21"/>
          <p:cNvSpPr txBox="1"/>
          <p:nvPr/>
        </p:nvSpPr>
        <p:spPr>
          <a:xfrm>
            <a:off x="5536311" y="2779871"/>
            <a:ext cx="131085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self-maintained</a:t>
            </a:r>
          </a:p>
        </p:txBody>
      </p:sp>
      <p:sp>
        <p:nvSpPr>
          <p:cNvPr id="22" name="TextBox 22"/>
          <p:cNvSpPr txBox="1"/>
          <p:nvPr/>
        </p:nvSpPr>
        <p:spPr>
          <a:xfrm>
            <a:off x="8622411" y="2779871"/>
            <a:ext cx="125793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hidden failover</a:t>
            </a:r>
          </a:p>
        </p:txBody>
      </p:sp>
      <p:sp>
        <p:nvSpPr>
          <p:cNvPr id="23" name="Line 23"/>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4" name="TextBox 24"/>
          <p:cNvSpPr txBox="1"/>
          <p:nvPr/>
        </p:nvSpPr>
        <p:spPr>
          <a:xfrm>
            <a:off x="735711" y="3389471"/>
            <a:ext cx="710494"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Fit here</a:t>
            </a:r>
          </a:p>
        </p:txBody>
      </p:sp>
      <p:sp>
        <p:nvSpPr>
          <p:cNvPr id="25" name="TextBox 25"/>
          <p:cNvSpPr txBox="1"/>
          <p:nvPr/>
        </p:nvSpPr>
        <p:spPr>
          <a:xfrm>
            <a:off x="2450211" y="3389471"/>
            <a:ext cx="241614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one protocol implementation</a:t>
            </a:r>
          </a:p>
        </p:txBody>
      </p:sp>
      <p:sp>
        <p:nvSpPr>
          <p:cNvPr id="26" name="TextBox 26"/>
          <p:cNvSpPr txBox="1"/>
          <p:nvPr/>
        </p:nvSpPr>
        <p:spPr>
          <a:xfrm>
            <a:off x="5536311" y="3389471"/>
            <a:ext cx="192638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framework-first conflict</a:t>
            </a:r>
          </a:p>
        </p:txBody>
      </p:sp>
      <p:sp>
        <p:nvSpPr>
          <p:cNvPr id="27" name="TextBox 27"/>
          <p:cNvSpPr txBox="1"/>
          <p:nvPr/>
        </p:nvSpPr>
        <p:spPr>
          <a:xfrm>
            <a:off x="8622411" y="3389471"/>
            <a:ext cx="224654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data hop, no local engines</a:t>
            </a:r>
          </a:p>
        </p:txBody>
      </p:sp>
      <p:sp>
        <p:nvSpPr>
          <p:cNvPr id="28" name="Line 28"/>
          <p:cNvSpPr/>
          <p:nvPr/>
        </p:nvSpPr>
        <p:spPr>
          <a:xfrm>
            <a:off x="609600" y="377190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29" name="TextBox 29"/>
          <p:cNvSpPr txBox="1"/>
          <p:nvPr/>
        </p:nvSpPr>
        <p:spPr>
          <a:xfrm>
            <a:off x="602361" y="3941921"/>
            <a:ext cx="749095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Our thin layer on top — content-addressed cache · truncation detection · budget breaker</a:t>
            </a:r>
          </a:p>
        </p:txBody>
      </p:sp>
      <p:sp>
        <p:nvSpPr>
          <p:cNvPr id="30" name="TextBox 30"/>
          <p:cNvSpPr txBox="1"/>
          <p:nvPr/>
        </p:nvSpPr>
        <p:spPr>
          <a:xfrm>
            <a:off x="602361" y="4170521"/>
            <a:ext cx="526328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every call written as an event (tokens, cost, latency, cache hit)</a:t>
            </a:r>
          </a:p>
        </p:txBody>
      </p:sp>
      <p:sp>
        <p:nvSpPr>
          <p:cNvPr id="31" name="TextBox 31"/>
          <p:cNvSpPr txBox="1"/>
          <p:nvPr/>
        </p:nvSpPr>
        <p:spPr>
          <a:xfrm>
            <a:off x="602361" y="4494371"/>
            <a:ext cx="724658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Why not self-built (~300 lines) — 100+ provider adapters, price tables and retry policy</a:t>
            </a:r>
          </a:p>
        </p:txBody>
      </p:sp>
      <p:sp>
        <p:nvSpPr>
          <p:cNvPr id="32" name="TextBox 32"/>
          <p:cNvSpPr txBox="1"/>
          <p:nvPr/>
        </p:nvSpPr>
        <p:spPr>
          <a:xfrm>
            <a:off x="602361" y="4722971"/>
            <a:ext cx="361712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would all become our maintenance burden</a:t>
            </a:r>
          </a:p>
        </p:txBody>
      </p:sp>
      <p:sp>
        <p:nvSpPr>
          <p:cNvPr id="33" name="TextBox 33"/>
          <p:cNvSpPr txBox="1"/>
          <p:nvPr/>
        </p:nvSpPr>
        <p:spPr>
          <a:xfrm>
            <a:off x="602361" y="5046821"/>
            <a:ext cx="861252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OpenRouter in one line — hosted aggregator: one key, many models, auto-failover, data-policy filters;</a:t>
            </a:r>
          </a:p>
        </p:txBody>
      </p:sp>
      <p:sp>
        <p:nvSpPr>
          <p:cNvPr id="34" name="TextBox 34"/>
          <p:cNvSpPr txBox="1"/>
          <p:nvPr/>
        </p:nvSpPr>
        <p:spPr>
          <a:xfrm>
            <a:off x="602361" y="5275421"/>
            <a:ext cx="8548452"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not here because of the data hop, no local engines and hidden failures; kept for model benchmarking</a:t>
            </a:r>
          </a:p>
        </p:txBody>
      </p:sp>
      <p:sp>
        <p:nvSpPr>
          <p:cNvPr id="35" name="Rectangle 35"/>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6" name="Rectangle 36"/>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7" name="TextBox 37"/>
          <p:cNvSpPr txBox="1"/>
          <p:nvPr/>
        </p:nvSpPr>
        <p:spPr>
          <a:xfrm>
            <a:off x="850011" y="6237446"/>
            <a:ext cx="2568399"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LiteLLM chosen, in-process</a:t>
            </a:r>
          </a:p>
        </p:txBody>
      </p:sp>
      <p:sp>
        <p:nvSpPr>
          <p:cNvPr id="38" name="TextBox 38"/>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9" name="TextBox 39"/>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06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2135600"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WEEKLY-RUN GRAPH</a:t>
            </a:r>
          </a:p>
        </p:txBody>
      </p:sp>
      <p:sp>
        <p:nvSpPr>
          <p:cNvPr id="4" name="TextBox 4"/>
          <p:cNvSpPr txBox="1"/>
          <p:nvPr/>
        </p:nvSpPr>
        <p:spPr>
          <a:xfrm>
            <a:off x="594360" y="723900"/>
            <a:ext cx="6440406"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Ten nodes, guards between them</a:t>
            </a:r>
          </a:p>
        </p:txBody>
      </p:sp>
      <p:sp>
        <p:nvSpPr>
          <p:cNvPr id="5" name="TextBox 5"/>
          <p:cNvSpPr txBox="1"/>
          <p:nvPr/>
        </p:nvSpPr>
        <p:spPr>
          <a:xfrm>
            <a:off x="602361" y="1179671"/>
            <a:ext cx="2117242"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周更状态图：节点与守卫</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7145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8" name="TextBox 8"/>
          <p:cNvSpPr txBox="1"/>
          <p:nvPr/>
        </p:nvSpPr>
        <p:spPr>
          <a:xfrm>
            <a:off x="864282" y="1865471"/>
            <a:ext cx="1509935"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S0 scope_check</a:t>
            </a:r>
          </a:p>
        </p:txBody>
      </p:sp>
      <p:sp>
        <p:nvSpPr>
          <p:cNvPr id="9" name="TextBox 9"/>
          <p:cNvSpPr txBox="1"/>
          <p:nvPr/>
        </p:nvSpPr>
        <p:spPr>
          <a:xfrm>
            <a:off x="1000929" y="2113121"/>
            <a:ext cx="1236643"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validate scope</a:t>
            </a:r>
          </a:p>
        </p:txBody>
      </p:sp>
      <p:sp>
        <p:nvSpPr>
          <p:cNvPr id="10" name="Rectangle 10"/>
          <p:cNvSpPr/>
          <p:nvPr/>
        </p:nvSpPr>
        <p:spPr>
          <a:xfrm>
            <a:off x="2819400" y="17145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11" name="TextBox 11"/>
          <p:cNvSpPr txBox="1"/>
          <p:nvPr/>
        </p:nvSpPr>
        <p:spPr>
          <a:xfrm>
            <a:off x="3478022" y="1865471"/>
            <a:ext cx="702056"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S1 plan</a:t>
            </a:r>
          </a:p>
        </p:txBody>
      </p:sp>
      <p:sp>
        <p:nvSpPr>
          <p:cNvPr id="12" name="TextBox 12"/>
          <p:cNvSpPr txBox="1"/>
          <p:nvPr/>
        </p:nvSpPr>
        <p:spPr>
          <a:xfrm>
            <a:off x="3444613" y="2113121"/>
            <a:ext cx="768873"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subtasks</a:t>
            </a:r>
          </a:p>
        </p:txBody>
      </p:sp>
      <p:sp>
        <p:nvSpPr>
          <p:cNvPr id="13" name="Rectangle 13"/>
          <p:cNvSpPr/>
          <p:nvPr/>
        </p:nvSpPr>
        <p:spPr>
          <a:xfrm>
            <a:off x="5029200" y="17145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14" name="TextBox 14"/>
          <p:cNvSpPr txBox="1"/>
          <p:nvPr/>
        </p:nvSpPr>
        <p:spPr>
          <a:xfrm>
            <a:off x="5539643" y="1865471"/>
            <a:ext cx="998413"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S2 retrieve</a:t>
            </a:r>
          </a:p>
        </p:txBody>
      </p:sp>
      <p:sp>
        <p:nvSpPr>
          <p:cNvPr id="15" name="TextBox 15"/>
          <p:cNvSpPr txBox="1"/>
          <p:nvPr/>
        </p:nvSpPr>
        <p:spPr>
          <a:xfrm>
            <a:off x="5388700" y="2113121"/>
            <a:ext cx="1300299"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evidence cards</a:t>
            </a:r>
          </a:p>
        </p:txBody>
      </p:sp>
      <p:sp>
        <p:nvSpPr>
          <p:cNvPr id="16" name="Rectangle 16"/>
          <p:cNvSpPr/>
          <p:nvPr/>
        </p:nvSpPr>
        <p:spPr>
          <a:xfrm>
            <a:off x="7239000" y="17145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17" name="TextBox 17"/>
          <p:cNvSpPr txBox="1"/>
          <p:nvPr/>
        </p:nvSpPr>
        <p:spPr>
          <a:xfrm>
            <a:off x="7504795" y="1865471"/>
            <a:ext cx="1487710"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S3 ingest_parse</a:t>
            </a:r>
          </a:p>
        </p:txBody>
      </p:sp>
      <p:sp>
        <p:nvSpPr>
          <p:cNvPr id="18" name="TextBox 18"/>
          <p:cNvSpPr txBox="1"/>
          <p:nvPr/>
        </p:nvSpPr>
        <p:spPr>
          <a:xfrm>
            <a:off x="7638319" y="2113121"/>
            <a:ext cx="1220662"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parse + chunk</a:t>
            </a:r>
          </a:p>
        </p:txBody>
      </p:sp>
      <p:sp>
        <p:nvSpPr>
          <p:cNvPr id="19" name="Rectangle 19"/>
          <p:cNvSpPr/>
          <p:nvPr/>
        </p:nvSpPr>
        <p:spPr>
          <a:xfrm>
            <a:off x="9448800" y="1714500"/>
            <a:ext cx="2019300" cy="723900"/>
          </a:xfrm>
          <a:prstGeom prst="roundRect">
            <a:avLst>
              <a:gd name="adj" fmla="val 5263"/>
            </a:avLst>
          </a:prstGeom>
          <a:solidFill>
            <a:srgbClr val="DBEAFE"/>
          </a:solidFill>
          <a:ln w="9525">
            <a:solidFill>
              <a:srgbClr val="2563EB"/>
            </a:solidFill>
          </a:ln>
        </p:spPr>
        <p:txBody>
          <a:bodyPr/>
          <a:lstStyle/>
          <a:p>
            <a:endParaRPr lang="zh-CN" altLang="en-US"/>
          </a:p>
        </p:txBody>
      </p:sp>
      <p:sp>
        <p:nvSpPr>
          <p:cNvPr id="20" name="TextBox 20"/>
          <p:cNvSpPr txBox="1"/>
          <p:nvPr/>
        </p:nvSpPr>
        <p:spPr>
          <a:xfrm>
            <a:off x="9740760" y="1865471"/>
            <a:ext cx="1435380"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S4 map_update</a:t>
            </a:r>
          </a:p>
        </p:txBody>
      </p:sp>
      <p:sp>
        <p:nvSpPr>
          <p:cNvPr id="21" name="TextBox 21"/>
          <p:cNvSpPr txBox="1"/>
          <p:nvPr/>
        </p:nvSpPr>
        <p:spPr>
          <a:xfrm>
            <a:off x="9702130" y="2113121"/>
            <a:ext cx="1512640"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idempotent writes</a:t>
            </a:r>
          </a:p>
        </p:txBody>
      </p:sp>
      <p:sp>
        <p:nvSpPr>
          <p:cNvPr id="22" name="Line 22"/>
          <p:cNvSpPr/>
          <p:nvPr/>
        </p:nvSpPr>
        <p:spPr>
          <a:xfrm>
            <a:off x="2647950" y="2076450"/>
            <a:ext cx="114300" cy="9525"/>
          </a:xfrm>
          <a:custGeom>
            <a:avLst/>
            <a:gdLst/>
            <a:ahLst/>
            <a:cxnLst/>
            <a:rect l="l" t="t" r="r" b="b"/>
            <a:pathLst>
              <a:path w="114300" h="9525">
                <a:moveTo>
                  <a:pt x="0" y="0"/>
                </a:moveTo>
                <a:lnTo>
                  <a:pt x="114300" y="0"/>
                </a:lnTo>
              </a:path>
            </a:pathLst>
          </a:custGeom>
          <a:noFill/>
          <a:ln w="14288">
            <a:solidFill>
              <a:srgbClr val="94A3B8"/>
            </a:solidFill>
          </a:ln>
        </p:spPr>
        <p:txBody>
          <a:bodyPr/>
          <a:lstStyle/>
          <a:p>
            <a:endParaRPr lang="zh-CN" altLang="en-US"/>
          </a:p>
        </p:txBody>
      </p:sp>
      <p:sp>
        <p:nvSpPr>
          <p:cNvPr id="23" name="Line 23"/>
          <p:cNvSpPr/>
          <p:nvPr/>
        </p:nvSpPr>
        <p:spPr>
          <a:xfrm>
            <a:off x="4857750" y="2076450"/>
            <a:ext cx="114300" cy="9525"/>
          </a:xfrm>
          <a:custGeom>
            <a:avLst/>
            <a:gdLst/>
            <a:ahLst/>
            <a:cxnLst/>
            <a:rect l="l" t="t" r="r" b="b"/>
            <a:pathLst>
              <a:path w="114300" h="9525">
                <a:moveTo>
                  <a:pt x="0" y="0"/>
                </a:moveTo>
                <a:lnTo>
                  <a:pt x="114300" y="0"/>
                </a:lnTo>
              </a:path>
            </a:pathLst>
          </a:custGeom>
          <a:noFill/>
          <a:ln w="14288">
            <a:solidFill>
              <a:srgbClr val="94A3B8"/>
            </a:solidFill>
          </a:ln>
        </p:spPr>
        <p:txBody>
          <a:bodyPr/>
          <a:lstStyle/>
          <a:p>
            <a:endParaRPr lang="zh-CN" altLang="en-US"/>
          </a:p>
        </p:txBody>
      </p:sp>
      <p:sp>
        <p:nvSpPr>
          <p:cNvPr id="24" name="Line 24"/>
          <p:cNvSpPr/>
          <p:nvPr/>
        </p:nvSpPr>
        <p:spPr>
          <a:xfrm>
            <a:off x="7067550" y="2076450"/>
            <a:ext cx="114300" cy="9525"/>
          </a:xfrm>
          <a:custGeom>
            <a:avLst/>
            <a:gdLst/>
            <a:ahLst/>
            <a:cxnLst/>
            <a:rect l="l" t="t" r="r" b="b"/>
            <a:pathLst>
              <a:path w="114300" h="9525">
                <a:moveTo>
                  <a:pt x="0" y="0"/>
                </a:moveTo>
                <a:lnTo>
                  <a:pt x="114300" y="0"/>
                </a:lnTo>
              </a:path>
            </a:pathLst>
          </a:custGeom>
          <a:noFill/>
          <a:ln w="14288">
            <a:solidFill>
              <a:srgbClr val="94A3B8"/>
            </a:solidFill>
          </a:ln>
        </p:spPr>
        <p:txBody>
          <a:bodyPr/>
          <a:lstStyle/>
          <a:p>
            <a:endParaRPr lang="zh-CN" altLang="en-US"/>
          </a:p>
        </p:txBody>
      </p:sp>
      <p:sp>
        <p:nvSpPr>
          <p:cNvPr id="25" name="Line 25"/>
          <p:cNvSpPr/>
          <p:nvPr/>
        </p:nvSpPr>
        <p:spPr>
          <a:xfrm>
            <a:off x="9277350" y="2076450"/>
            <a:ext cx="114300" cy="9525"/>
          </a:xfrm>
          <a:custGeom>
            <a:avLst/>
            <a:gdLst/>
            <a:ahLst/>
            <a:cxnLst/>
            <a:rect l="l" t="t" r="r" b="b"/>
            <a:pathLst>
              <a:path w="114300" h="9525">
                <a:moveTo>
                  <a:pt x="0" y="0"/>
                </a:moveTo>
                <a:lnTo>
                  <a:pt x="114300" y="0"/>
                </a:lnTo>
              </a:path>
            </a:pathLst>
          </a:custGeom>
          <a:noFill/>
          <a:ln w="14288">
            <a:solidFill>
              <a:srgbClr val="94A3B8"/>
            </a:solidFill>
          </a:ln>
        </p:spPr>
        <p:txBody>
          <a:bodyPr/>
          <a:lstStyle/>
          <a:p>
            <a:endParaRPr lang="zh-CN" altLang="en-US"/>
          </a:p>
        </p:txBody>
      </p:sp>
      <p:sp>
        <p:nvSpPr>
          <p:cNvPr id="26" name="Freeform 26"/>
          <p:cNvSpPr/>
          <p:nvPr/>
        </p:nvSpPr>
        <p:spPr>
          <a:xfrm>
            <a:off x="1485900" y="2743200"/>
            <a:ext cx="266700" cy="266700"/>
          </a:xfrm>
          <a:custGeom>
            <a:avLst/>
            <a:gdLst/>
            <a:ahLst/>
            <a:cxnLst/>
            <a:rect l="l" t="t" r="r" b="b"/>
            <a:pathLst>
              <a:path w="266700" h="266700">
                <a:moveTo>
                  <a:pt x="133350" y="0"/>
                </a:moveTo>
                <a:lnTo>
                  <a:pt x="266700" y="133350"/>
                </a:lnTo>
                <a:lnTo>
                  <a:pt x="133350" y="266700"/>
                </a:lnTo>
                <a:lnTo>
                  <a:pt x="0" y="133350"/>
                </a:lnTo>
                <a:close/>
              </a:path>
            </a:pathLst>
          </a:custGeom>
          <a:solidFill>
            <a:srgbClr val="DBEAFE"/>
          </a:solidFill>
          <a:ln w="9525">
            <a:solidFill>
              <a:srgbClr val="2563EB"/>
            </a:solidFill>
          </a:ln>
        </p:spPr>
        <p:txBody>
          <a:bodyPr/>
          <a:lstStyle/>
          <a:p>
            <a:endParaRPr lang="zh-CN" altLang="en-US"/>
          </a:p>
        </p:txBody>
      </p:sp>
      <p:sp>
        <p:nvSpPr>
          <p:cNvPr id="27" name="Freeform 27"/>
          <p:cNvSpPr/>
          <p:nvPr/>
        </p:nvSpPr>
        <p:spPr>
          <a:xfrm>
            <a:off x="3695700" y="2743200"/>
            <a:ext cx="266700" cy="266700"/>
          </a:xfrm>
          <a:custGeom>
            <a:avLst/>
            <a:gdLst/>
            <a:ahLst/>
            <a:cxnLst/>
            <a:rect l="l" t="t" r="r" b="b"/>
            <a:pathLst>
              <a:path w="266700" h="266700">
                <a:moveTo>
                  <a:pt x="133350" y="0"/>
                </a:moveTo>
                <a:lnTo>
                  <a:pt x="266700" y="133350"/>
                </a:lnTo>
                <a:lnTo>
                  <a:pt x="133350" y="266700"/>
                </a:lnTo>
                <a:lnTo>
                  <a:pt x="0" y="133350"/>
                </a:lnTo>
                <a:close/>
              </a:path>
            </a:pathLst>
          </a:custGeom>
          <a:solidFill>
            <a:srgbClr val="DBEAFE"/>
          </a:solidFill>
          <a:ln w="9525">
            <a:solidFill>
              <a:srgbClr val="2563EB"/>
            </a:solidFill>
          </a:ln>
        </p:spPr>
        <p:txBody>
          <a:bodyPr/>
          <a:lstStyle/>
          <a:p>
            <a:endParaRPr lang="zh-CN" altLang="en-US"/>
          </a:p>
        </p:txBody>
      </p:sp>
      <p:sp>
        <p:nvSpPr>
          <p:cNvPr id="28" name="Freeform 28"/>
          <p:cNvSpPr/>
          <p:nvPr/>
        </p:nvSpPr>
        <p:spPr>
          <a:xfrm>
            <a:off x="5905500" y="2743200"/>
            <a:ext cx="266700" cy="266700"/>
          </a:xfrm>
          <a:custGeom>
            <a:avLst/>
            <a:gdLst/>
            <a:ahLst/>
            <a:cxnLst/>
            <a:rect l="l" t="t" r="r" b="b"/>
            <a:pathLst>
              <a:path w="266700" h="266700">
                <a:moveTo>
                  <a:pt x="133350" y="0"/>
                </a:moveTo>
                <a:lnTo>
                  <a:pt x="266700" y="133350"/>
                </a:lnTo>
                <a:lnTo>
                  <a:pt x="133350" y="266700"/>
                </a:lnTo>
                <a:lnTo>
                  <a:pt x="0" y="133350"/>
                </a:lnTo>
                <a:close/>
              </a:path>
            </a:pathLst>
          </a:custGeom>
          <a:solidFill>
            <a:srgbClr val="DBEAFE"/>
          </a:solidFill>
          <a:ln w="9525">
            <a:solidFill>
              <a:srgbClr val="2563EB"/>
            </a:solidFill>
          </a:ln>
        </p:spPr>
        <p:txBody>
          <a:bodyPr/>
          <a:lstStyle/>
          <a:p>
            <a:endParaRPr lang="zh-CN" altLang="en-US"/>
          </a:p>
        </p:txBody>
      </p:sp>
      <p:sp>
        <p:nvSpPr>
          <p:cNvPr id="29" name="Freeform 29"/>
          <p:cNvSpPr/>
          <p:nvPr/>
        </p:nvSpPr>
        <p:spPr>
          <a:xfrm>
            <a:off x="8115300" y="2743200"/>
            <a:ext cx="266700" cy="266700"/>
          </a:xfrm>
          <a:custGeom>
            <a:avLst/>
            <a:gdLst/>
            <a:ahLst/>
            <a:cxnLst/>
            <a:rect l="l" t="t" r="r" b="b"/>
            <a:pathLst>
              <a:path w="266700" h="266700">
                <a:moveTo>
                  <a:pt x="133350" y="0"/>
                </a:moveTo>
                <a:lnTo>
                  <a:pt x="266700" y="133350"/>
                </a:lnTo>
                <a:lnTo>
                  <a:pt x="133350" y="266700"/>
                </a:lnTo>
                <a:lnTo>
                  <a:pt x="0" y="133350"/>
                </a:lnTo>
                <a:close/>
              </a:path>
            </a:pathLst>
          </a:custGeom>
          <a:solidFill>
            <a:srgbClr val="DBEAFE"/>
          </a:solidFill>
          <a:ln w="9525">
            <a:solidFill>
              <a:srgbClr val="2563EB"/>
            </a:solidFill>
          </a:ln>
        </p:spPr>
        <p:txBody>
          <a:bodyPr/>
          <a:lstStyle/>
          <a:p>
            <a:endParaRPr lang="zh-CN" altLang="en-US"/>
          </a:p>
        </p:txBody>
      </p:sp>
      <p:sp>
        <p:nvSpPr>
          <p:cNvPr id="30" name="Freeform 30"/>
          <p:cNvSpPr/>
          <p:nvPr/>
        </p:nvSpPr>
        <p:spPr>
          <a:xfrm>
            <a:off x="10325100" y="2743200"/>
            <a:ext cx="266700" cy="266700"/>
          </a:xfrm>
          <a:custGeom>
            <a:avLst/>
            <a:gdLst/>
            <a:ahLst/>
            <a:cxnLst/>
            <a:rect l="l" t="t" r="r" b="b"/>
            <a:pathLst>
              <a:path w="266700" h="266700">
                <a:moveTo>
                  <a:pt x="133350" y="0"/>
                </a:moveTo>
                <a:lnTo>
                  <a:pt x="266700" y="133350"/>
                </a:lnTo>
                <a:lnTo>
                  <a:pt x="133350" y="266700"/>
                </a:lnTo>
                <a:lnTo>
                  <a:pt x="0" y="133350"/>
                </a:lnTo>
                <a:close/>
              </a:path>
            </a:pathLst>
          </a:custGeom>
          <a:solidFill>
            <a:srgbClr val="DBEAFE"/>
          </a:solidFill>
          <a:ln w="9525">
            <a:solidFill>
              <a:srgbClr val="2563EB"/>
            </a:solidFill>
          </a:ln>
        </p:spPr>
        <p:txBody>
          <a:bodyPr/>
          <a:lstStyle/>
          <a:p>
            <a:endParaRPr lang="zh-CN" altLang="en-US"/>
          </a:p>
        </p:txBody>
      </p:sp>
      <p:sp>
        <p:nvSpPr>
          <p:cNvPr id="31" name="TextBox 31"/>
          <p:cNvSpPr txBox="1"/>
          <p:nvPr/>
        </p:nvSpPr>
        <p:spPr>
          <a:xfrm>
            <a:off x="1295666" y="3084671"/>
            <a:ext cx="647168"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G1 drift</a:t>
            </a:r>
          </a:p>
        </p:txBody>
      </p:sp>
      <p:sp>
        <p:nvSpPr>
          <p:cNvPr id="32" name="TextBox 32"/>
          <p:cNvSpPr txBox="1"/>
          <p:nvPr/>
        </p:nvSpPr>
        <p:spPr>
          <a:xfrm>
            <a:off x="3408830" y="3084671"/>
            <a:ext cx="840440"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G2 scope</a:t>
            </a:r>
          </a:p>
        </p:txBody>
      </p:sp>
      <p:sp>
        <p:nvSpPr>
          <p:cNvPr id="33" name="TextBox 33"/>
          <p:cNvSpPr txBox="1"/>
          <p:nvPr/>
        </p:nvSpPr>
        <p:spPr>
          <a:xfrm>
            <a:off x="5533552" y="3084671"/>
            <a:ext cx="1010595"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G4/G5 loop</a:t>
            </a:r>
          </a:p>
        </p:txBody>
      </p:sp>
      <p:sp>
        <p:nvSpPr>
          <p:cNvPr id="34" name="TextBox 34"/>
          <p:cNvSpPr txBox="1"/>
          <p:nvPr/>
        </p:nvSpPr>
        <p:spPr>
          <a:xfrm>
            <a:off x="7781626" y="3084671"/>
            <a:ext cx="934048"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G7 citation</a:t>
            </a:r>
          </a:p>
        </p:txBody>
      </p:sp>
      <p:sp>
        <p:nvSpPr>
          <p:cNvPr id="35" name="TextBox 35"/>
          <p:cNvSpPr txBox="1"/>
          <p:nvPr/>
        </p:nvSpPr>
        <p:spPr>
          <a:xfrm>
            <a:off x="10001184" y="3084671"/>
            <a:ext cx="914531" cy="278702"/>
          </a:xfrm>
          <a:prstGeom prst="rect">
            <a:avLst/>
          </a:prstGeom>
          <a:noFill/>
          <a:ln>
            <a:noFill/>
          </a:ln>
        </p:spPr>
        <p:txBody>
          <a:bodyPr wrap="none" lIns="0" tIns="0" rIns="0" bIns="0" anchor="t" anchorCtr="0">
            <a:spAutoFit/>
          </a:bodyPr>
          <a:lstStyle/>
          <a:p>
            <a:pPr algn="ctr"/>
            <a:r>
              <a:rPr lang="en-US" sz="1420" dirty="0">
                <a:solidFill>
                  <a:srgbClr val="2563EB"/>
                </a:solidFill>
                <a:latin typeface="Arial"/>
                <a:ea typeface="Arial"/>
                <a:cs typeface="Arial"/>
              </a:rPr>
              <a:t>G8 budget</a:t>
            </a:r>
          </a:p>
        </p:txBody>
      </p:sp>
      <p:sp>
        <p:nvSpPr>
          <p:cNvPr id="36" name="Freeform 36"/>
          <p:cNvSpPr/>
          <p:nvPr/>
        </p:nvSpPr>
        <p:spPr>
          <a:xfrm>
            <a:off x="11468100" y="2076450"/>
            <a:ext cx="171450" cy="1790700"/>
          </a:xfrm>
          <a:custGeom>
            <a:avLst/>
            <a:gdLst/>
            <a:ahLst/>
            <a:cxnLst/>
            <a:rect l="l" t="t" r="r" b="b"/>
            <a:pathLst>
              <a:path w="171450" h="1790700">
                <a:moveTo>
                  <a:pt x="0" y="0"/>
                </a:moveTo>
                <a:lnTo>
                  <a:pt x="171450" y="0"/>
                </a:lnTo>
                <a:lnTo>
                  <a:pt x="171450" y="1790700"/>
                </a:lnTo>
                <a:lnTo>
                  <a:pt x="76200" y="1790700"/>
                </a:lnTo>
              </a:path>
            </a:pathLst>
          </a:custGeom>
          <a:noFill/>
          <a:ln w="14288">
            <a:solidFill>
              <a:srgbClr val="94A3B8"/>
            </a:solidFill>
          </a:ln>
        </p:spPr>
        <p:txBody>
          <a:bodyPr/>
          <a:lstStyle/>
          <a:p>
            <a:endParaRPr lang="zh-CN" altLang="en-US"/>
          </a:p>
        </p:txBody>
      </p:sp>
      <p:sp>
        <p:nvSpPr>
          <p:cNvPr id="37" name="Freeform 37"/>
          <p:cNvSpPr/>
          <p:nvPr/>
        </p:nvSpPr>
        <p:spPr>
          <a:xfrm>
            <a:off x="11430000" y="3810000"/>
            <a:ext cx="114300" cy="114300"/>
          </a:xfrm>
          <a:custGeom>
            <a:avLst/>
            <a:gdLst/>
            <a:ahLst/>
            <a:cxnLst/>
            <a:rect l="l" t="t" r="r" b="b"/>
            <a:pathLst>
              <a:path w="114300" h="114300">
                <a:moveTo>
                  <a:pt x="114300" y="0"/>
                </a:moveTo>
                <a:lnTo>
                  <a:pt x="0" y="57150"/>
                </a:lnTo>
                <a:lnTo>
                  <a:pt x="114300" y="114300"/>
                </a:lnTo>
                <a:close/>
              </a:path>
            </a:pathLst>
          </a:custGeom>
          <a:solidFill>
            <a:srgbClr val="94A3B8"/>
          </a:solidFill>
          <a:ln>
            <a:noFill/>
          </a:ln>
        </p:spPr>
        <p:txBody>
          <a:bodyPr/>
          <a:lstStyle/>
          <a:p>
            <a:endParaRPr lang="zh-CN" altLang="en-US"/>
          </a:p>
        </p:txBody>
      </p:sp>
      <p:sp>
        <p:nvSpPr>
          <p:cNvPr id="38" name="Rectangle 38"/>
          <p:cNvSpPr/>
          <p:nvPr/>
        </p:nvSpPr>
        <p:spPr>
          <a:xfrm>
            <a:off x="9448800" y="35052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39" name="TextBox 39"/>
          <p:cNvSpPr txBox="1"/>
          <p:nvPr/>
        </p:nvSpPr>
        <p:spPr>
          <a:xfrm>
            <a:off x="9969736" y="3656171"/>
            <a:ext cx="977428"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S5 novelty</a:t>
            </a:r>
          </a:p>
        </p:txBody>
      </p:sp>
      <p:sp>
        <p:nvSpPr>
          <p:cNvPr id="40" name="TextBox 40"/>
          <p:cNvSpPr txBox="1"/>
          <p:nvPr/>
        </p:nvSpPr>
        <p:spPr>
          <a:xfrm>
            <a:off x="9776587" y="3903821"/>
            <a:ext cx="1363726"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diff vs last week</a:t>
            </a:r>
          </a:p>
        </p:txBody>
      </p:sp>
      <p:sp>
        <p:nvSpPr>
          <p:cNvPr id="41" name="Rectangle 41"/>
          <p:cNvSpPr/>
          <p:nvPr/>
        </p:nvSpPr>
        <p:spPr>
          <a:xfrm>
            <a:off x="7239000" y="35052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42" name="TextBox 42"/>
          <p:cNvSpPr txBox="1"/>
          <p:nvPr/>
        </p:nvSpPr>
        <p:spPr>
          <a:xfrm>
            <a:off x="7749117" y="3656171"/>
            <a:ext cx="999066"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S6 analyze</a:t>
            </a:r>
          </a:p>
        </p:txBody>
      </p:sp>
      <p:sp>
        <p:nvSpPr>
          <p:cNvPr id="43" name="TextBox 43"/>
          <p:cNvSpPr txBox="1"/>
          <p:nvPr/>
        </p:nvSpPr>
        <p:spPr>
          <a:xfrm>
            <a:off x="7683490" y="3903821"/>
            <a:ext cx="1130319"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cited findings</a:t>
            </a:r>
          </a:p>
        </p:txBody>
      </p:sp>
      <p:sp>
        <p:nvSpPr>
          <p:cNvPr id="44" name="Rectangle 44"/>
          <p:cNvSpPr/>
          <p:nvPr/>
        </p:nvSpPr>
        <p:spPr>
          <a:xfrm>
            <a:off x="5029200" y="35052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45" name="TextBox 45"/>
          <p:cNvSpPr txBox="1"/>
          <p:nvPr/>
        </p:nvSpPr>
        <p:spPr>
          <a:xfrm>
            <a:off x="5672390" y="3656171"/>
            <a:ext cx="732921"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S7 draft</a:t>
            </a:r>
          </a:p>
        </p:txBody>
      </p:sp>
      <p:sp>
        <p:nvSpPr>
          <p:cNvPr id="46" name="TextBox 46"/>
          <p:cNvSpPr txBox="1"/>
          <p:nvPr/>
        </p:nvSpPr>
        <p:spPr>
          <a:xfrm>
            <a:off x="5402158" y="3903821"/>
            <a:ext cx="1273384"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report + claims</a:t>
            </a:r>
          </a:p>
        </p:txBody>
      </p:sp>
      <p:sp>
        <p:nvSpPr>
          <p:cNvPr id="47" name="Rectangle 47"/>
          <p:cNvSpPr/>
          <p:nvPr/>
        </p:nvSpPr>
        <p:spPr>
          <a:xfrm>
            <a:off x="2819400" y="3505200"/>
            <a:ext cx="2019300" cy="723900"/>
          </a:xfrm>
          <a:prstGeom prst="roundRect">
            <a:avLst>
              <a:gd name="adj" fmla="val 5263"/>
            </a:avLst>
          </a:prstGeom>
          <a:solidFill>
            <a:srgbClr val="F8FAFC"/>
          </a:solidFill>
          <a:ln w="9525">
            <a:solidFill>
              <a:srgbClr val="E2E8F0"/>
            </a:solidFill>
          </a:ln>
        </p:spPr>
        <p:txBody>
          <a:bodyPr/>
          <a:lstStyle/>
          <a:p>
            <a:endParaRPr lang="zh-CN" altLang="en-US"/>
          </a:p>
        </p:txBody>
      </p:sp>
      <p:sp>
        <p:nvSpPr>
          <p:cNvPr id="48" name="TextBox 48"/>
          <p:cNvSpPr txBox="1"/>
          <p:nvPr/>
        </p:nvSpPr>
        <p:spPr>
          <a:xfrm>
            <a:off x="3330055" y="3656171"/>
            <a:ext cx="997990"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S8 critique</a:t>
            </a:r>
          </a:p>
        </p:txBody>
      </p:sp>
      <p:sp>
        <p:nvSpPr>
          <p:cNvPr id="49" name="TextBox 49"/>
          <p:cNvSpPr txBox="1"/>
          <p:nvPr/>
        </p:nvSpPr>
        <p:spPr>
          <a:xfrm>
            <a:off x="2966598" y="3903821"/>
            <a:ext cx="1724905"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cross-vendor review</a:t>
            </a:r>
          </a:p>
        </p:txBody>
      </p:sp>
      <p:sp>
        <p:nvSpPr>
          <p:cNvPr id="50" name="Rectangle 50"/>
          <p:cNvSpPr/>
          <p:nvPr/>
        </p:nvSpPr>
        <p:spPr>
          <a:xfrm>
            <a:off x="609600" y="3505200"/>
            <a:ext cx="2019300" cy="723900"/>
          </a:xfrm>
          <a:prstGeom prst="roundRect">
            <a:avLst>
              <a:gd name="adj" fmla="val 5263"/>
            </a:avLst>
          </a:prstGeom>
          <a:solidFill>
            <a:srgbClr val="DBEAFE"/>
          </a:solidFill>
          <a:ln w="9525">
            <a:solidFill>
              <a:srgbClr val="2563EB"/>
            </a:solidFill>
          </a:ln>
        </p:spPr>
        <p:txBody>
          <a:bodyPr/>
          <a:lstStyle/>
          <a:p>
            <a:endParaRPr lang="zh-CN" altLang="en-US"/>
          </a:p>
        </p:txBody>
      </p:sp>
      <p:sp>
        <p:nvSpPr>
          <p:cNvPr id="51" name="TextBox 51"/>
          <p:cNvSpPr txBox="1"/>
          <p:nvPr/>
        </p:nvSpPr>
        <p:spPr>
          <a:xfrm>
            <a:off x="1141627" y="3656171"/>
            <a:ext cx="955247" cy="278702"/>
          </a:xfrm>
          <a:prstGeom prst="rect">
            <a:avLst/>
          </a:prstGeom>
          <a:noFill/>
          <a:ln>
            <a:noFill/>
          </a:ln>
        </p:spPr>
        <p:txBody>
          <a:bodyPr wrap="none" lIns="0" tIns="0" rIns="0" bIns="0" anchor="t" anchorCtr="0">
            <a:spAutoFit/>
          </a:bodyPr>
          <a:lstStyle/>
          <a:p>
            <a:pPr algn="ctr"/>
            <a:r>
              <a:rPr lang="en-US" sz="1420" b="1" dirty="0">
                <a:solidFill>
                  <a:srgbClr val="0F172A"/>
                </a:solidFill>
                <a:latin typeface="Arial"/>
                <a:ea typeface="Arial"/>
                <a:cs typeface="Arial"/>
              </a:rPr>
              <a:t>S9 finalize</a:t>
            </a:r>
          </a:p>
        </p:txBody>
      </p:sp>
      <p:sp>
        <p:nvSpPr>
          <p:cNvPr id="52" name="TextBox 52"/>
          <p:cNvSpPr txBox="1"/>
          <p:nvPr/>
        </p:nvSpPr>
        <p:spPr>
          <a:xfrm>
            <a:off x="1054243" y="3903821"/>
            <a:ext cx="1130014" cy="278702"/>
          </a:xfrm>
          <a:prstGeom prst="rect">
            <a:avLst/>
          </a:prstGeom>
          <a:noFill/>
          <a:ln>
            <a:noFill/>
          </a:ln>
        </p:spPr>
        <p:txBody>
          <a:bodyPr wrap="none" lIns="0" tIns="0" rIns="0" bIns="0" anchor="t" anchorCtr="0">
            <a:spAutoFit/>
          </a:bodyPr>
          <a:lstStyle/>
          <a:p>
            <a:pPr algn="ctr"/>
            <a:r>
              <a:rPr lang="en-US" sz="1420" dirty="0">
                <a:solidFill>
                  <a:srgbClr val="64748B"/>
                </a:solidFill>
                <a:latin typeface="Arial"/>
                <a:ea typeface="Arial"/>
                <a:cs typeface="Arial"/>
              </a:rPr>
              <a:t>persist report</a:t>
            </a:r>
          </a:p>
        </p:txBody>
      </p:sp>
      <p:sp>
        <p:nvSpPr>
          <p:cNvPr id="53" name="Line 53"/>
          <p:cNvSpPr/>
          <p:nvPr/>
        </p:nvSpPr>
        <p:spPr>
          <a:xfrm>
            <a:off x="9277350" y="3867150"/>
            <a:ext cx="114300" cy="9525"/>
          </a:xfrm>
          <a:custGeom>
            <a:avLst/>
            <a:gdLst/>
            <a:ahLst/>
            <a:cxnLst/>
            <a:rect l="l" t="t" r="r" b="b"/>
            <a:pathLst>
              <a:path w="114300" h="9525">
                <a:moveTo>
                  <a:pt x="114300" y="0"/>
                </a:moveTo>
                <a:lnTo>
                  <a:pt x="0" y="0"/>
                </a:lnTo>
              </a:path>
            </a:pathLst>
          </a:custGeom>
          <a:noFill/>
          <a:ln w="14288">
            <a:solidFill>
              <a:srgbClr val="94A3B8"/>
            </a:solidFill>
          </a:ln>
        </p:spPr>
        <p:txBody>
          <a:bodyPr/>
          <a:lstStyle/>
          <a:p>
            <a:endParaRPr lang="zh-CN" altLang="en-US"/>
          </a:p>
        </p:txBody>
      </p:sp>
      <p:sp>
        <p:nvSpPr>
          <p:cNvPr id="54" name="Line 54"/>
          <p:cNvSpPr/>
          <p:nvPr/>
        </p:nvSpPr>
        <p:spPr>
          <a:xfrm>
            <a:off x="7067550" y="3867150"/>
            <a:ext cx="114300" cy="9525"/>
          </a:xfrm>
          <a:custGeom>
            <a:avLst/>
            <a:gdLst/>
            <a:ahLst/>
            <a:cxnLst/>
            <a:rect l="l" t="t" r="r" b="b"/>
            <a:pathLst>
              <a:path w="114300" h="9525">
                <a:moveTo>
                  <a:pt x="114300" y="0"/>
                </a:moveTo>
                <a:lnTo>
                  <a:pt x="0" y="0"/>
                </a:lnTo>
              </a:path>
            </a:pathLst>
          </a:custGeom>
          <a:noFill/>
          <a:ln w="14288">
            <a:solidFill>
              <a:srgbClr val="94A3B8"/>
            </a:solidFill>
          </a:ln>
        </p:spPr>
        <p:txBody>
          <a:bodyPr/>
          <a:lstStyle/>
          <a:p>
            <a:endParaRPr lang="zh-CN" altLang="en-US"/>
          </a:p>
        </p:txBody>
      </p:sp>
      <p:sp>
        <p:nvSpPr>
          <p:cNvPr id="55" name="Line 55"/>
          <p:cNvSpPr/>
          <p:nvPr/>
        </p:nvSpPr>
        <p:spPr>
          <a:xfrm>
            <a:off x="4857750" y="3867150"/>
            <a:ext cx="114300" cy="9525"/>
          </a:xfrm>
          <a:custGeom>
            <a:avLst/>
            <a:gdLst/>
            <a:ahLst/>
            <a:cxnLst/>
            <a:rect l="l" t="t" r="r" b="b"/>
            <a:pathLst>
              <a:path w="114300" h="9525">
                <a:moveTo>
                  <a:pt x="114300" y="0"/>
                </a:moveTo>
                <a:lnTo>
                  <a:pt x="0" y="0"/>
                </a:lnTo>
              </a:path>
            </a:pathLst>
          </a:custGeom>
          <a:noFill/>
          <a:ln w="14288">
            <a:solidFill>
              <a:srgbClr val="94A3B8"/>
            </a:solidFill>
          </a:ln>
        </p:spPr>
        <p:txBody>
          <a:bodyPr/>
          <a:lstStyle/>
          <a:p>
            <a:endParaRPr lang="zh-CN" altLang="en-US"/>
          </a:p>
        </p:txBody>
      </p:sp>
      <p:sp>
        <p:nvSpPr>
          <p:cNvPr id="56" name="Line 56"/>
          <p:cNvSpPr/>
          <p:nvPr/>
        </p:nvSpPr>
        <p:spPr>
          <a:xfrm>
            <a:off x="2647950" y="3867150"/>
            <a:ext cx="114300" cy="9525"/>
          </a:xfrm>
          <a:custGeom>
            <a:avLst/>
            <a:gdLst/>
            <a:ahLst/>
            <a:cxnLst/>
            <a:rect l="l" t="t" r="r" b="b"/>
            <a:pathLst>
              <a:path w="114300" h="9525">
                <a:moveTo>
                  <a:pt x="114300" y="0"/>
                </a:moveTo>
                <a:lnTo>
                  <a:pt x="0" y="0"/>
                </a:lnTo>
              </a:path>
            </a:pathLst>
          </a:custGeom>
          <a:noFill/>
          <a:ln w="14288">
            <a:solidFill>
              <a:srgbClr val="94A3B8"/>
            </a:solidFill>
          </a:ln>
        </p:spPr>
        <p:txBody>
          <a:bodyPr/>
          <a:lstStyle/>
          <a:p>
            <a:endParaRPr lang="zh-CN" altLang="en-US"/>
          </a:p>
        </p:txBody>
      </p:sp>
      <p:sp>
        <p:nvSpPr>
          <p:cNvPr id="57" name="TextBox 57"/>
          <p:cNvSpPr txBox="1"/>
          <p:nvPr/>
        </p:nvSpPr>
        <p:spPr>
          <a:xfrm>
            <a:off x="602361" y="4418171"/>
            <a:ext cx="1094402"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Back-edges</a:t>
            </a:r>
          </a:p>
        </p:txBody>
      </p:sp>
      <p:sp>
        <p:nvSpPr>
          <p:cNvPr id="58" name="TextBox 58"/>
          <p:cNvSpPr txBox="1"/>
          <p:nvPr/>
        </p:nvSpPr>
        <p:spPr>
          <a:xfrm>
            <a:off x="1993011" y="4418171"/>
            <a:ext cx="136086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scope fail → S1</a:t>
            </a:r>
          </a:p>
        </p:txBody>
      </p:sp>
      <p:sp>
        <p:nvSpPr>
          <p:cNvPr id="59" name="TextBox 59"/>
          <p:cNvSpPr txBox="1"/>
          <p:nvPr/>
        </p:nvSpPr>
        <p:spPr>
          <a:xfrm>
            <a:off x="4088511" y="4418171"/>
            <a:ext cx="201906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stagnation → S1 replan</a:t>
            </a:r>
          </a:p>
        </p:txBody>
      </p:sp>
      <p:sp>
        <p:nvSpPr>
          <p:cNvPr id="60" name="TextBox 60"/>
          <p:cNvSpPr txBox="1"/>
          <p:nvPr/>
        </p:nvSpPr>
        <p:spPr>
          <a:xfrm>
            <a:off x="6660261" y="4418171"/>
            <a:ext cx="318675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critique below threshold → S7 rewrite</a:t>
            </a:r>
          </a:p>
        </p:txBody>
      </p:sp>
      <p:sp>
        <p:nvSpPr>
          <p:cNvPr id="61" name="TextBox 61"/>
          <p:cNvSpPr txBox="1"/>
          <p:nvPr/>
        </p:nvSpPr>
        <p:spPr>
          <a:xfrm>
            <a:off x="6660261" y="4665821"/>
            <a:ext cx="340018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budget exceeded → S9 finalize-or-abort</a:t>
            </a:r>
          </a:p>
        </p:txBody>
      </p:sp>
      <p:sp>
        <p:nvSpPr>
          <p:cNvPr id="62" name="Rectangle 62"/>
          <p:cNvSpPr/>
          <p:nvPr/>
        </p:nvSpPr>
        <p:spPr>
          <a:xfrm>
            <a:off x="609600" y="5029200"/>
            <a:ext cx="10972800" cy="419100"/>
          </a:xfrm>
          <a:prstGeom prst="rect">
            <a:avLst/>
          </a:prstGeom>
          <a:solidFill>
            <a:srgbClr val="F8FAFC"/>
          </a:solidFill>
          <a:ln>
            <a:noFill/>
          </a:ln>
        </p:spPr>
        <p:txBody>
          <a:bodyPr/>
          <a:lstStyle/>
          <a:p>
            <a:endParaRPr lang="zh-CN" altLang="en-US"/>
          </a:p>
        </p:txBody>
      </p:sp>
      <p:sp>
        <p:nvSpPr>
          <p:cNvPr id="63" name="Rectangle 63"/>
          <p:cNvSpPr/>
          <p:nvPr/>
        </p:nvSpPr>
        <p:spPr>
          <a:xfrm>
            <a:off x="609600" y="5029200"/>
            <a:ext cx="57150" cy="419100"/>
          </a:xfrm>
          <a:prstGeom prst="rect">
            <a:avLst/>
          </a:prstGeom>
          <a:solidFill>
            <a:srgbClr val="2563EB"/>
          </a:solidFill>
          <a:ln>
            <a:noFill/>
          </a:ln>
        </p:spPr>
        <p:txBody>
          <a:bodyPr/>
          <a:lstStyle/>
          <a:p>
            <a:endParaRPr lang="zh-CN" altLang="en-US"/>
          </a:p>
        </p:txBody>
      </p:sp>
      <p:sp>
        <p:nvSpPr>
          <p:cNvPr id="64" name="TextBox 64"/>
          <p:cNvSpPr txBox="1"/>
          <p:nvPr/>
        </p:nvSpPr>
        <p:spPr>
          <a:xfrm>
            <a:off x="850011" y="5151596"/>
            <a:ext cx="4459760"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checkpoint per node — resume = node boundary</a:t>
            </a:r>
          </a:p>
        </p:txBody>
      </p:sp>
      <p:sp>
        <p:nvSpPr>
          <p:cNvPr id="65" name="TextBox 65"/>
          <p:cNvSpPr txBox="1"/>
          <p:nvPr/>
        </p:nvSpPr>
        <p:spPr>
          <a:xfrm>
            <a:off x="6660261" y="5151596"/>
            <a:ext cx="54590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ladder</a:t>
            </a:r>
          </a:p>
        </p:txBody>
      </p:sp>
      <p:sp>
        <p:nvSpPr>
          <p:cNvPr id="66" name="TextBox 66"/>
          <p:cNvSpPr txBox="1"/>
          <p:nvPr/>
        </p:nvSpPr>
        <p:spPr>
          <a:xfrm>
            <a:off x="7517511" y="5151596"/>
            <a:ext cx="3126913"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retry → degrade → replan → abort</a:t>
            </a:r>
          </a:p>
        </p:txBody>
      </p:sp>
      <p:sp>
        <p:nvSpPr>
          <p:cNvPr id="67" name="TextBox 67"/>
          <p:cNvSpPr txBox="1"/>
          <p:nvPr/>
        </p:nvSpPr>
        <p:spPr>
          <a:xfrm>
            <a:off x="602361" y="5599271"/>
            <a:ext cx="8810507"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The full E1–E13 edge table lives in the design doc; this page shows only the four most instructive edges</a:t>
            </a:r>
          </a:p>
        </p:txBody>
      </p:sp>
      <p:sp>
        <p:nvSpPr>
          <p:cNvPr id="68" name="Rectangle 68"/>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69" name="Rectangle 69"/>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70" name="TextBox 70"/>
          <p:cNvSpPr txBox="1"/>
          <p:nvPr/>
        </p:nvSpPr>
        <p:spPr>
          <a:xfrm>
            <a:off x="850011" y="6237446"/>
            <a:ext cx="2740148"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Guards sit between the nodes</a:t>
            </a:r>
          </a:p>
        </p:txBody>
      </p:sp>
      <p:sp>
        <p:nvSpPr>
          <p:cNvPr id="71" name="TextBox 71"/>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72" name="TextBox 72"/>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07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247205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PROBLEM 1 · ANTI-DRIFT</a:t>
            </a:r>
          </a:p>
        </p:txBody>
      </p:sp>
      <p:sp>
        <p:nvSpPr>
          <p:cNvPr id="4" name="TextBox 4"/>
          <p:cNvSpPr txBox="1"/>
          <p:nvPr/>
        </p:nvSpPr>
        <p:spPr>
          <a:xfrm>
            <a:off x="594360" y="723900"/>
            <a:ext cx="6800310"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How we keep a weekly run on topic</a:t>
            </a:r>
          </a:p>
        </p:txBody>
      </p:sp>
      <p:sp>
        <p:nvSpPr>
          <p:cNvPr id="5" name="TextBox 5"/>
          <p:cNvSpPr txBox="1"/>
          <p:nvPr/>
        </p:nvSpPr>
        <p:spPr>
          <a:xfrm>
            <a:off x="602361" y="1179671"/>
            <a:ext cx="1801828"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如何防止 agent 走偏</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6799551"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A versioned Scope Anchor with a calibrated boundary</a:t>
            </a:r>
          </a:p>
        </p:txBody>
      </p:sp>
      <p:sp>
        <p:nvSpPr>
          <p:cNvPr id="9" name="TextBox 9"/>
          <p:cNvSpPr txBox="1"/>
          <p:nvPr/>
        </p:nvSpPr>
        <p:spPr>
          <a:xfrm>
            <a:off x="907161" y="2055971"/>
            <a:ext cx="828155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scope is a stored object the harness can check — not an instruction the model is asked to respect</a:t>
            </a:r>
          </a:p>
        </p:txBody>
      </p:sp>
      <p:sp>
        <p:nvSpPr>
          <p:cNvPr id="10" name="TextBox 10"/>
          <p:cNvSpPr txBox="1"/>
          <p:nvPr/>
        </p:nvSpPr>
        <p:spPr>
          <a:xfrm>
            <a:off x="829056" y="2529840"/>
            <a:ext cx="99563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Problem</a:t>
            </a:r>
          </a:p>
        </p:txBody>
      </p:sp>
      <p:sp>
        <p:nvSpPr>
          <p:cNvPr id="11" name="TextBox 11"/>
          <p:cNvSpPr txBox="1"/>
          <p:nvPr/>
        </p:nvSpPr>
        <p:spPr>
          <a:xfrm>
            <a:off x="2850261" y="2513171"/>
            <a:ext cx="845138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early drift is amplified downstream, and “zero drift” cannot be promised; detection must be bounded,</a:t>
            </a:r>
          </a:p>
        </p:txBody>
      </p:sp>
      <p:sp>
        <p:nvSpPr>
          <p:cNvPr id="12" name="TextBox 12"/>
          <p:cNvSpPr txBox="1"/>
          <p:nvPr/>
        </p:nvSpPr>
        <p:spPr>
          <a:xfrm>
            <a:off x="2850261" y="2741771"/>
            <a:ext cx="325567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detectable, reversible and measurable</a:t>
            </a:r>
          </a:p>
        </p:txBody>
      </p:sp>
      <p:sp>
        <p:nvSpPr>
          <p:cNvPr id="13" name="TextBox 13"/>
          <p:cNvSpPr txBox="1"/>
          <p:nvPr/>
        </p:nvSpPr>
        <p:spPr>
          <a:xfrm>
            <a:off x="829056" y="3082290"/>
            <a:ext cx="483408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Methods — seven levers, all deterministic</a:t>
            </a:r>
          </a:p>
        </p:txBody>
      </p:sp>
      <p:sp>
        <p:nvSpPr>
          <p:cNvPr id="14" name="TextBox 14"/>
          <p:cNvSpPr txBox="1"/>
          <p:nvPr/>
        </p:nvSpPr>
        <p:spPr>
          <a:xfrm>
            <a:off x="602361" y="3389471"/>
            <a:ext cx="10165117"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Scope Anchor（范围锚点）</a:t>
            </a:r>
            <a:r>
              <a:rPr lang="en-US" sz="1420" dirty="0">
                <a:solidFill>
                  <a:srgbClr val="64748B"/>
                </a:solidFill>
                <a:latin typeface="Arial"/>
                <a:ea typeface="Arial"/>
                <a:cs typeface="Arial"/>
              </a:rPr>
              <a:t> — one object: statement, boundaries, counter-examples, version-stamped into every node</a:t>
            </a:r>
          </a:p>
        </p:txBody>
      </p:sp>
      <p:sp>
        <p:nvSpPr>
          <p:cNvPr id="15" name="TextBox 15"/>
          <p:cNvSpPr txBox="1"/>
          <p:nvPr/>
        </p:nvSpPr>
        <p:spPr>
          <a:xfrm>
            <a:off x="602361" y="3656171"/>
            <a:ext cx="9640529"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Seed-corpus centroid（种子语料质心）</a:t>
            </a:r>
            <a:r>
              <a:rPr lang="en-US" sz="1420" dirty="0">
                <a:solidFill>
                  <a:srgbClr val="64748B"/>
                </a:solidFill>
                <a:latin typeface="Arial"/>
                <a:ea typeface="Arial"/>
                <a:cs typeface="Arial"/>
              </a:rPr>
              <a:t> — the anchor becomes a mean embedding, so drift is a cosine distance</a:t>
            </a:r>
          </a:p>
        </p:txBody>
      </p:sp>
      <p:sp>
        <p:nvSpPr>
          <p:cNvPr id="16" name="TextBox 16"/>
          <p:cNvSpPr txBox="1"/>
          <p:nvPr/>
        </p:nvSpPr>
        <p:spPr>
          <a:xfrm>
            <a:off x="602361" y="3922871"/>
            <a:ext cx="9077735"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Stage contracts（阶段契约）</a:t>
            </a:r>
            <a:r>
              <a:rPr lang="en-US" sz="1420" dirty="0">
                <a:solidFill>
                  <a:srgbClr val="64748B"/>
                </a:solidFill>
                <a:latin typeface="Arial"/>
                <a:ea typeface="Arial"/>
                <a:cs typeface="Arial"/>
              </a:rPr>
              <a:t> — input/output schema per stage with validators; a stage cannot be skipped</a:t>
            </a:r>
          </a:p>
        </p:txBody>
      </p:sp>
      <p:sp>
        <p:nvSpPr>
          <p:cNvPr id="17" name="TextBox 17"/>
          <p:cNvSpPr txBox="1"/>
          <p:nvPr/>
        </p:nvSpPr>
        <p:spPr>
          <a:xfrm>
            <a:off x="602361" y="4189571"/>
            <a:ext cx="915457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Role split + cross-vendor critic（角色分离）</a:t>
            </a:r>
            <a:r>
              <a:rPr lang="en-US" sz="1420" dirty="0">
                <a:solidFill>
                  <a:srgbClr val="64748B"/>
                </a:solidFill>
                <a:latin typeface="Arial"/>
                <a:ea typeface="Arial"/>
                <a:cs typeface="Arial"/>
              </a:rPr>
              <a:t> — each agent sees only what it needs; the critic never writes</a:t>
            </a:r>
          </a:p>
        </p:txBody>
      </p:sp>
      <p:sp>
        <p:nvSpPr>
          <p:cNvPr id="18" name="TextBox 18"/>
          <p:cNvSpPr txBox="1"/>
          <p:nvPr/>
        </p:nvSpPr>
        <p:spPr>
          <a:xfrm>
            <a:off x="602361" y="4456271"/>
            <a:ext cx="8046258"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Evidence-first（证据优先）</a:t>
            </a:r>
            <a:r>
              <a:rPr lang="en-US" sz="1420" dirty="0">
                <a:solidFill>
                  <a:srgbClr val="64748B"/>
                </a:solidFill>
                <a:latin typeface="Arial"/>
                <a:ea typeface="Arial"/>
                <a:cs typeface="Arial"/>
              </a:rPr>
              <a:t> — every claim carries a citation resolvable in the corpus snapshot</a:t>
            </a:r>
          </a:p>
        </p:txBody>
      </p:sp>
      <p:sp>
        <p:nvSpPr>
          <p:cNvPr id="19" name="TextBox 19"/>
          <p:cNvSpPr txBox="1"/>
          <p:nvPr/>
        </p:nvSpPr>
        <p:spPr>
          <a:xfrm>
            <a:off x="602361" y="4722971"/>
            <a:ext cx="8567253"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Hard limits in code（代码内硬约束）</a:t>
            </a:r>
            <a:r>
              <a:rPr lang="en-US" sz="1420" dirty="0">
                <a:solidFill>
                  <a:srgbClr val="64748B"/>
                </a:solidFill>
                <a:latin typeface="Arial"/>
                <a:ea typeface="Arial"/>
                <a:cs typeface="Arial"/>
              </a:rPr>
              <a:t> — whitelist, time window, dedup fingerprints; never in prompts</a:t>
            </a:r>
          </a:p>
        </p:txBody>
      </p:sp>
      <p:sp>
        <p:nvSpPr>
          <p:cNvPr id="20" name="TextBox 20"/>
          <p:cNvSpPr txBox="1"/>
          <p:nvPr/>
        </p:nvSpPr>
        <p:spPr>
          <a:xfrm>
            <a:off x="602361" y="4989671"/>
            <a:ext cx="8119525"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Cross-week anchoring（跨周锚定）</a:t>
            </a:r>
            <a:r>
              <a:rPr lang="en-US" sz="1420" dirty="0">
                <a:solidFill>
                  <a:srgbClr val="64748B"/>
                </a:solidFill>
                <a:latin typeface="Arial"/>
                <a:ea typeface="Arial"/>
                <a:cs typeface="Arial"/>
              </a:rPr>
              <a:t> — persist track state, diff against last week, flag slow drift</a:t>
            </a:r>
          </a:p>
        </p:txBody>
      </p:sp>
      <p:sp>
        <p:nvSpPr>
          <p:cNvPr id="21" name="TextBox 21"/>
          <p:cNvSpPr txBox="1"/>
          <p:nvPr/>
        </p:nvSpPr>
        <p:spPr>
          <a:xfrm>
            <a:off x="602361" y="5370671"/>
            <a:ext cx="9445785"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Retrieval and the drift guard share one anchor object, so scope never forks; a new topic costs one recalibration.</a:t>
            </a:r>
          </a:p>
        </p:txBody>
      </p:sp>
      <p:sp>
        <p:nvSpPr>
          <p:cNvPr id="22" name="TextBox 22"/>
          <p:cNvSpPr txBox="1"/>
          <p:nvPr/>
        </p:nvSpPr>
        <p:spPr>
          <a:xfrm>
            <a:off x="602361" y="5599271"/>
            <a:ext cx="10077773"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 evidence: slide 20</a:t>
            </a:r>
            <a:r>
              <a:rPr lang="en-US" sz="1420" dirty="0">
                <a:solidFill>
                  <a:srgbClr val="94A3B8"/>
                </a:solidFill>
                <a:latin typeface="Arial"/>
                <a:ea typeface="Arial"/>
                <a:cs typeface="Arial"/>
              </a:rPr>
              <a:t> — the two calibrated thresholds, and the counter-example that forced the representation change</a:t>
            </a:r>
          </a:p>
        </p:txBody>
      </p:sp>
      <p:sp>
        <p:nvSpPr>
          <p:cNvPr id="23" name="Rectangle 23"/>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4" name="Rectangle 24"/>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25" name="TextBox 25"/>
          <p:cNvSpPr txBox="1"/>
          <p:nvPr/>
        </p:nvSpPr>
        <p:spPr>
          <a:xfrm>
            <a:off x="850011" y="6237446"/>
            <a:ext cx="2847053"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Detected, reversible, measured</a:t>
            </a:r>
          </a:p>
        </p:txBody>
      </p:sp>
      <p:sp>
        <p:nvSpPr>
          <p:cNvPr id="26" name="TextBox 26"/>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27" name="TextBox 27"/>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08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89776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PROBLEM 2 · LOOPS AND STAGNATION</a:t>
            </a:r>
          </a:p>
        </p:txBody>
      </p:sp>
      <p:sp>
        <p:nvSpPr>
          <p:cNvPr id="4" name="TextBox 4"/>
          <p:cNvSpPr txBox="1"/>
          <p:nvPr/>
        </p:nvSpPr>
        <p:spPr>
          <a:xfrm>
            <a:off x="594360" y="723900"/>
            <a:ext cx="6662720"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How it notices it is going in circles</a:t>
            </a:r>
          </a:p>
        </p:txBody>
      </p:sp>
      <p:sp>
        <p:nvSpPr>
          <p:cNvPr id="5" name="TextBox 5"/>
          <p:cNvSpPr txBox="1"/>
          <p:nvPr/>
        </p:nvSpPr>
        <p:spPr>
          <a:xfrm>
            <a:off x="602361" y="1179671"/>
            <a:ext cx="2308403"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死循环与停滞：检出与处置</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6372902"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Cheap repetition signatures plus a bounded ladder</a:t>
            </a:r>
          </a:p>
        </p:txBody>
      </p:sp>
      <p:sp>
        <p:nvSpPr>
          <p:cNvPr id="9" name="TextBox 9"/>
          <p:cNvSpPr txBox="1"/>
          <p:nvPr/>
        </p:nvSpPr>
        <p:spPr>
          <a:xfrm>
            <a:off x="907161" y="2055971"/>
            <a:ext cx="766563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a loop is replanned once, then stopped by the state machine — not by a wall-clock timeout</a:t>
            </a:r>
          </a:p>
        </p:txBody>
      </p:sp>
      <p:sp>
        <p:nvSpPr>
          <p:cNvPr id="10" name="TextBox 10"/>
          <p:cNvSpPr txBox="1"/>
          <p:nvPr/>
        </p:nvSpPr>
        <p:spPr>
          <a:xfrm>
            <a:off x="829056" y="2529840"/>
            <a:ext cx="99563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Problem</a:t>
            </a:r>
          </a:p>
        </p:txBody>
      </p:sp>
      <p:sp>
        <p:nvSpPr>
          <p:cNvPr id="11" name="TextBox 11"/>
          <p:cNvSpPr txBox="1"/>
          <p:nvPr/>
        </p:nvSpPr>
        <p:spPr>
          <a:xfrm>
            <a:off x="2850261" y="2513171"/>
            <a:ext cx="789915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the same query re-issued, zero new facts, cost rising with no output, and nobody watching an</a:t>
            </a:r>
          </a:p>
        </p:txBody>
      </p:sp>
      <p:sp>
        <p:nvSpPr>
          <p:cNvPr id="12" name="TextBox 12"/>
          <p:cNvSpPr txBox="1"/>
          <p:nvPr/>
        </p:nvSpPr>
        <p:spPr>
          <a:xfrm>
            <a:off x="2850261" y="2741771"/>
            <a:ext cx="130068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unattended run</a:t>
            </a:r>
          </a:p>
        </p:txBody>
      </p:sp>
      <p:sp>
        <p:nvSpPr>
          <p:cNvPr id="13" name="TextBox 13"/>
          <p:cNvSpPr txBox="1"/>
          <p:nvPr/>
        </p:nvSpPr>
        <p:spPr>
          <a:xfrm>
            <a:off x="829056" y="3082290"/>
            <a:ext cx="4658400"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Methods — five detectors, two exit rules</a:t>
            </a:r>
          </a:p>
        </p:txBody>
      </p:sp>
      <p:sp>
        <p:nvSpPr>
          <p:cNvPr id="14" name="TextBox 14"/>
          <p:cNvSpPr txBox="1"/>
          <p:nvPr/>
        </p:nvSpPr>
        <p:spPr>
          <a:xfrm>
            <a:off x="602361" y="3389471"/>
            <a:ext cx="9181676"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Signature window（签名窗口）</a:t>
            </a:r>
            <a:r>
              <a:rPr lang="en-US" sz="1420" dirty="0">
                <a:solidFill>
                  <a:srgbClr val="64748B"/>
                </a:solidFill>
                <a:latin typeface="Arial"/>
                <a:ea typeface="Arial"/>
                <a:cs typeface="Arial"/>
              </a:rPr>
              <a:t> — tool name + normalised argument hash, window k=5, firing at repeat ≥ 3</a:t>
            </a:r>
          </a:p>
        </p:txBody>
      </p:sp>
      <p:sp>
        <p:nvSpPr>
          <p:cNvPr id="15" name="TextBox 15"/>
          <p:cNvSpPr txBox="1"/>
          <p:nvPr/>
        </p:nvSpPr>
        <p:spPr>
          <a:xfrm>
            <a:off x="602361" y="3713321"/>
            <a:ext cx="899138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State-hash repetition（状态哈希重复）</a:t>
            </a:r>
            <a:r>
              <a:rPr lang="en-US" sz="1420" dirty="0">
                <a:solidFill>
                  <a:srgbClr val="64748B"/>
                </a:solidFill>
                <a:latin typeface="Arial"/>
                <a:ea typeface="Arial"/>
                <a:cs typeface="Arial"/>
              </a:rPr>
              <a:t> — the same state reached twice means the graph has paid twice</a:t>
            </a:r>
          </a:p>
        </p:txBody>
      </p:sp>
      <p:sp>
        <p:nvSpPr>
          <p:cNvPr id="16" name="TextBox 16"/>
          <p:cNvSpPr txBox="1"/>
          <p:nvPr/>
        </p:nvSpPr>
        <p:spPr>
          <a:xfrm>
            <a:off x="602361" y="4037171"/>
            <a:ext cx="8407653"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Facts delta = 0（事实增量归零）</a:t>
            </a:r>
            <a:r>
              <a:rPr lang="en-US" sz="1420" dirty="0">
                <a:solidFill>
                  <a:srgbClr val="64748B"/>
                </a:solidFill>
                <a:latin typeface="Arial"/>
                <a:ea typeface="Arial"/>
                <a:cs typeface="Arial"/>
              </a:rPr>
              <a:t> — a verified-fact set that stops growing marks stagnation directly</a:t>
            </a:r>
          </a:p>
        </p:txBody>
      </p:sp>
      <p:sp>
        <p:nvSpPr>
          <p:cNvPr id="17" name="TextBox 17"/>
          <p:cNvSpPr txBox="1"/>
          <p:nvPr/>
        </p:nvSpPr>
        <p:spPr>
          <a:xfrm>
            <a:off x="602361" y="4361021"/>
            <a:ext cx="9566840"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Bounded back-edges（有界回边）</a:t>
            </a:r>
            <a:r>
              <a:rPr lang="en-US" sz="1420" dirty="0">
                <a:solidFill>
                  <a:srgbClr val="64748B"/>
                </a:solidFill>
                <a:latin typeface="Arial"/>
                <a:ea typeface="Arial"/>
                <a:cs typeface="Arial"/>
              </a:rPr>
              <a:t> — a limited number of replans per node, counted in state, never unbounded</a:t>
            </a:r>
          </a:p>
        </p:txBody>
      </p:sp>
      <p:sp>
        <p:nvSpPr>
          <p:cNvPr id="18" name="TextBox 18"/>
          <p:cNvSpPr txBox="1"/>
          <p:nvPr/>
        </p:nvSpPr>
        <p:spPr>
          <a:xfrm>
            <a:off x="602361" y="4684871"/>
            <a:ext cx="7970941"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Escalation ladder（升级阶梯）</a:t>
            </a:r>
            <a:r>
              <a:rPr lang="en-US" sz="1420" dirty="0">
                <a:solidFill>
                  <a:srgbClr val="64748B"/>
                </a:solidFill>
                <a:latin typeface="Arial"/>
                <a:ea typeface="Arial"/>
                <a:cs typeface="Arial"/>
              </a:rPr>
              <a:t> — first hit replans with a recovery packet; a second hit aborts</a:t>
            </a:r>
          </a:p>
        </p:txBody>
      </p:sp>
      <p:sp>
        <p:nvSpPr>
          <p:cNvPr id="19" name="TextBox 19"/>
          <p:cNvSpPr txBox="1"/>
          <p:nvPr/>
        </p:nvSpPr>
        <p:spPr>
          <a:xfrm>
            <a:off x="602361" y="5370671"/>
            <a:ext cx="9893552"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Both detectors read only the event log and the state hash, so policing a loop adds no tokens to the run being policed.</a:t>
            </a:r>
          </a:p>
        </p:txBody>
      </p:sp>
      <p:sp>
        <p:nvSpPr>
          <p:cNvPr id="20" name="TextBox 20"/>
          <p:cNvSpPr txBox="1"/>
          <p:nvPr/>
        </p:nvSpPr>
        <p:spPr>
          <a:xfrm>
            <a:off x="602361" y="5599271"/>
            <a:ext cx="9758000"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 evidence: slide 20</a:t>
            </a:r>
            <a:r>
              <a:rPr lang="en-US" sz="1420" dirty="0">
                <a:solidFill>
                  <a:srgbClr val="94A3B8"/>
                </a:solidFill>
                <a:latin typeface="Arial"/>
                <a:ea typeface="Arial"/>
                <a:cs typeface="Arial"/>
              </a:rPr>
              <a:t> — injected repeated-call and zero-progress scenarios, plus the normal-run false-alarm count</a:t>
            </a:r>
          </a:p>
        </p:txBody>
      </p:sp>
      <p:sp>
        <p:nvSpPr>
          <p:cNvPr id="21" name="Rectangle 21"/>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2" name="Rectangle 22"/>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23" name="TextBox 23"/>
          <p:cNvSpPr txBox="1"/>
          <p:nvPr/>
        </p:nvSpPr>
        <p:spPr>
          <a:xfrm>
            <a:off x="850011" y="6237446"/>
            <a:ext cx="2495254"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First replan, then hard stop</a:t>
            </a:r>
          </a:p>
        </p:txBody>
      </p:sp>
      <p:sp>
        <p:nvSpPr>
          <p:cNvPr id="24" name="TextBox 24"/>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25" name="TextBox 25"/>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09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219179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PROBLEM 3 · BUDGET</a:t>
            </a:r>
          </a:p>
        </p:txBody>
      </p:sp>
      <p:sp>
        <p:nvSpPr>
          <p:cNvPr id="4" name="TextBox 4"/>
          <p:cNvSpPr txBox="1"/>
          <p:nvPr/>
        </p:nvSpPr>
        <p:spPr>
          <a:xfrm>
            <a:off x="594360" y="723900"/>
            <a:ext cx="5473943"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How it stops burning money</a:t>
            </a:r>
          </a:p>
        </p:txBody>
      </p:sp>
      <p:sp>
        <p:nvSpPr>
          <p:cNvPr id="5" name="TextBox 5"/>
          <p:cNvSpPr txBox="1"/>
          <p:nvPr/>
        </p:nvSpPr>
        <p:spPr>
          <a:xfrm>
            <a:off x="602361" y="1179671"/>
            <a:ext cx="1926082"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预算失控：四维看门狗</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6577297"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A four-meter watchdog that degrades before it stops</a:t>
            </a:r>
          </a:p>
        </p:txBody>
      </p:sp>
      <p:sp>
        <p:nvSpPr>
          <p:cNvPr id="9" name="TextBox 9"/>
          <p:cNvSpPr txBox="1"/>
          <p:nvPr/>
        </p:nvSpPr>
        <p:spPr>
          <a:xfrm>
            <a:off x="907161" y="2055971"/>
            <a:ext cx="807896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tokens · seconds · cost · steps, re-read after every call — the ceiling is enforced by the harness</a:t>
            </a:r>
          </a:p>
        </p:txBody>
      </p:sp>
      <p:sp>
        <p:nvSpPr>
          <p:cNvPr id="10" name="TextBox 10"/>
          <p:cNvSpPr txBox="1"/>
          <p:nvPr/>
        </p:nvSpPr>
        <p:spPr>
          <a:xfrm>
            <a:off x="829056" y="2529840"/>
            <a:ext cx="99563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Problem</a:t>
            </a:r>
          </a:p>
        </p:txBody>
      </p:sp>
      <p:sp>
        <p:nvSpPr>
          <p:cNvPr id="11" name="TextBox 11"/>
          <p:cNvSpPr txBox="1"/>
          <p:nvPr/>
        </p:nvSpPr>
        <p:spPr>
          <a:xfrm>
            <a:off x="2850261" y="2513171"/>
            <a:ext cx="855827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an unattended run has no natural cost ceiling, and “let it finish” is the wrong default when the meter is</a:t>
            </a:r>
          </a:p>
        </p:txBody>
      </p:sp>
      <p:sp>
        <p:nvSpPr>
          <p:cNvPr id="12" name="TextBox 12"/>
          <p:cNvSpPr txBox="1"/>
          <p:nvPr/>
        </p:nvSpPr>
        <p:spPr>
          <a:xfrm>
            <a:off x="2850261" y="2741771"/>
            <a:ext cx="215027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the only thing still moving</a:t>
            </a:r>
          </a:p>
        </p:txBody>
      </p:sp>
      <p:sp>
        <p:nvSpPr>
          <p:cNvPr id="13" name="TextBox 13"/>
          <p:cNvSpPr txBox="1"/>
          <p:nvPr/>
        </p:nvSpPr>
        <p:spPr>
          <a:xfrm>
            <a:off x="829056" y="3082290"/>
            <a:ext cx="3931080"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Methods — a watchdog with teeth</a:t>
            </a:r>
          </a:p>
        </p:txBody>
      </p:sp>
      <p:sp>
        <p:nvSpPr>
          <p:cNvPr id="14" name="TextBox 14"/>
          <p:cNvSpPr txBox="1"/>
          <p:nvPr/>
        </p:nvSpPr>
        <p:spPr>
          <a:xfrm>
            <a:off x="602361" y="3389471"/>
            <a:ext cx="8494521"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Four meters（四维计量）</a:t>
            </a:r>
            <a:r>
              <a:rPr lang="en-US" sz="1420" dirty="0">
                <a:solidFill>
                  <a:srgbClr val="64748B"/>
                </a:solidFill>
                <a:latin typeface="Arial"/>
                <a:ea typeface="Arial"/>
                <a:cs typeface="Arial"/>
              </a:rPr>
              <a:t> — tokens · seconds · cost · steps, re-read after every model and tool call</a:t>
            </a:r>
          </a:p>
        </p:txBody>
      </p:sp>
      <p:sp>
        <p:nvSpPr>
          <p:cNvPr id="15" name="TextBox 15"/>
          <p:cNvSpPr txBox="1"/>
          <p:nvPr/>
        </p:nvSpPr>
        <p:spPr>
          <a:xfrm>
            <a:off x="602361" y="3713321"/>
            <a:ext cx="10149964"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Budget from config（配置注入）</a:t>
            </a:r>
            <a:r>
              <a:rPr lang="en-US" sz="1420" dirty="0">
                <a:solidFill>
                  <a:srgbClr val="64748B"/>
                </a:solidFill>
                <a:latin typeface="Arial"/>
                <a:ea typeface="Arial"/>
                <a:cs typeface="Arial"/>
              </a:rPr>
              <a:t> — declared per topic and overridable, so a costly topic cannot inherit a cheap default</a:t>
            </a:r>
          </a:p>
        </p:txBody>
      </p:sp>
      <p:sp>
        <p:nvSpPr>
          <p:cNvPr id="16" name="TextBox 16"/>
          <p:cNvSpPr txBox="1"/>
          <p:nvPr/>
        </p:nvSpPr>
        <p:spPr>
          <a:xfrm>
            <a:off x="602361" y="4037171"/>
            <a:ext cx="9459084"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Early degradation（提前降级）</a:t>
            </a:r>
            <a:r>
              <a:rPr lang="en-US" sz="1420" dirty="0">
                <a:solidFill>
                  <a:srgbClr val="64748B"/>
                </a:solidFill>
                <a:latin typeface="Arial"/>
                <a:ea typeface="Arial"/>
                <a:cs typeface="Arial"/>
              </a:rPr>
              <a:t> — cheaper model tier and shorter retrieval batches before the ceiling, not after</a:t>
            </a:r>
          </a:p>
        </p:txBody>
      </p:sp>
      <p:sp>
        <p:nvSpPr>
          <p:cNvPr id="17" name="TextBox 17"/>
          <p:cNvSpPr txBox="1"/>
          <p:nvPr/>
        </p:nvSpPr>
        <p:spPr>
          <a:xfrm>
            <a:off x="602361" y="4361021"/>
            <a:ext cx="9507201"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Two rungs（两级阈值）</a:t>
            </a:r>
            <a:r>
              <a:rPr lang="en-US" sz="1420" dirty="0">
                <a:solidFill>
                  <a:srgbClr val="64748B"/>
                </a:solidFill>
                <a:latin typeface="Arial"/>
                <a:ea typeface="Arial"/>
                <a:cs typeface="Arial"/>
              </a:rPr>
              <a:t> — warn at 80% is non-blocking; stop at 100% halts the graph and annotates the report</a:t>
            </a:r>
          </a:p>
        </p:txBody>
      </p:sp>
      <p:sp>
        <p:nvSpPr>
          <p:cNvPr id="18" name="TextBox 18"/>
          <p:cNvSpPr txBox="1"/>
          <p:nvPr/>
        </p:nvSpPr>
        <p:spPr>
          <a:xfrm>
            <a:off x="602361" y="4684871"/>
            <a:ext cx="871591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Event per decision（逐决策留痕）</a:t>
            </a:r>
            <a:r>
              <a:rPr lang="en-US" sz="1420" dirty="0">
                <a:solidFill>
                  <a:srgbClr val="64748B"/>
                </a:solidFill>
                <a:latin typeface="Arial"/>
                <a:ea typeface="Arial"/>
                <a:cs typeface="Arial"/>
              </a:rPr>
              <a:t> — each reading emits a metric event, each verdict a guard_trigger</a:t>
            </a:r>
          </a:p>
        </p:txBody>
      </p:sp>
      <p:sp>
        <p:nvSpPr>
          <p:cNvPr id="19" name="TextBox 19"/>
          <p:cNvSpPr txBox="1"/>
          <p:nvPr/>
        </p:nvSpPr>
        <p:spPr>
          <a:xfrm>
            <a:off x="602361" y="5370671"/>
            <a:ext cx="10402857"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The watchdog chooses the rung, the state machine executes it: retry → degrade → replan → abort is data, not code paths.</a:t>
            </a:r>
          </a:p>
        </p:txBody>
      </p:sp>
      <p:sp>
        <p:nvSpPr>
          <p:cNvPr id="20" name="TextBox 20"/>
          <p:cNvSpPr txBox="1"/>
          <p:nvPr/>
        </p:nvSpPr>
        <p:spPr>
          <a:xfrm>
            <a:off x="602361" y="5599271"/>
            <a:ext cx="7622662"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 evidence: slide 18</a:t>
            </a:r>
            <a:r>
              <a:rPr lang="en-US" sz="1420" dirty="0">
                <a:solidFill>
                  <a:srgbClr val="94A3B8"/>
                </a:solidFill>
                <a:latin typeface="Arial"/>
                <a:ea typeface="Arial"/>
                <a:cs typeface="Arial"/>
              </a:rPr>
              <a:t> (checkpoint cost per super-step) and slide 20 (the budget scenario)</a:t>
            </a:r>
          </a:p>
        </p:txBody>
      </p:sp>
      <p:sp>
        <p:nvSpPr>
          <p:cNvPr id="21" name="Rectangle 21"/>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2" name="Rectangle 22"/>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23" name="TextBox 23"/>
          <p:cNvSpPr txBox="1"/>
          <p:nvPr/>
        </p:nvSpPr>
        <p:spPr>
          <a:xfrm>
            <a:off x="850011" y="6237446"/>
            <a:ext cx="2437418"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Warn at 80%, stop at 100%</a:t>
            </a:r>
          </a:p>
        </p:txBody>
      </p:sp>
      <p:sp>
        <p:nvSpPr>
          <p:cNvPr id="24" name="TextBox 24"/>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25" name="TextBox 25"/>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10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2966306"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PROBLEM 4 · HALLUCINATION</a:t>
            </a:r>
          </a:p>
        </p:txBody>
      </p:sp>
      <p:sp>
        <p:nvSpPr>
          <p:cNvPr id="4" name="TextBox 4"/>
          <p:cNvSpPr txBox="1"/>
          <p:nvPr/>
        </p:nvSpPr>
        <p:spPr>
          <a:xfrm>
            <a:off x="594360" y="723900"/>
            <a:ext cx="5473984"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No unsupported claim ships</a:t>
            </a:r>
          </a:p>
        </p:txBody>
      </p:sp>
      <p:sp>
        <p:nvSpPr>
          <p:cNvPr id="5" name="TextBox 5"/>
          <p:cNvSpPr txBox="1"/>
          <p:nvPr/>
        </p:nvSpPr>
        <p:spPr>
          <a:xfrm>
            <a:off x="602361" y="1179671"/>
            <a:ext cx="1926082"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如何控制幻觉与事实性</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7657371"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Factuality is enforced by contract and by resolvable citations</a:t>
            </a:r>
          </a:p>
        </p:txBody>
      </p:sp>
      <p:sp>
        <p:nvSpPr>
          <p:cNvPr id="9" name="TextBox 9"/>
          <p:cNvSpPr txBox="1"/>
          <p:nvPr/>
        </p:nvSpPr>
        <p:spPr>
          <a:xfrm>
            <a:off x="907161" y="2055971"/>
            <a:ext cx="653954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a claim that cannot be traced into the corpus snapshot never leaves the node</a:t>
            </a:r>
          </a:p>
        </p:txBody>
      </p:sp>
      <p:sp>
        <p:nvSpPr>
          <p:cNvPr id="10" name="TextBox 10"/>
          <p:cNvSpPr txBox="1"/>
          <p:nvPr/>
        </p:nvSpPr>
        <p:spPr>
          <a:xfrm>
            <a:off x="829056" y="2529840"/>
            <a:ext cx="99563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Problem</a:t>
            </a:r>
          </a:p>
        </p:txBody>
      </p:sp>
      <p:sp>
        <p:nvSpPr>
          <p:cNvPr id="11" name="TextBox 11"/>
          <p:cNvSpPr txBox="1"/>
          <p:nvPr/>
        </p:nvSpPr>
        <p:spPr>
          <a:xfrm>
            <a:off x="2850261" y="2513171"/>
            <a:ext cx="841968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long chains invite fabricated numbers and silent contradictions, and “be careful” is not a mechanism</a:t>
            </a:r>
          </a:p>
        </p:txBody>
      </p:sp>
      <p:sp>
        <p:nvSpPr>
          <p:cNvPr id="12" name="TextBox 12"/>
          <p:cNvSpPr txBox="1"/>
          <p:nvPr/>
        </p:nvSpPr>
        <p:spPr>
          <a:xfrm>
            <a:off x="2850261" y="2741771"/>
            <a:ext cx="136422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anyone can test</a:t>
            </a:r>
          </a:p>
        </p:txBody>
      </p:sp>
      <p:sp>
        <p:nvSpPr>
          <p:cNvPr id="13" name="TextBox 13"/>
          <p:cNvSpPr txBox="1"/>
          <p:nvPr/>
        </p:nvSpPr>
        <p:spPr>
          <a:xfrm>
            <a:off x="829056" y="3082290"/>
            <a:ext cx="5034786"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Methods — factuality enforced at six points</a:t>
            </a:r>
          </a:p>
        </p:txBody>
      </p:sp>
      <p:sp>
        <p:nvSpPr>
          <p:cNvPr id="14" name="TextBox 14"/>
          <p:cNvSpPr txBox="1"/>
          <p:nvPr/>
        </p:nvSpPr>
        <p:spPr>
          <a:xfrm>
            <a:off x="602361" y="3389471"/>
            <a:ext cx="8720730"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Claim + evidence are one unit（声明与证据同体）</a:t>
            </a:r>
            <a:r>
              <a:rPr lang="en-US" sz="1420" dirty="0">
                <a:solidFill>
                  <a:srgbClr val="64748B"/>
                </a:solidFill>
                <a:latin typeface="Arial"/>
                <a:ea typeface="Arial"/>
                <a:cs typeface="Arial"/>
              </a:rPr>
              <a:t> — the schema rejects a claim with no citation field</a:t>
            </a:r>
          </a:p>
        </p:txBody>
      </p:sp>
      <p:sp>
        <p:nvSpPr>
          <p:cNvPr id="15" name="TextBox 15"/>
          <p:cNvSpPr txBox="1"/>
          <p:nvPr/>
        </p:nvSpPr>
        <p:spPr>
          <a:xfrm>
            <a:off x="602361" y="3700624"/>
            <a:ext cx="8529406"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Citations must resolve（引用可回查）</a:t>
            </a:r>
            <a:r>
              <a:rPr lang="en-US" sz="1420" dirty="0">
                <a:solidFill>
                  <a:srgbClr val="64748B"/>
                </a:solidFill>
                <a:latin typeface="Arial"/>
                <a:ea typeface="Arial"/>
                <a:cs typeface="Arial"/>
              </a:rPr>
              <a:t> — paper_id + snippet must be found in the corpus snapshot</a:t>
            </a:r>
          </a:p>
        </p:txBody>
      </p:sp>
      <p:sp>
        <p:nvSpPr>
          <p:cNvPr id="16" name="TextBox 16"/>
          <p:cNvSpPr txBox="1"/>
          <p:nvPr/>
        </p:nvSpPr>
        <p:spPr>
          <a:xfrm>
            <a:off x="602361" y="4011768"/>
            <a:ext cx="9617111"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Contradictions are first-class（矛盾显式保留）</a:t>
            </a:r>
            <a:r>
              <a:rPr lang="en-US" sz="1420" dirty="0">
                <a:solidFill>
                  <a:srgbClr val="64748B"/>
                </a:solidFill>
                <a:latin typeface="Arial"/>
                <a:ea typeface="Arial"/>
                <a:cs typeface="Arial"/>
              </a:rPr>
              <a:t> — the report presents the disagreement, never a silent average</a:t>
            </a:r>
          </a:p>
        </p:txBody>
      </p:sp>
      <p:sp>
        <p:nvSpPr>
          <p:cNvPr id="17" name="TextBox 17"/>
          <p:cNvSpPr txBox="1"/>
          <p:nvPr/>
        </p:nvSpPr>
        <p:spPr>
          <a:xfrm>
            <a:off x="602361" y="4322921"/>
            <a:ext cx="8449678"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Refusal is legal（允许拒答）</a:t>
            </a:r>
            <a:r>
              <a:rPr lang="en-US" sz="1420" dirty="0">
                <a:solidFill>
                  <a:srgbClr val="64748B"/>
                </a:solidFill>
                <a:latin typeface="Arial"/>
                <a:ea typeface="Arial"/>
                <a:cs typeface="Arial"/>
              </a:rPr>
              <a:t> — “insufficient evidence” is accepted, but must name what is missing</a:t>
            </a:r>
          </a:p>
        </p:txBody>
      </p:sp>
      <p:sp>
        <p:nvSpPr>
          <p:cNvPr id="18" name="TextBox 18"/>
          <p:cNvSpPr txBox="1"/>
          <p:nvPr/>
        </p:nvSpPr>
        <p:spPr>
          <a:xfrm>
            <a:off x="602361" y="4634074"/>
            <a:ext cx="9277754"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Numbers carry provenance（数字带出处）</a:t>
            </a:r>
            <a:r>
              <a:rPr lang="en-US" sz="1420" dirty="0">
                <a:solidFill>
                  <a:srgbClr val="64748B"/>
                </a:solidFill>
                <a:latin typeface="Arial"/>
                <a:ea typeface="Arial"/>
                <a:cs typeface="Arial"/>
              </a:rPr>
              <a:t> — every number comes from a tool result; no silent source wins</a:t>
            </a:r>
          </a:p>
        </p:txBody>
      </p:sp>
      <p:sp>
        <p:nvSpPr>
          <p:cNvPr id="19" name="TextBox 19"/>
          <p:cNvSpPr txBox="1"/>
          <p:nvPr/>
        </p:nvSpPr>
        <p:spPr>
          <a:xfrm>
            <a:off x="602361" y="4945218"/>
            <a:ext cx="8447825" cy="218521"/>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Cross-vendor critique（跨</a:t>
            </a:r>
            <a:r>
              <a:rPr lang="zh-CN" altLang="en-US" sz="1420" b="1" dirty="0">
                <a:solidFill>
                  <a:srgbClr val="0F172A"/>
                </a:solidFill>
                <a:latin typeface="Arial"/>
                <a:ea typeface="Microsoft YaHei"/>
                <a:cs typeface="Arial"/>
              </a:rPr>
              <a:t>模型</a:t>
            </a:r>
            <a:r>
              <a:rPr lang="zh-CN" sz="1420" b="1" dirty="0">
                <a:solidFill>
                  <a:srgbClr val="0F172A"/>
                </a:solidFill>
                <a:latin typeface="Arial"/>
                <a:ea typeface="Microsoft YaHei"/>
                <a:cs typeface="Arial"/>
              </a:rPr>
              <a:t>评审）</a:t>
            </a:r>
            <a:r>
              <a:rPr lang="en-US" sz="1420" dirty="0">
                <a:solidFill>
                  <a:srgbClr val="64748B"/>
                </a:solidFill>
                <a:latin typeface="Arial"/>
                <a:ea typeface="Arial"/>
                <a:cs typeface="Arial"/>
              </a:rPr>
              <a:t> — a second vendor re-reads each claim against its cited snippet</a:t>
            </a:r>
          </a:p>
        </p:txBody>
      </p:sp>
      <p:sp>
        <p:nvSpPr>
          <p:cNvPr id="20" name="TextBox 20"/>
          <p:cNvSpPr txBox="1"/>
          <p:nvPr/>
        </p:nvSpPr>
        <p:spPr>
          <a:xfrm>
            <a:off x="602361" y="5370671"/>
            <a:ext cx="9370536"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The resolver reads the same snapshot the retrieval used, so a citation that resolves today survives a re-import.</a:t>
            </a:r>
          </a:p>
        </p:txBody>
      </p:sp>
      <p:sp>
        <p:nvSpPr>
          <p:cNvPr id="21" name="TextBox 21"/>
          <p:cNvSpPr txBox="1"/>
          <p:nvPr/>
        </p:nvSpPr>
        <p:spPr>
          <a:xfrm>
            <a:off x="602361" y="5599271"/>
            <a:ext cx="7431502"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 evidence: slides 20–21</a:t>
            </a:r>
            <a:r>
              <a:rPr lang="en-US" sz="1420" dirty="0">
                <a:solidFill>
                  <a:srgbClr val="94A3B8"/>
                </a:solidFill>
                <a:latin typeface="Arial"/>
                <a:ea typeface="Arial"/>
                <a:cs typeface="Arial"/>
              </a:rPr>
              <a:t> — citation-resolvable rate, grounding, and the metric caveat</a:t>
            </a:r>
          </a:p>
        </p:txBody>
      </p:sp>
      <p:sp>
        <p:nvSpPr>
          <p:cNvPr id="22" name="Rectangle 22"/>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3" name="Rectangle 23"/>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24" name="TextBox 24"/>
          <p:cNvSpPr txBox="1"/>
          <p:nvPr/>
        </p:nvSpPr>
        <p:spPr>
          <a:xfrm>
            <a:off x="850011" y="6237446"/>
            <a:ext cx="3026892"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Unsupported claims cannot pass</a:t>
            </a:r>
          </a:p>
        </p:txBody>
      </p:sp>
      <p:sp>
        <p:nvSpPr>
          <p:cNvPr id="25" name="TextBox 25"/>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26" name="TextBox 26"/>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11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29121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PROBLEM 5 · CONTEXT GROWTH</a:t>
            </a:r>
          </a:p>
        </p:txBody>
      </p:sp>
      <p:sp>
        <p:nvSpPr>
          <p:cNvPr id="4" name="TextBox 4"/>
          <p:cNvSpPr txBox="1"/>
          <p:nvPr/>
        </p:nvSpPr>
        <p:spPr>
          <a:xfrm>
            <a:off x="594360" y="723900"/>
            <a:ext cx="6685800"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Keep a long run inside the window</a:t>
            </a:r>
          </a:p>
        </p:txBody>
      </p:sp>
      <p:sp>
        <p:nvSpPr>
          <p:cNvPr id="5" name="TextBox 5"/>
          <p:cNvSpPr txBox="1"/>
          <p:nvPr/>
        </p:nvSpPr>
        <p:spPr>
          <a:xfrm>
            <a:off x="602361" y="1179671"/>
            <a:ext cx="2499563"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长跑上下文膨胀：折叠与分层</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7933924"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State holds summaries and pointers; folding is an explicit node</a:t>
            </a:r>
          </a:p>
        </p:txBody>
      </p:sp>
      <p:sp>
        <p:nvSpPr>
          <p:cNvPr id="9" name="TextBox 9"/>
          <p:cNvSpPr txBox="1"/>
          <p:nvPr/>
        </p:nvSpPr>
        <p:spPr>
          <a:xfrm>
            <a:off x="907161" y="2055971"/>
            <a:ext cx="786711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raw text never enters the window, so context size is a design decision instead of a side effect</a:t>
            </a:r>
          </a:p>
        </p:txBody>
      </p:sp>
      <p:sp>
        <p:nvSpPr>
          <p:cNvPr id="10" name="TextBox 10"/>
          <p:cNvSpPr txBox="1"/>
          <p:nvPr/>
        </p:nvSpPr>
        <p:spPr>
          <a:xfrm>
            <a:off x="829056" y="2529840"/>
            <a:ext cx="99563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Problem</a:t>
            </a:r>
          </a:p>
        </p:txBody>
      </p:sp>
      <p:sp>
        <p:nvSpPr>
          <p:cNvPr id="11" name="TextBox 11"/>
          <p:cNvSpPr txBox="1"/>
          <p:nvPr/>
        </p:nvSpPr>
        <p:spPr>
          <a:xfrm>
            <a:off x="2850261" y="2513171"/>
            <a:ext cx="828159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 run spans hours, so state, tool results and retrieval history grow without bound — and on-device</a:t>
            </a:r>
          </a:p>
        </p:txBody>
      </p:sp>
      <p:sp>
        <p:nvSpPr>
          <p:cNvPr id="12" name="TextBox 12"/>
          <p:cNvSpPr txBox="1"/>
          <p:nvPr/>
        </p:nvSpPr>
        <p:spPr>
          <a:xfrm>
            <a:off x="2850261" y="2741771"/>
            <a:ext cx="161865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tiers are tighter still</a:t>
            </a:r>
          </a:p>
        </p:txBody>
      </p:sp>
      <p:sp>
        <p:nvSpPr>
          <p:cNvPr id="13" name="TextBox 13"/>
          <p:cNvSpPr txBox="1"/>
          <p:nvPr/>
        </p:nvSpPr>
        <p:spPr>
          <a:xfrm>
            <a:off x="829056" y="3082290"/>
            <a:ext cx="4697918"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Methods — fold explicitly, store pointers</a:t>
            </a:r>
          </a:p>
        </p:txBody>
      </p:sp>
      <p:sp>
        <p:nvSpPr>
          <p:cNvPr id="14" name="TextBox 14"/>
          <p:cNvSpPr txBox="1"/>
          <p:nvPr/>
        </p:nvSpPr>
        <p:spPr>
          <a:xfrm>
            <a:off x="602361" y="3389471"/>
            <a:ext cx="8991495"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Summaries and pointers only（只存摘要与指针）</a:t>
            </a:r>
            <a:r>
              <a:rPr lang="en-US" sz="1420" dirty="0">
                <a:solidFill>
                  <a:srgbClr val="64748B"/>
                </a:solidFill>
                <a:latin typeface="Arial"/>
                <a:ea typeface="Arial"/>
                <a:cs typeface="Arial"/>
              </a:rPr>
              <a:t> — state keeps paper_id and event ids, never raw text</a:t>
            </a:r>
          </a:p>
        </p:txBody>
      </p:sp>
      <p:sp>
        <p:nvSpPr>
          <p:cNvPr id="15" name="TextBox 15"/>
          <p:cNvSpPr txBox="1"/>
          <p:nvPr/>
        </p:nvSpPr>
        <p:spPr>
          <a:xfrm>
            <a:off x="602361" y="3700624"/>
            <a:ext cx="9469629"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Budget before every call（调用前算预算）</a:t>
            </a:r>
            <a:r>
              <a:rPr lang="en-US" sz="1420" dirty="0">
                <a:solidFill>
                  <a:srgbClr val="64748B"/>
                </a:solidFill>
                <a:latin typeface="Arial"/>
                <a:ea typeface="Arial"/>
                <a:cs typeface="Arial"/>
              </a:rPr>
              <a:t> — the budget of a call is computed from the state that call receives</a:t>
            </a:r>
          </a:p>
        </p:txBody>
      </p:sp>
      <p:sp>
        <p:nvSpPr>
          <p:cNvPr id="16" name="TextBox 16"/>
          <p:cNvSpPr txBox="1"/>
          <p:nvPr/>
        </p:nvSpPr>
        <p:spPr>
          <a:xfrm>
            <a:off x="602361" y="4011768"/>
            <a:ext cx="850871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Folding rules（折叠规则）</a:t>
            </a:r>
            <a:r>
              <a:rPr lang="en-US" sz="1420" dirty="0">
                <a:solidFill>
                  <a:srgbClr val="64748B"/>
                </a:solidFill>
                <a:latin typeface="Arial"/>
                <a:ea typeface="Arial"/>
                <a:cs typeface="Arial"/>
              </a:rPr>
              <a:t> — history becomes points + citations; old dialogue becomes a summary</a:t>
            </a:r>
          </a:p>
        </p:txBody>
      </p:sp>
      <p:sp>
        <p:nvSpPr>
          <p:cNvPr id="17" name="TextBox 17"/>
          <p:cNvSpPr txBox="1"/>
          <p:nvPr/>
        </p:nvSpPr>
        <p:spPr>
          <a:xfrm>
            <a:off x="602361" y="4322921"/>
            <a:ext cx="928955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Three-layer memory（三层记忆）</a:t>
            </a:r>
            <a:r>
              <a:rPr lang="en-US" sz="1420" dirty="0">
                <a:solidFill>
                  <a:srgbClr val="64748B"/>
                </a:solidFill>
                <a:latin typeface="Arial"/>
                <a:ea typeface="Arial"/>
                <a:cs typeface="Arial"/>
              </a:rPr>
              <a:t> — topic state / evidence stores / report history, each with its own interface</a:t>
            </a:r>
          </a:p>
        </p:txBody>
      </p:sp>
      <p:sp>
        <p:nvSpPr>
          <p:cNvPr id="18" name="TextBox 18"/>
          <p:cNvSpPr txBox="1"/>
          <p:nvPr/>
        </p:nvSpPr>
        <p:spPr>
          <a:xfrm>
            <a:off x="602361" y="4634074"/>
            <a:ext cx="840502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Fixed injection slots（固定注入槽）</a:t>
            </a:r>
            <a:r>
              <a:rPr lang="en-US" sz="1420" dirty="0">
                <a:solidFill>
                  <a:srgbClr val="64748B"/>
                </a:solidFill>
                <a:latin typeface="Arial"/>
                <a:ea typeface="Arial"/>
                <a:cs typeface="Arial"/>
              </a:rPr>
              <a:t> — system (scope + state + policy) / user (task) / tools (cards)</a:t>
            </a:r>
          </a:p>
        </p:txBody>
      </p:sp>
      <p:sp>
        <p:nvSpPr>
          <p:cNvPr id="19" name="TextBox 19"/>
          <p:cNvSpPr txBox="1"/>
          <p:nvPr/>
        </p:nvSpPr>
        <p:spPr>
          <a:xfrm>
            <a:off x="602361" y="4945218"/>
            <a:ext cx="8470255"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Folding is auditable（折叠可审计）</a:t>
            </a:r>
            <a:r>
              <a:rPr lang="en-US" sz="1420" dirty="0">
                <a:solidFill>
                  <a:srgbClr val="64748B"/>
                </a:solidFill>
                <a:latin typeface="Arial"/>
                <a:ea typeface="Arial"/>
                <a:cs typeface="Arial"/>
              </a:rPr>
              <a:t> — every fold emits before/after token counts into the event log</a:t>
            </a:r>
          </a:p>
        </p:txBody>
      </p:sp>
      <p:sp>
        <p:nvSpPr>
          <p:cNvPr id="20" name="TextBox 20"/>
          <p:cNvSpPr txBox="1"/>
          <p:nvPr/>
        </p:nvSpPr>
        <p:spPr>
          <a:xfrm>
            <a:off x="602361" y="5370671"/>
            <a:ext cx="9505484"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Status: designed and instrumented, not yet measured — Phase 0 data volume is too small to stress the window.</a:t>
            </a:r>
          </a:p>
        </p:txBody>
      </p:sp>
      <p:sp>
        <p:nvSpPr>
          <p:cNvPr id="21" name="TextBox 21"/>
          <p:cNvSpPr txBox="1"/>
          <p:nvPr/>
        </p:nvSpPr>
        <p:spPr>
          <a:xfrm>
            <a:off x="602361" y="5599271"/>
            <a:ext cx="7633443"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 evidence: slide 18</a:t>
            </a:r>
            <a:r>
              <a:rPr lang="en-US" sz="1420" dirty="0">
                <a:solidFill>
                  <a:srgbClr val="94A3B8"/>
                </a:solidFill>
                <a:latin typeface="Arial"/>
                <a:ea typeface="Arial"/>
                <a:cs typeface="Arial"/>
              </a:rPr>
              <a:t> — the checkpoint that makes restart cost independent of run length</a:t>
            </a:r>
          </a:p>
        </p:txBody>
      </p:sp>
      <p:sp>
        <p:nvSpPr>
          <p:cNvPr id="22" name="Rectangle 22"/>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3" name="Rectangle 23"/>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24" name="TextBox 24"/>
          <p:cNvSpPr txBox="1"/>
          <p:nvPr/>
        </p:nvSpPr>
        <p:spPr>
          <a:xfrm>
            <a:off x="850011" y="6237446"/>
            <a:ext cx="1878669"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Fold first, then route</a:t>
            </a:r>
          </a:p>
        </p:txBody>
      </p:sp>
      <p:sp>
        <p:nvSpPr>
          <p:cNvPr id="25" name="TextBox 25"/>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26" name="TextBox 26"/>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12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91997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PROBLEM 6 · TOOL AND MCP RETURNS</a:t>
            </a:r>
          </a:p>
        </p:txBody>
      </p:sp>
      <p:sp>
        <p:nvSpPr>
          <p:cNvPr id="4" name="TextBox 4"/>
          <p:cNvSpPr txBox="1"/>
          <p:nvPr/>
        </p:nvSpPr>
        <p:spPr>
          <a:xfrm>
            <a:off x="594360" y="723900"/>
            <a:ext cx="6551274"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How we validate what tools return</a:t>
            </a:r>
          </a:p>
        </p:txBody>
      </p:sp>
      <p:sp>
        <p:nvSpPr>
          <p:cNvPr id="5" name="TextBox 5"/>
          <p:cNvSpPr txBox="1"/>
          <p:nvPr/>
        </p:nvSpPr>
        <p:spPr>
          <a:xfrm>
            <a:off x="602361" y="1179671"/>
            <a:ext cx="3589538"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如何验证工具/MCP 返回的数据是否合法</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6500770"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Six validation layers, and the first four need no LLM</a:t>
            </a:r>
          </a:p>
        </p:txBody>
      </p:sp>
      <p:sp>
        <p:nvSpPr>
          <p:cNvPr id="9" name="TextBox 9"/>
          <p:cNvSpPr txBox="1"/>
          <p:nvPr/>
        </p:nvSpPr>
        <p:spPr>
          <a:xfrm>
            <a:off x="907161" y="2055971"/>
            <a:ext cx="8451036"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whatever schema or arithmetic can decide is decided without a model call; critical actions fail closed</a:t>
            </a:r>
          </a:p>
        </p:txBody>
      </p:sp>
      <p:sp>
        <p:nvSpPr>
          <p:cNvPr id="10" name="TextBox 10"/>
          <p:cNvSpPr txBox="1"/>
          <p:nvPr/>
        </p:nvSpPr>
        <p:spPr>
          <a:xfrm>
            <a:off x="829056" y="2529840"/>
            <a:ext cx="995634"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Problem</a:t>
            </a:r>
          </a:p>
        </p:txBody>
      </p:sp>
      <p:sp>
        <p:nvSpPr>
          <p:cNvPr id="11" name="TextBox 11"/>
          <p:cNvSpPr txBox="1"/>
          <p:nvPr/>
        </p:nvSpPr>
        <p:spPr>
          <a:xfrm>
            <a:off x="2850261" y="2513171"/>
            <a:ext cx="811210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tool output is untrusted data, and one word, “reasonable”, hides four questions: protocol validity,</a:t>
            </a:r>
          </a:p>
        </p:txBody>
      </p:sp>
      <p:sp>
        <p:nvSpPr>
          <p:cNvPr id="12" name="TextBox 12"/>
          <p:cNvSpPr txBox="1"/>
          <p:nvPr/>
        </p:nvSpPr>
        <p:spPr>
          <a:xfrm>
            <a:off x="2850261" y="2741771"/>
            <a:ext cx="446599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numeric domains, cross-field consistency, semantics</a:t>
            </a:r>
          </a:p>
        </p:txBody>
      </p:sp>
      <p:sp>
        <p:nvSpPr>
          <p:cNvPr id="13" name="TextBox 13"/>
          <p:cNvSpPr txBox="1"/>
          <p:nvPr/>
        </p:nvSpPr>
        <p:spPr>
          <a:xfrm>
            <a:off x="829056" y="3082290"/>
            <a:ext cx="5911300"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Methods — a six-layer pipeline, cheapest layer first</a:t>
            </a:r>
          </a:p>
        </p:txBody>
      </p:sp>
      <p:sp>
        <p:nvSpPr>
          <p:cNvPr id="14" name="TextBox 14"/>
          <p:cNvSpPr txBox="1"/>
          <p:nvPr/>
        </p:nvSpPr>
        <p:spPr>
          <a:xfrm>
            <a:off x="602361" y="3389471"/>
            <a:ext cx="866845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L0 protocol（协议层）</a:t>
            </a:r>
            <a:r>
              <a:rPr lang="en-US" sz="1420" dirty="0">
                <a:solidFill>
                  <a:srgbClr val="64748B"/>
                </a:solidFill>
                <a:latin typeface="Arial"/>
                <a:ea typeface="Arial"/>
                <a:cs typeface="Arial"/>
              </a:rPr>
              <a:t> — JSON-RPC validity, isError, output schema, types and enums via Pydantic</a:t>
            </a:r>
          </a:p>
        </p:txBody>
      </p:sp>
      <p:sp>
        <p:nvSpPr>
          <p:cNvPr id="15" name="TextBox 15"/>
          <p:cNvSpPr txBox="1"/>
          <p:nvPr/>
        </p:nvSpPr>
        <p:spPr>
          <a:xfrm>
            <a:off x="602361" y="3656171"/>
            <a:ext cx="8381468"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L1 domain rules（域规则层）</a:t>
            </a:r>
            <a:r>
              <a:rPr lang="en-US" sz="1420" dirty="0">
                <a:solidFill>
                  <a:srgbClr val="64748B"/>
                </a:solidFill>
                <a:latin typeface="Arial"/>
                <a:ea typeface="Arial"/>
                <a:cs typeface="Arial"/>
              </a:rPr>
              <a:t> — 0 ≤ ratio ≤ 1 · cited_by ≥ 0 · year ≤ current · published ≤ updated</a:t>
            </a:r>
          </a:p>
        </p:txBody>
      </p:sp>
      <p:sp>
        <p:nvSpPr>
          <p:cNvPr id="16" name="TextBox 16"/>
          <p:cNvSpPr txBox="1"/>
          <p:nvPr/>
        </p:nvSpPr>
        <p:spPr>
          <a:xfrm>
            <a:off x="602361" y="3922871"/>
            <a:ext cx="9472572"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L1 continued（域规则·续）</a:t>
            </a:r>
            <a:r>
              <a:rPr lang="en-US" sz="1420" dirty="0">
                <a:solidFill>
                  <a:srgbClr val="64748B"/>
                </a:solidFill>
                <a:latin typeface="Arial"/>
                <a:ea typeface="Arial"/>
                <a:cs typeface="Arial"/>
              </a:rPr>
              <a:t> — citation resolvable in the store · unit normalisation · whitelist · freshness · dedup</a:t>
            </a:r>
          </a:p>
        </p:txBody>
      </p:sp>
      <p:sp>
        <p:nvSpPr>
          <p:cNvPr id="17" name="TextBox 17"/>
          <p:cNvSpPr txBox="1"/>
          <p:nvPr/>
        </p:nvSpPr>
        <p:spPr>
          <a:xfrm>
            <a:off x="602361" y="4189571"/>
            <a:ext cx="9236118"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L2 cross-source recompute（跨源重算）</a:t>
            </a:r>
            <a:r>
              <a:rPr lang="en-US" sz="1420" dirty="0">
                <a:solidFill>
                  <a:srgbClr val="64748B"/>
                </a:solidFill>
                <a:latin typeface="Arial"/>
                <a:ea typeface="Arial"/>
                <a:cs typeface="Arial"/>
              </a:rPr>
              <a:t> — key numbers recomputed from an independent second source</a:t>
            </a:r>
          </a:p>
        </p:txBody>
      </p:sp>
      <p:sp>
        <p:nvSpPr>
          <p:cNvPr id="18" name="TextBox 18"/>
          <p:cNvSpPr txBox="1"/>
          <p:nvPr/>
        </p:nvSpPr>
        <p:spPr>
          <a:xfrm>
            <a:off x="602361" y="4456271"/>
            <a:ext cx="7723817"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L3 statistical anomaly（统计异常）</a:t>
            </a:r>
            <a:r>
              <a:rPr lang="en-US" sz="1420" dirty="0">
                <a:solidFill>
                  <a:srgbClr val="64748B"/>
                </a:solidFill>
                <a:latin typeface="Arial"/>
                <a:ea typeface="Arial"/>
                <a:cs typeface="Arial"/>
              </a:rPr>
              <a:t> — z-score and IQR against history, plus count spikes</a:t>
            </a:r>
          </a:p>
        </p:txBody>
      </p:sp>
      <p:sp>
        <p:nvSpPr>
          <p:cNvPr id="19" name="TextBox 19"/>
          <p:cNvSpPr txBox="1"/>
          <p:nvPr/>
        </p:nvSpPr>
        <p:spPr>
          <a:xfrm>
            <a:off x="602361" y="4722971"/>
            <a:ext cx="8528884"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L4 LLM for semantics only（仅语义用 LLM）</a:t>
            </a:r>
            <a:r>
              <a:rPr lang="en-US" sz="1420" dirty="0">
                <a:solidFill>
                  <a:srgbClr val="64748B"/>
                </a:solidFill>
                <a:latin typeface="Arial"/>
                <a:ea typeface="Arial"/>
                <a:cs typeface="Arial"/>
              </a:rPr>
              <a:t> — rubric-based, cross-vendor, sampled and cached</a:t>
            </a:r>
          </a:p>
        </p:txBody>
      </p:sp>
      <p:sp>
        <p:nvSpPr>
          <p:cNvPr id="20" name="TextBox 20"/>
          <p:cNvSpPr txBox="1"/>
          <p:nvPr/>
        </p:nvSpPr>
        <p:spPr>
          <a:xfrm>
            <a:off x="602361" y="4989671"/>
            <a:ext cx="6209534" cy="278702"/>
          </a:xfrm>
          <a:prstGeom prst="rect">
            <a:avLst/>
          </a:prstGeom>
          <a:noFill/>
          <a:ln>
            <a:noFill/>
          </a:ln>
        </p:spPr>
        <p:txBody>
          <a:bodyPr wrap="none" lIns="0" tIns="0" rIns="0" bIns="0" anchor="t" anchorCtr="0">
            <a:spAutoFit/>
          </a:bodyPr>
          <a:lstStyle/>
          <a:p>
            <a:pPr algn="l"/>
            <a:r>
              <a:rPr lang="zh-CN" sz="1420" b="1" dirty="0">
                <a:solidFill>
                  <a:srgbClr val="0F172A"/>
                </a:solidFill>
                <a:latin typeface="Arial"/>
                <a:ea typeface="Microsoft YaHei"/>
                <a:cs typeface="Arial"/>
              </a:rPr>
              <a:t>L5 human spot-check（人工抽检）</a:t>
            </a:r>
            <a:r>
              <a:rPr lang="en-US" sz="1420" dirty="0">
                <a:solidFill>
                  <a:srgbClr val="64748B"/>
                </a:solidFill>
                <a:latin typeface="Arial"/>
                <a:ea typeface="Arial"/>
                <a:cs typeface="Arial"/>
              </a:rPr>
              <a:t> — calibrates the judge, not the data</a:t>
            </a:r>
          </a:p>
        </p:txBody>
      </p:sp>
      <p:sp>
        <p:nvSpPr>
          <p:cNvPr id="21" name="TextBox 21"/>
          <p:cNvSpPr txBox="1"/>
          <p:nvPr/>
        </p:nvSpPr>
        <p:spPr>
          <a:xfrm>
            <a:off x="602361" y="5370671"/>
            <a:ext cx="1001959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A failed layer means no graph write, no evidence-pool entry, no report claim; the same validators wrap our own nodes.</a:t>
            </a:r>
          </a:p>
        </p:txBody>
      </p:sp>
      <p:sp>
        <p:nvSpPr>
          <p:cNvPr id="22" name="TextBox 22"/>
          <p:cNvSpPr txBox="1"/>
          <p:nvPr/>
        </p:nvSpPr>
        <p:spPr>
          <a:xfrm>
            <a:off x="602361" y="5599271"/>
            <a:ext cx="7537710" cy="278702"/>
          </a:xfrm>
          <a:prstGeom prst="rect">
            <a:avLst/>
          </a:prstGeom>
          <a:noFill/>
          <a:ln>
            <a:noFill/>
          </a:ln>
        </p:spPr>
        <p:txBody>
          <a:bodyPr wrap="none" lIns="0" tIns="0" rIns="0" bIns="0" anchor="t" anchorCtr="0">
            <a:spAutoFit/>
          </a:bodyPr>
          <a:lstStyle/>
          <a:p>
            <a:pPr algn="l"/>
            <a:r>
              <a:rPr lang="en-US" sz="1420" b="1" dirty="0">
                <a:solidFill>
                  <a:srgbClr val="2563EB"/>
                </a:solidFill>
                <a:latin typeface="Arial"/>
                <a:ea typeface="Arial"/>
                <a:cs typeface="Arial"/>
              </a:rPr>
              <a:t>→ evidence: slide 21</a:t>
            </a:r>
            <a:r>
              <a:rPr lang="en-US" sz="1420" dirty="0">
                <a:solidFill>
                  <a:srgbClr val="94A3B8"/>
                </a:solidFill>
                <a:latin typeface="Arial"/>
                <a:ea typeface="Arial"/>
                <a:cs typeface="Arial"/>
              </a:rPr>
              <a:t> — the injection runs used to check interception and false positives</a:t>
            </a:r>
          </a:p>
        </p:txBody>
      </p:sp>
      <p:sp>
        <p:nvSpPr>
          <p:cNvPr id="23" name="Rectangle 23"/>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24" name="Rectangle 24"/>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25" name="TextBox 25"/>
          <p:cNvSpPr txBox="1"/>
          <p:nvPr/>
        </p:nvSpPr>
        <p:spPr>
          <a:xfrm>
            <a:off x="850011" y="6237446"/>
            <a:ext cx="2120712"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No LLM until layer four</a:t>
            </a:r>
          </a:p>
        </p:txBody>
      </p:sp>
      <p:sp>
        <p:nvSpPr>
          <p:cNvPr id="26" name="TextBox 26"/>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27" name="TextBox 27"/>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13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21292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1 · SOURCES (S1)</a:t>
            </a:r>
          </a:p>
        </p:txBody>
      </p:sp>
      <p:sp>
        <p:nvSpPr>
          <p:cNvPr id="4" name="TextBox 4"/>
          <p:cNvSpPr txBox="1"/>
          <p:nvPr/>
        </p:nvSpPr>
        <p:spPr>
          <a:xfrm>
            <a:off x="594360" y="723900"/>
            <a:ext cx="6507567"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Can the whitelist see the venues?</a:t>
            </a:r>
          </a:p>
        </p:txBody>
      </p:sp>
      <p:sp>
        <p:nvSpPr>
          <p:cNvPr id="5" name="TextBox 5"/>
          <p:cNvSpPr txBox="1"/>
          <p:nvPr/>
        </p:nvSpPr>
        <p:spPr>
          <a:xfrm>
            <a:off x="602361" y="1179671"/>
            <a:ext cx="1897408"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1：数据源覆盖度</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8760644"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The whitelist does reach our target venues, and arXiv is indexed there</a:t>
            </a:r>
          </a:p>
        </p:txBody>
      </p:sp>
      <p:sp>
        <p:nvSpPr>
          <p:cNvPr id="9" name="TextBox 9"/>
          <p:cNvSpPr txBox="1"/>
          <p:nvPr/>
        </p:nvSpPr>
        <p:spPr>
          <a:xfrm>
            <a:off x="907161" y="2055971"/>
            <a:ext cx="970725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386 papers / 3 years (≈129/yr, a floor) · arXiv-in-OpenAlex 91.7% · relevance 10/10 · 20/20 HTTP 200, p50 1.09 s</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529036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counted whitelist-venue recall over three years; matched arXiv</a:t>
            </a:r>
          </a:p>
        </p:txBody>
      </p:sp>
      <p:sp>
        <p:nvSpPr>
          <p:cNvPr id="13" name="TextBox 13"/>
          <p:cNvSpPr txBox="1"/>
          <p:nvPr/>
        </p:nvSpPr>
        <p:spPr>
          <a:xfrm>
            <a:off x="602361" y="3275171"/>
            <a:ext cx="529413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preprints to OpenAlex by DOI; hand-scored relevance; probed</a:t>
            </a:r>
          </a:p>
        </p:txBody>
      </p:sp>
      <p:sp>
        <p:nvSpPr>
          <p:cNvPr id="14" name="TextBox 14"/>
          <p:cNvSpPr txBox="1"/>
          <p:nvPr/>
        </p:nvSpPr>
        <p:spPr>
          <a:xfrm>
            <a:off x="602361" y="3503771"/>
            <a:ext cx="305347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the polite-pool limit with 20 requests</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514326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whitelist 386 papers / 3 years (≈129/yr, a floor); arXiv 91.7%;</a:t>
            </a:r>
          </a:p>
        </p:txBody>
      </p:sp>
      <p:sp>
        <p:nvSpPr>
          <p:cNvPr id="18" name="TextBox 18"/>
          <p:cNvSpPr txBox="1"/>
          <p:nvPr/>
        </p:nvSpPr>
        <p:spPr>
          <a:xfrm>
            <a:off x="602361" y="4665821"/>
            <a:ext cx="394119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relevance 10/10; 20/20 HTTP 200, p50 1.09 s</a:t>
            </a:r>
          </a:p>
        </p:txBody>
      </p:sp>
      <p:sp>
        <p:nvSpPr>
          <p:cNvPr id="19" name="TextBox 19"/>
          <p:cNvSpPr txBox="1"/>
          <p:nvPr/>
        </p:nvSpPr>
        <p:spPr>
          <a:xfrm>
            <a:off x="602361" y="4913471"/>
            <a:ext cx="4671059"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NeurIPS / ICLR / OSDI records are missing</a:t>
            </a:r>
          </a:p>
        </p:txBody>
      </p:sp>
      <p:sp>
        <p:nvSpPr>
          <p:cNvPr id="20" name="TextBox 20"/>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1" name="TextBox 21"/>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2" name="TextBox 22"/>
          <p:cNvSpPr txBox="1"/>
          <p:nvPr/>
        </p:nvSpPr>
        <p:spPr>
          <a:xfrm>
            <a:off x="6126861" y="3046571"/>
            <a:ext cx="327376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papers_per_year = 386 / 3 ≈ 129</a:t>
            </a:r>
          </a:p>
        </p:txBody>
      </p:sp>
      <p:sp>
        <p:nvSpPr>
          <p:cNvPr id="23" name="TextBox 23"/>
          <p:cNvSpPr txBox="1"/>
          <p:nvPr/>
        </p:nvSpPr>
        <p:spPr>
          <a:xfrm>
            <a:off x="6126861" y="324659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年召回下界</a:t>
            </a:r>
          </a:p>
        </p:txBody>
      </p:sp>
      <p:sp>
        <p:nvSpPr>
          <p:cNvPr id="24" name="TextBox 24"/>
          <p:cNvSpPr txBox="1"/>
          <p:nvPr/>
        </p:nvSpPr>
        <p:spPr>
          <a:xfrm>
            <a:off x="6126861" y="3541871"/>
            <a:ext cx="379945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coverage = matched / sampled = 0.917</a:t>
            </a:r>
          </a:p>
        </p:txBody>
      </p:sp>
      <p:sp>
        <p:nvSpPr>
          <p:cNvPr id="25" name="TextBox 25"/>
          <p:cNvSpPr txBox="1"/>
          <p:nvPr/>
        </p:nvSpPr>
        <p:spPr>
          <a:xfrm>
            <a:off x="6126861" y="3741896"/>
            <a:ext cx="113576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arXiv 命中率</a:t>
            </a:r>
          </a:p>
        </p:txBody>
      </p:sp>
      <p:sp>
        <p:nvSpPr>
          <p:cNvPr id="26" name="TextBox 26"/>
          <p:cNvSpPr txBox="1"/>
          <p:nvPr/>
        </p:nvSpPr>
        <p:spPr>
          <a:xfrm>
            <a:off x="6126861" y="4037171"/>
            <a:ext cx="306348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p50 = percentile(latency, 50)</a:t>
            </a:r>
          </a:p>
        </p:txBody>
      </p:sp>
      <p:sp>
        <p:nvSpPr>
          <p:cNvPr id="27" name="TextBox 27"/>
          <p:cNvSpPr txBox="1"/>
          <p:nvPr/>
        </p:nvSpPr>
        <p:spPr>
          <a:xfrm>
            <a:off x="6126861" y="423719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延迟中位数</a:t>
            </a:r>
          </a:p>
        </p:txBody>
      </p:sp>
      <p:sp>
        <p:nvSpPr>
          <p:cNvPr id="28" name="TextBox 28"/>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29" name="TextBox 29"/>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0" name="TextBox 30"/>
          <p:cNvSpPr txBox="1"/>
          <p:nvPr/>
        </p:nvSpPr>
        <p:spPr>
          <a:xfrm>
            <a:off x="2850261" y="5732621"/>
            <a:ext cx="692603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whitelist filtering must be primary; arXiv is a freshness supplement, not a gap-filler</a:t>
            </a:r>
          </a:p>
        </p:txBody>
      </p:sp>
      <p:sp>
        <p:nvSpPr>
          <p:cNvPr id="31" name="Rectangle 31"/>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2" name="Rectangle 32"/>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3" name="TextBox 33"/>
          <p:cNvSpPr txBox="1"/>
          <p:nvPr/>
        </p:nvSpPr>
        <p:spPr>
          <a:xfrm>
            <a:off x="850011" y="6237446"/>
            <a:ext cx="1507587"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Sources verified</a:t>
            </a:r>
          </a:p>
        </p:txBody>
      </p:sp>
      <p:sp>
        <p:nvSpPr>
          <p:cNvPr id="34" name="TextBox 34"/>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5" name="TextBox 35"/>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14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4686487"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2 · RETRIEVAL AND DEDUP (S1b)</a:t>
            </a:r>
          </a:p>
        </p:txBody>
      </p:sp>
      <p:sp>
        <p:nvSpPr>
          <p:cNvPr id="4" name="TextBox 4"/>
          <p:cNvSpPr txBox="1"/>
          <p:nvPr/>
        </p:nvSpPr>
        <p:spPr>
          <a:xfrm>
            <a:off x="594360" y="723900"/>
            <a:ext cx="8280766"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Which strategy, how much reference data?</a:t>
            </a:r>
          </a:p>
        </p:txBody>
      </p:sp>
      <p:sp>
        <p:nvSpPr>
          <p:cNvPr id="5" name="TextBox 5"/>
          <p:cNvSpPr txBox="1"/>
          <p:nvPr/>
        </p:nvSpPr>
        <p:spPr>
          <a:xfrm>
            <a:off x="602361" y="1179671"/>
            <a:ext cx="2910558"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2：检索 / 去重 / 引用完整率</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7264038"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Retrieval needs both strategies, and a stronger dedup key</a:t>
            </a:r>
          </a:p>
        </p:txBody>
      </p:sp>
      <p:sp>
        <p:nvSpPr>
          <p:cNvPr id="9" name="TextBox 9"/>
          <p:cNvSpPr txBox="1"/>
          <p:nvPr/>
        </p:nvSpPr>
        <p:spPr>
          <a:xfrm>
            <a:off x="907161" y="2055971"/>
            <a:ext cx="880326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overlap 0.004–0.014 · duplicates 19.3–19.8% · reference completeness 1.5% / 14.3% vs broad 25–27%</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506203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ran broad, whitelist and expansion strategies over the same</a:t>
            </a:r>
          </a:p>
        </p:txBody>
      </p:sp>
      <p:sp>
        <p:nvSpPr>
          <p:cNvPr id="13" name="TextBox 13"/>
          <p:cNvSpPr txBox="1"/>
          <p:nvPr/>
        </p:nvSpPr>
        <p:spPr>
          <a:xfrm>
            <a:off x="602361" y="3275171"/>
            <a:ext cx="511463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window (994 records); compared result sets by title; counted</a:t>
            </a:r>
          </a:p>
        </p:txBody>
      </p:sp>
      <p:sp>
        <p:nvSpPr>
          <p:cNvPr id="14" name="TextBox 14"/>
          <p:cNvSpPr txBox="1"/>
          <p:nvPr/>
        </p:nvSpPr>
        <p:spPr>
          <a:xfrm>
            <a:off x="602361" y="3503771"/>
            <a:ext cx="383990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duplicate groups; probed incremental cursors</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515829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expansion adds 126/155 papers; references sit in 25–27% of</a:t>
            </a:r>
          </a:p>
        </p:txBody>
      </p:sp>
      <p:sp>
        <p:nvSpPr>
          <p:cNvPr id="18" name="TextBox 18"/>
          <p:cNvSpPr txBox="1"/>
          <p:nvPr/>
        </p:nvSpPr>
        <p:spPr>
          <a:xfrm>
            <a:off x="602361" y="4665821"/>
            <a:ext cx="524283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broad records vs 1.5% / 14.3% whitelist; updated_date is paid</a:t>
            </a:r>
          </a:p>
        </p:txBody>
      </p:sp>
      <p:sp>
        <p:nvSpPr>
          <p:cNvPr id="19" name="TextBox 19"/>
          <p:cNvSpPr txBox="1"/>
          <p:nvPr/>
        </p:nvSpPr>
        <p:spPr>
          <a:xfrm>
            <a:off x="602361" y="4894421"/>
            <a:ext cx="346278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(429), publication_date + cursor is stable</a:t>
            </a:r>
          </a:p>
        </p:txBody>
      </p:sp>
      <p:sp>
        <p:nvSpPr>
          <p:cNvPr id="20" name="TextBox 20"/>
          <p:cNvSpPr txBox="1"/>
          <p:nvPr/>
        </p:nvSpPr>
        <p:spPr>
          <a:xfrm>
            <a:off x="602361" y="5142071"/>
            <a:ext cx="5090266"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a 2050 date appeared; date filtering is mandatory</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290280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J(A,B) = |A ∩ B| / |A ∪ B|</a:t>
            </a:r>
          </a:p>
        </p:txBody>
      </p:sp>
      <p:sp>
        <p:nvSpPr>
          <p:cNvPr id="24" name="TextBox 24"/>
          <p:cNvSpPr txBox="1"/>
          <p:nvPr/>
        </p:nvSpPr>
        <p:spPr>
          <a:xfrm>
            <a:off x="6298311" y="3246596"/>
            <a:ext cx="279171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Consolas"/>
                <a:ea typeface="Consolas"/>
                <a:cs typeface="Consolas"/>
              </a:rPr>
              <a:t>= 0.014 (T1) / 0.004 (T2)</a:t>
            </a:r>
          </a:p>
        </p:txBody>
      </p:sp>
      <p:sp>
        <p:nvSpPr>
          <p:cNvPr id="25" name="TextBox 25"/>
          <p:cNvSpPr txBox="1"/>
          <p:nvPr/>
        </p:nvSpPr>
        <p:spPr>
          <a:xfrm>
            <a:off x="6126861" y="3446621"/>
            <a:ext cx="116144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结果集重合度</a:t>
            </a:r>
          </a:p>
        </p:txBody>
      </p:sp>
      <p:sp>
        <p:nvSpPr>
          <p:cNvPr id="26" name="TextBox 26"/>
          <p:cNvSpPr txBox="1"/>
          <p:nvPr/>
        </p:nvSpPr>
        <p:spPr>
          <a:xfrm>
            <a:off x="6126861" y="3741896"/>
            <a:ext cx="274807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dup_rate = 101/511, 93/483</a:t>
            </a:r>
          </a:p>
        </p:txBody>
      </p:sp>
      <p:sp>
        <p:nvSpPr>
          <p:cNvPr id="27" name="TextBox 27"/>
          <p:cNvSpPr txBox="1"/>
          <p:nvPr/>
        </p:nvSpPr>
        <p:spPr>
          <a:xfrm>
            <a:off x="6126861" y="3941921"/>
            <a:ext cx="116144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同标题重复率</a:t>
            </a:r>
          </a:p>
        </p:txBody>
      </p:sp>
      <p:sp>
        <p:nvSpPr>
          <p:cNvPr id="28" name="TextBox 28"/>
          <p:cNvSpPr txBox="1"/>
          <p:nvPr/>
        </p:nvSpPr>
        <p:spPr>
          <a:xfrm>
            <a:off x="6126861" y="4237196"/>
            <a:ext cx="327376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ref_completeness = 1.5% / 14.3%</a:t>
            </a:r>
          </a:p>
        </p:txBody>
      </p:sp>
      <p:sp>
        <p:nvSpPr>
          <p:cNvPr id="29" name="TextBox 29"/>
          <p:cNvSpPr txBox="1"/>
          <p:nvPr/>
        </p:nvSpPr>
        <p:spPr>
          <a:xfrm>
            <a:off x="6126861" y="4437221"/>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引用完整率</a:t>
            </a:r>
          </a:p>
        </p:txBody>
      </p:sp>
      <p:sp>
        <p:nvSpPr>
          <p:cNvPr id="30" name="TextBox 30"/>
          <p:cNvSpPr txBox="1"/>
          <p:nvPr/>
        </p:nvSpPr>
        <p:spPr>
          <a:xfrm>
            <a:off x="6126861" y="4732496"/>
            <a:ext cx="270244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new = |E \ W| = 126 / 155</a:t>
            </a:r>
          </a:p>
        </p:txBody>
      </p:sp>
      <p:sp>
        <p:nvSpPr>
          <p:cNvPr id="31" name="TextBox 31"/>
          <p:cNvSpPr txBox="1"/>
          <p:nvPr/>
        </p:nvSpPr>
        <p:spPr>
          <a:xfrm>
            <a:off x="6126861" y="4932521"/>
            <a:ext cx="1352601"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扩展查询新增数</a:t>
            </a:r>
          </a:p>
        </p:txBody>
      </p:sp>
      <p:sp>
        <p:nvSpPr>
          <p:cNvPr id="32" name="TextBox 32"/>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3" name="TextBox 33"/>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4" name="TextBox 34"/>
          <p:cNvSpPr txBox="1"/>
          <p:nvPr/>
        </p:nvSpPr>
        <p:spPr>
          <a:xfrm>
            <a:off x="2850261" y="5732621"/>
            <a:ext cx="825177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whitelist + multi-query expansion; DOI+title+year dedup with merged_ids; reverse cited_by edges</a:t>
            </a:r>
          </a:p>
        </p:txBody>
      </p:sp>
      <p:sp>
        <p:nvSpPr>
          <p:cNvPr id="35" name="Rectangle 35"/>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6" name="Rectangle 36"/>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7" name="TextBox 37"/>
          <p:cNvSpPr txBox="1"/>
          <p:nvPr/>
        </p:nvSpPr>
        <p:spPr>
          <a:xfrm>
            <a:off x="850011" y="6237446"/>
            <a:ext cx="1772931"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Retrieval plan fixed</a:t>
            </a:r>
          </a:p>
        </p:txBody>
      </p:sp>
      <p:sp>
        <p:nvSpPr>
          <p:cNvPr id="38" name="TextBox 38"/>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9" name="TextBox 39"/>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15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93116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3 · STORAGE STACK (S3)</a:t>
            </a:r>
          </a:p>
        </p:txBody>
      </p:sp>
      <p:sp>
        <p:nvSpPr>
          <p:cNvPr id="4" name="TextBox 4"/>
          <p:cNvSpPr txBox="1"/>
          <p:nvPr/>
        </p:nvSpPr>
        <p:spPr>
          <a:xfrm>
            <a:off x="594360" y="723900"/>
            <a:ext cx="6778640"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Do three stores survive 5k papers?</a:t>
            </a:r>
          </a:p>
        </p:txBody>
      </p:sp>
      <p:sp>
        <p:nvSpPr>
          <p:cNvPr id="5" name="TextBox 5"/>
          <p:cNvSpPr txBox="1"/>
          <p:nvPr/>
        </p:nvSpPr>
        <p:spPr>
          <a:xfrm>
            <a:off x="602361" y="1179671"/>
            <a:ext cx="2088568"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3：存储栈（三库）</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5295779"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The three-store split holds at 5,000 papers</a:t>
            </a:r>
          </a:p>
        </p:txBody>
      </p:sp>
      <p:sp>
        <p:nvSpPr>
          <p:cNvPr id="9" name="TextBox 9"/>
          <p:cNvSpPr txBox="1"/>
          <p:nvPr/>
        </p:nvSpPr>
        <p:spPr>
          <a:xfrm>
            <a:off x="907161" y="2055971"/>
            <a:ext cx="84310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graph 2-hop p95 4.42 ms · author agg p95 5.06 ms · SQLite p50 0.07 ms · growth 0 · disk 64.9 MB</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532892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imported 5,000 records into SQLite, Kuzu and Qdrant; ran four</a:t>
            </a:r>
          </a:p>
        </p:txBody>
      </p:sp>
      <p:sp>
        <p:nvSpPr>
          <p:cNvPr id="13" name="TextBox 13"/>
          <p:cNvSpPr txBox="1"/>
          <p:nvPr/>
        </p:nvSpPr>
        <p:spPr>
          <a:xfrm>
            <a:off x="602361" y="3275171"/>
            <a:ext cx="510439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query classes 30 rounds each; re-imported the batch; rebuilt</a:t>
            </a:r>
          </a:p>
        </p:txBody>
      </p:sp>
      <p:sp>
        <p:nvSpPr>
          <p:cNvPr id="14" name="TextBox 14"/>
          <p:cNvSpPr txBox="1"/>
          <p:nvPr/>
        </p:nvSpPr>
        <p:spPr>
          <a:xfrm>
            <a:off x="602361" y="3503771"/>
            <a:ext cx="280905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the indexes from the truth source</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503443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all 20,000 edges via MATCH+MERGE; rebuild reproduced</a:t>
            </a:r>
          </a:p>
        </p:txBody>
      </p:sp>
      <p:sp>
        <p:nvSpPr>
          <p:cNvPr id="18" name="TextBox 18"/>
          <p:cNvSpPr txBox="1"/>
          <p:nvPr/>
        </p:nvSpPr>
        <p:spPr>
          <a:xfrm>
            <a:off x="602361" y="4665821"/>
            <a:ext cx="491227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identical counts; single-writer semantics confirmed; import</a:t>
            </a:r>
          </a:p>
        </p:txBody>
      </p:sp>
      <p:sp>
        <p:nvSpPr>
          <p:cNvPr id="19" name="TextBox 19"/>
          <p:cNvSpPr txBox="1"/>
          <p:nvPr/>
        </p:nvSpPr>
        <p:spPr>
          <a:xfrm>
            <a:off x="602361" y="4894421"/>
            <a:ext cx="427563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times sqlite 0.22 s / qdrant 26.78 s / kuzu 169.46 s</a:t>
            </a:r>
          </a:p>
        </p:txBody>
      </p:sp>
      <p:sp>
        <p:nvSpPr>
          <p:cNvPr id="20" name="TextBox 20"/>
          <p:cNvSpPr txBox="1"/>
          <p:nvPr/>
        </p:nvSpPr>
        <p:spPr>
          <a:xfrm>
            <a:off x="602361" y="5142071"/>
            <a:ext cx="4721052"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a stale Kuzu DB inflated counts (631 vs 957)</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306348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p95 = percentile(latency, 95)</a:t>
            </a:r>
          </a:p>
        </p:txBody>
      </p:sp>
      <p:sp>
        <p:nvSpPr>
          <p:cNvPr id="24" name="TextBox 24"/>
          <p:cNvSpPr txBox="1"/>
          <p:nvPr/>
        </p:nvSpPr>
        <p:spPr>
          <a:xfrm>
            <a:off x="6126861" y="3246596"/>
            <a:ext cx="1046744"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95 分位延迟</a:t>
            </a:r>
          </a:p>
        </p:txBody>
      </p:sp>
      <p:sp>
        <p:nvSpPr>
          <p:cNvPr id="25" name="TextBox 25"/>
          <p:cNvSpPr txBox="1"/>
          <p:nvPr/>
        </p:nvSpPr>
        <p:spPr>
          <a:xfrm>
            <a:off x="6126861" y="3541871"/>
            <a:ext cx="285321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growth = after − before = 0</a:t>
            </a:r>
          </a:p>
        </p:txBody>
      </p:sp>
      <p:sp>
        <p:nvSpPr>
          <p:cNvPr id="26" name="TextBox 26"/>
          <p:cNvSpPr txBox="1"/>
          <p:nvPr/>
        </p:nvSpPr>
        <p:spPr>
          <a:xfrm>
            <a:off x="6126861" y="374189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幂等零增长</a:t>
            </a:r>
          </a:p>
        </p:txBody>
      </p:sp>
      <p:sp>
        <p:nvSpPr>
          <p:cNvPr id="27" name="TextBox 27"/>
          <p:cNvSpPr txBox="1"/>
          <p:nvPr/>
        </p:nvSpPr>
        <p:spPr>
          <a:xfrm>
            <a:off x="6126861" y="4037171"/>
            <a:ext cx="408511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disk = 12.89 + 49.06 + 2.95 = 64.90 MB</a:t>
            </a:r>
          </a:p>
        </p:txBody>
      </p:sp>
      <p:sp>
        <p:nvSpPr>
          <p:cNvPr id="28" name="TextBox 28"/>
          <p:cNvSpPr txBox="1"/>
          <p:nvPr/>
        </p:nvSpPr>
        <p:spPr>
          <a:xfrm>
            <a:off x="6126861" y="4237196"/>
            <a:ext cx="77912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磁盘合计</a:t>
            </a:r>
          </a:p>
        </p:txBody>
      </p:sp>
      <p:sp>
        <p:nvSpPr>
          <p:cNvPr id="29" name="TextBox 29"/>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0" name="TextBox 30"/>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1" name="TextBox 31"/>
          <p:cNvSpPr txBox="1"/>
          <p:nvPr/>
        </p:nvSpPr>
        <p:spPr>
          <a:xfrm>
            <a:off x="2850261" y="5732621"/>
            <a:ext cx="820284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no store swap needed; count reconciliation became mandatory; vector latency moves to Phase 1</a:t>
            </a:r>
          </a:p>
        </p:txBody>
      </p:sp>
      <p:sp>
        <p:nvSpPr>
          <p:cNvPr id="32" name="Rectangle 32"/>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3" name="Rectangle 33"/>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4" name="TextBox 34"/>
          <p:cNvSpPr txBox="1"/>
          <p:nvPr/>
        </p:nvSpPr>
        <p:spPr>
          <a:xfrm>
            <a:off x="850011" y="6237446"/>
            <a:ext cx="1507681"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Storage decided</a:t>
            </a:r>
          </a:p>
        </p:txBody>
      </p:sp>
      <p:sp>
        <p:nvSpPr>
          <p:cNvPr id="35" name="TextBox 35"/>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6" name="TextBox 36"/>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16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414755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4 · VECTOR LATENCY (S3b)</a:t>
            </a:r>
          </a:p>
        </p:txBody>
      </p:sp>
      <p:sp>
        <p:nvSpPr>
          <p:cNvPr id="4" name="TextBox 4"/>
          <p:cNvSpPr txBox="1"/>
          <p:nvPr/>
        </p:nvSpPr>
        <p:spPr>
          <a:xfrm>
            <a:off x="594360" y="723900"/>
            <a:ext cx="6956799"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Why vector search missed its target</a:t>
            </a:r>
          </a:p>
        </p:txBody>
      </p:sp>
      <p:sp>
        <p:nvSpPr>
          <p:cNvPr id="5" name="TextBox 5"/>
          <p:cNvSpPr txBox="1"/>
          <p:nvPr/>
        </p:nvSpPr>
        <p:spPr>
          <a:xfrm>
            <a:off x="602361" y="1179671"/>
            <a:ext cx="2279729"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4：向量检索延迟归因</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7984703"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155 ms is a deployment-mode property, not an architecture flaw</a:t>
            </a:r>
          </a:p>
        </p:txBody>
      </p:sp>
      <p:sp>
        <p:nvSpPr>
          <p:cNvPr id="9" name="TextBox 9"/>
          <p:cNvSpPr txBox="1"/>
          <p:nvPr/>
        </p:nvSpPr>
        <p:spPr>
          <a:xfrm>
            <a:off x="907161" y="2055971"/>
            <a:ext cx="945360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pure math floor 0.65 ms (0.3%) · Python glue ~26% · payload filtering +140 ms (74%) · local mode has no ANN</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505510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read the local-mode implementation (0 hits for HNSW, 0 for</a:t>
            </a:r>
          </a:p>
        </p:txBody>
      </p:sp>
      <p:sp>
        <p:nvSpPr>
          <p:cNvPr id="13" name="TextBox 13"/>
          <p:cNvSpPr txBox="1"/>
          <p:nvPr/>
        </p:nvSpPr>
        <p:spPr>
          <a:xfrm>
            <a:off x="602361" y="3275171"/>
            <a:ext cx="514740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np.dot); ran an attribution probe at 5,000 points / 1,024 dims;</a:t>
            </a:r>
          </a:p>
        </p:txBody>
      </p:sp>
      <p:sp>
        <p:nvSpPr>
          <p:cNvPr id="14" name="TextBox 14"/>
          <p:cNvSpPr txBox="1"/>
          <p:nvPr/>
        </p:nvSpPr>
        <p:spPr>
          <a:xfrm>
            <a:off x="602361" y="3503771"/>
            <a:ext cx="343644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added a scale curve from 1,250 to 5,000</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500911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local without filters 49.91 ms p50; payload indexes have no</a:t>
            </a:r>
          </a:p>
        </p:txBody>
      </p:sp>
      <p:sp>
        <p:nvSpPr>
          <p:cNvPr id="18" name="TextBox 18"/>
          <p:cNvSpPr txBox="1"/>
          <p:nvPr/>
        </p:nvSpPr>
        <p:spPr>
          <a:xfrm>
            <a:off x="602361" y="4665821"/>
            <a:ext cx="521098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effect in local mode; year&gt;=2020 matches all 5,000 points yet</a:t>
            </a:r>
          </a:p>
        </p:txBody>
      </p:sp>
      <p:sp>
        <p:nvSpPr>
          <p:cNvPr id="19" name="TextBox 19"/>
          <p:cNvSpPr txBox="1"/>
          <p:nvPr/>
        </p:nvSpPr>
        <p:spPr>
          <a:xfrm>
            <a:off x="602361" y="4894421"/>
            <a:ext cx="386613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costs +112 ms, so cost tracks scanned points</a:t>
            </a:r>
          </a:p>
        </p:txBody>
      </p:sp>
      <p:sp>
        <p:nvSpPr>
          <p:cNvPr id="20" name="TextBox 20"/>
          <p:cNvSpPr txBox="1"/>
          <p:nvPr/>
        </p:nvSpPr>
        <p:spPr>
          <a:xfrm>
            <a:off x="602361" y="5142071"/>
            <a:ext cx="4591872"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100 ms assumed a production ANN engine</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295834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share = 0.65 / 189.32 ≈ 0.3%</a:t>
            </a:r>
          </a:p>
        </p:txBody>
      </p:sp>
      <p:sp>
        <p:nvSpPr>
          <p:cNvPr id="24" name="TextBox 24"/>
          <p:cNvSpPr txBox="1"/>
          <p:nvPr/>
        </p:nvSpPr>
        <p:spPr>
          <a:xfrm>
            <a:off x="6126861" y="324659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纯算力占比</a:t>
            </a:r>
          </a:p>
        </p:txBody>
      </p:sp>
      <p:sp>
        <p:nvSpPr>
          <p:cNvPr id="25" name="TextBox 25"/>
          <p:cNvSpPr txBox="1"/>
          <p:nvPr/>
        </p:nvSpPr>
        <p:spPr>
          <a:xfrm>
            <a:off x="6126861" y="3541871"/>
            <a:ext cx="327376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overhead_filter ≈ +140 ms (74%)</a:t>
            </a:r>
          </a:p>
        </p:txBody>
      </p:sp>
      <p:sp>
        <p:nvSpPr>
          <p:cNvPr id="26" name="TextBox 26"/>
          <p:cNvSpPr txBox="1"/>
          <p:nvPr/>
        </p:nvSpPr>
        <p:spPr>
          <a:xfrm>
            <a:off x="6126861" y="3741896"/>
            <a:ext cx="77912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过滤开销</a:t>
            </a:r>
          </a:p>
        </p:txBody>
      </p:sp>
      <p:sp>
        <p:nvSpPr>
          <p:cNvPr id="27" name="TextBox 27"/>
          <p:cNvSpPr txBox="1"/>
          <p:nvPr/>
        </p:nvSpPr>
        <p:spPr>
          <a:xfrm>
            <a:off x="6126861" y="4037171"/>
            <a:ext cx="3925563" cy="278702"/>
          </a:xfrm>
          <a:prstGeom prst="rect">
            <a:avLst/>
          </a:prstGeom>
          <a:noFill/>
          <a:ln>
            <a:noFill/>
          </a:ln>
        </p:spPr>
        <p:txBody>
          <a:bodyPr wrap="none" lIns="0" tIns="0" rIns="0" bIns="0" anchor="t" anchorCtr="0">
            <a:spAutoFit/>
          </a:bodyPr>
          <a:lstStyle/>
          <a:p>
            <a:pPr algn="l"/>
            <a:r>
              <a:rPr lang="el-GR" sz="1420" dirty="0">
                <a:solidFill>
                  <a:srgbClr val="0F172A"/>
                </a:solidFill>
                <a:latin typeface="Consolas"/>
                <a:ea typeface="Consolas"/>
                <a:cs typeface="Consolas"/>
              </a:rPr>
              <a:t>slope = Δt / Δpoints ≈ 0.038 ms/point</a:t>
            </a:r>
          </a:p>
        </p:txBody>
      </p:sp>
      <p:sp>
        <p:nvSpPr>
          <p:cNvPr id="28" name="TextBox 28"/>
          <p:cNvSpPr txBox="1"/>
          <p:nvPr/>
        </p:nvSpPr>
        <p:spPr>
          <a:xfrm>
            <a:off x="6126861" y="4237196"/>
            <a:ext cx="77912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线性斜率</a:t>
            </a:r>
          </a:p>
        </p:txBody>
      </p:sp>
      <p:sp>
        <p:nvSpPr>
          <p:cNvPr id="29" name="TextBox 29"/>
          <p:cNvSpPr txBox="1"/>
          <p:nvPr/>
        </p:nvSpPr>
        <p:spPr>
          <a:xfrm>
            <a:off x="6126861" y="4532471"/>
            <a:ext cx="358917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t(20k) ≈ 0.038 ms × 20000 ≈ 0.76 s</a:t>
            </a:r>
          </a:p>
        </p:txBody>
      </p:sp>
      <p:sp>
        <p:nvSpPr>
          <p:cNvPr id="30" name="TextBox 30"/>
          <p:cNvSpPr txBox="1"/>
          <p:nvPr/>
        </p:nvSpPr>
        <p:spPr>
          <a:xfrm>
            <a:off x="6126861" y="4732496"/>
            <a:ext cx="77912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规模外推</a:t>
            </a:r>
          </a:p>
        </p:txBody>
      </p:sp>
      <p:sp>
        <p:nvSpPr>
          <p:cNvPr id="31" name="TextBox 31"/>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2" name="TextBox 32"/>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3" name="TextBox 33"/>
          <p:cNvSpPr txBox="1"/>
          <p:nvPr/>
        </p:nvSpPr>
        <p:spPr>
          <a:xfrm>
            <a:off x="2850261" y="5732621"/>
            <a:ext cx="770991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exact kNN (higher recall, slower); deployment mode + target recalibration move to Phase 1</a:t>
            </a:r>
          </a:p>
        </p:txBody>
      </p:sp>
      <p:sp>
        <p:nvSpPr>
          <p:cNvPr id="34" name="Rectangle 34"/>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5" name="Rectangle 35"/>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6" name="TextBox 36"/>
          <p:cNvSpPr txBox="1"/>
          <p:nvPr/>
        </p:nvSpPr>
        <p:spPr>
          <a:xfrm>
            <a:off x="850011" y="6237446"/>
            <a:ext cx="1592745"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Not a design flaw</a:t>
            </a:r>
          </a:p>
        </p:txBody>
      </p:sp>
      <p:sp>
        <p:nvSpPr>
          <p:cNvPr id="37" name="TextBox 37"/>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8" name="TextBox 38"/>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17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841368"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5 · CRASH RESUME (S4)</a:t>
            </a:r>
          </a:p>
        </p:txBody>
      </p:sp>
      <p:sp>
        <p:nvSpPr>
          <p:cNvPr id="4" name="TextBox 4"/>
          <p:cNvSpPr txBox="1"/>
          <p:nvPr/>
        </p:nvSpPr>
        <p:spPr>
          <a:xfrm>
            <a:off x="594360" y="723900"/>
            <a:ext cx="5744508"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Six scenarios, three hard kills</a:t>
            </a:r>
          </a:p>
        </p:txBody>
      </p:sp>
      <p:sp>
        <p:nvSpPr>
          <p:cNvPr id="5" name="TextBox 5"/>
          <p:cNvSpPr txBox="1"/>
          <p:nvPr/>
        </p:nvSpPr>
        <p:spPr>
          <a:xfrm>
            <a:off x="602361" y="1179671"/>
            <a:ext cx="1515087"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5：断点续跑</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8648586"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Node-boundary resume reproduces the run; replaying input does not</a:t>
            </a:r>
          </a:p>
        </p:txBody>
      </p:sp>
      <p:sp>
        <p:nvSpPr>
          <p:cNvPr id="9" name="TextBox 9"/>
          <p:cNvSpPr txBox="1"/>
          <p:nvPr/>
        </p:nvSpPr>
        <p:spPr>
          <a:xfrm>
            <a:off x="907161" y="2055971"/>
            <a:ext cx="8700846"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invoke(None) matched the control state field by field · events 1..N across 3 kills · checkpoint 28–37 KB</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498724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ran six scenarios (control, single crash, double crash, input</a:t>
            </a:r>
          </a:p>
        </p:txBody>
      </p:sp>
      <p:sp>
        <p:nvSpPr>
          <p:cNvPr id="13" name="TextBox 13"/>
          <p:cNvSpPr txBox="1"/>
          <p:nvPr/>
        </p:nvSpPr>
        <p:spPr>
          <a:xfrm>
            <a:off x="602361" y="3275171"/>
            <a:ext cx="512419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drift, re-trigger, correct resume) with deterministic os._exit(9)</a:t>
            </a:r>
          </a:p>
        </p:txBody>
      </p:sp>
      <p:sp>
        <p:nvSpPr>
          <p:cNvPr id="14" name="TextBox 14"/>
          <p:cNvSpPr txBox="1"/>
          <p:nvPr/>
        </p:nvSpPr>
        <p:spPr>
          <a:xfrm>
            <a:off x="602361" y="3503771"/>
            <a:ext cx="225629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kills; compared final states</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4695586"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invoke(None) reproduces the control state field by field;</a:t>
            </a:r>
          </a:p>
        </p:txBody>
      </p:sp>
      <p:sp>
        <p:nvSpPr>
          <p:cNvPr id="18" name="TextBox 18"/>
          <p:cNvSpPr txBox="1"/>
          <p:nvPr/>
        </p:nvSpPr>
        <p:spPr>
          <a:xfrm>
            <a:off x="602361" y="4665821"/>
            <a:ext cx="480589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passing the full input replays from START (fetch ran 2–3</a:t>
            </a:r>
          </a:p>
        </p:txBody>
      </p:sp>
      <p:sp>
        <p:nvSpPr>
          <p:cNvPr id="19" name="TextBox 19"/>
          <p:cNvSpPr txBox="1"/>
          <p:nvPr/>
        </p:nvSpPr>
        <p:spPr>
          <a:xfrm>
            <a:off x="602361" y="4894421"/>
            <a:ext cx="309564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times); crashed nodes always re-run</a:t>
            </a:r>
          </a:p>
        </p:txBody>
      </p:sp>
      <p:sp>
        <p:nvSpPr>
          <p:cNvPr id="20" name="TextBox 20"/>
          <p:cNvSpPr txBox="1"/>
          <p:nvPr/>
        </p:nvSpPr>
        <p:spPr>
          <a:xfrm>
            <a:off x="602361" y="5142071"/>
            <a:ext cx="4766603"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events stayed contiguous (1..N) across 3 kills</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400973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resume_ok = (state_resumed == control)</a:t>
            </a:r>
          </a:p>
        </p:txBody>
      </p:sp>
      <p:sp>
        <p:nvSpPr>
          <p:cNvPr id="24" name="TextBox 24"/>
          <p:cNvSpPr txBox="1"/>
          <p:nvPr/>
        </p:nvSpPr>
        <p:spPr>
          <a:xfrm>
            <a:off x="6126861" y="3246596"/>
            <a:ext cx="1352601"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状态逐字段一致</a:t>
            </a:r>
          </a:p>
        </p:txBody>
      </p:sp>
      <p:sp>
        <p:nvSpPr>
          <p:cNvPr id="25" name="TextBox 25"/>
          <p:cNvSpPr txBox="1"/>
          <p:nvPr/>
        </p:nvSpPr>
        <p:spPr>
          <a:xfrm>
            <a:off x="6126861" y="3541871"/>
            <a:ext cx="381808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ckpt_per_step = bytes / steps ≈ 4 KB</a:t>
            </a:r>
          </a:p>
        </p:txBody>
      </p:sp>
      <p:sp>
        <p:nvSpPr>
          <p:cNvPr id="26" name="TextBox 26"/>
          <p:cNvSpPr txBox="1"/>
          <p:nvPr/>
        </p:nvSpPr>
        <p:spPr>
          <a:xfrm>
            <a:off x="6126861" y="374189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单步检查点</a:t>
            </a:r>
          </a:p>
        </p:txBody>
      </p:sp>
      <p:sp>
        <p:nvSpPr>
          <p:cNvPr id="27" name="TextBox 27"/>
          <p:cNvSpPr txBox="1"/>
          <p:nvPr/>
        </p:nvSpPr>
        <p:spPr>
          <a:xfrm>
            <a:off x="6126861" y="4037171"/>
            <a:ext cx="360757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gaps = N_expected − N_observed = 0</a:t>
            </a:r>
          </a:p>
        </p:txBody>
      </p:sp>
      <p:sp>
        <p:nvSpPr>
          <p:cNvPr id="28" name="TextBox 28"/>
          <p:cNvSpPr txBox="1"/>
          <p:nvPr/>
        </p:nvSpPr>
        <p:spPr>
          <a:xfrm>
            <a:off x="6126861" y="4237196"/>
            <a:ext cx="1352601"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事件序号无缺口</a:t>
            </a:r>
          </a:p>
        </p:txBody>
      </p:sp>
      <p:sp>
        <p:nvSpPr>
          <p:cNvPr id="29" name="TextBox 29"/>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0" name="TextBox 30"/>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1" name="TextBox 31"/>
          <p:cNvSpPr txBox="1"/>
          <p:nvPr/>
        </p:nvSpPr>
        <p:spPr>
          <a:xfrm>
            <a:off x="2850261" y="5732621"/>
            <a:ext cx="787306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node idempotency is a hard requirement; a resume guard (G15) covers drift and re-triggering</a:t>
            </a:r>
          </a:p>
        </p:txBody>
      </p:sp>
      <p:sp>
        <p:nvSpPr>
          <p:cNvPr id="32" name="Rectangle 32"/>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3" name="Rectangle 33"/>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4" name="TextBox 34"/>
          <p:cNvSpPr txBox="1"/>
          <p:nvPr/>
        </p:nvSpPr>
        <p:spPr>
          <a:xfrm>
            <a:off x="850011" y="6237446"/>
            <a:ext cx="1678348"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Resume rule book</a:t>
            </a:r>
          </a:p>
        </p:txBody>
      </p:sp>
      <p:sp>
        <p:nvSpPr>
          <p:cNvPr id="35" name="TextBox 35"/>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6" name="TextBox 36"/>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18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66204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6 · CLOSED LOOP (S5)</a:t>
            </a:r>
          </a:p>
        </p:txBody>
      </p:sp>
      <p:sp>
        <p:nvSpPr>
          <p:cNvPr id="4" name="TextBox 4"/>
          <p:cNvSpPr txBox="1"/>
          <p:nvPr/>
        </p:nvSpPr>
        <p:spPr>
          <a:xfrm>
            <a:off x="594360" y="723900"/>
            <a:ext cx="5293366"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From topic to citable report</a:t>
            </a:r>
          </a:p>
        </p:txBody>
      </p:sp>
      <p:sp>
        <p:nvSpPr>
          <p:cNvPr id="5" name="TextBox 5"/>
          <p:cNvSpPr txBox="1"/>
          <p:nvPr/>
        </p:nvSpPr>
        <p:spPr>
          <a:xfrm>
            <a:off x="602361" y="1179671"/>
            <a:ext cx="2490005"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6：单 topic 端到端闭环</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6767630"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One topic becomes a verifiable report for about a cent</a:t>
            </a:r>
          </a:p>
        </p:txBody>
      </p:sp>
      <p:sp>
        <p:nvSpPr>
          <p:cNvPr id="9" name="TextBox 9"/>
          <p:cNvSpPr txBox="1"/>
          <p:nvPr/>
        </p:nvSpPr>
        <p:spPr>
          <a:xfrm>
            <a:off x="907161" y="2055971"/>
            <a:ext cx="9142922"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100% of claims citable · 8.9k–10.8k characters, 16–23 claims · $0.0036–0.0126 cold in 60–91 s · $0 cached</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490793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one HTTP request fetched 24 real OpenAlex records with</a:t>
            </a:r>
          </a:p>
        </p:txBody>
      </p:sp>
      <p:sp>
        <p:nvSpPr>
          <p:cNvPr id="13" name="TextBox 13"/>
          <p:cNvSpPr txBox="1"/>
          <p:nvPr/>
        </p:nvSpPr>
        <p:spPr>
          <a:xfrm>
            <a:off x="602361" y="3275171"/>
            <a:ext cx="532705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abstracts; the full chain ran locally; cost and latency come from</a:t>
            </a:r>
          </a:p>
        </p:txBody>
      </p:sp>
      <p:sp>
        <p:nvSpPr>
          <p:cNvPr id="14" name="TextBox 14"/>
          <p:cNvSpPr txBox="1"/>
          <p:nvPr/>
        </p:nvSpPr>
        <p:spPr>
          <a:xfrm>
            <a:off x="602361" y="3503771"/>
            <a:ext cx="4520243"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the event log; the run was repeated on a warm cache</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504054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report 8.9k–10.8k characters, 16–23 claims, all citable; cold</a:t>
            </a:r>
          </a:p>
        </p:txBody>
      </p:sp>
      <p:sp>
        <p:nvSpPr>
          <p:cNvPr id="18" name="TextBox 18"/>
          <p:cNvSpPr txBox="1"/>
          <p:nvPr/>
        </p:nvSpPr>
        <p:spPr>
          <a:xfrm>
            <a:off x="602361" y="4665821"/>
            <a:ext cx="530706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start $0.0036–0.0126 in 60–91 s; cached rerun $0 in 0.1 s with</a:t>
            </a:r>
          </a:p>
        </p:txBody>
      </p:sp>
      <p:sp>
        <p:nvSpPr>
          <p:cNvPr id="19" name="TextBox 19"/>
          <p:cNvSpPr txBox="1"/>
          <p:nvPr/>
        </p:nvSpPr>
        <p:spPr>
          <a:xfrm>
            <a:off x="602361" y="4894421"/>
            <a:ext cx="364862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byte-identical claims; 33–34 events per run</a:t>
            </a:r>
          </a:p>
        </p:txBody>
      </p:sp>
      <p:sp>
        <p:nvSpPr>
          <p:cNvPr id="20" name="TextBox 20"/>
          <p:cNvSpPr txBox="1"/>
          <p:nvPr/>
        </p:nvSpPr>
        <p:spPr>
          <a:xfrm>
            <a:off x="602361" y="5142071"/>
            <a:ext cx="4409140"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small max_tokens returns an empty body</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3915602" cy="278702"/>
          </a:xfrm>
          <a:prstGeom prst="rect">
            <a:avLst/>
          </a:prstGeom>
          <a:noFill/>
          <a:ln>
            <a:noFill/>
          </a:ln>
        </p:spPr>
        <p:txBody>
          <a:bodyPr wrap="none" lIns="0" tIns="0" rIns="0" bIns="0" anchor="t" anchorCtr="0">
            <a:spAutoFit/>
          </a:bodyPr>
          <a:lstStyle/>
          <a:p>
            <a:pPr algn="l"/>
            <a:r>
              <a:rPr lang="el-GR" sz="1420" dirty="0">
                <a:solidFill>
                  <a:srgbClr val="0F172A"/>
                </a:solidFill>
                <a:latin typeface="Consolas"/>
                <a:ea typeface="Consolas"/>
                <a:cs typeface="Consolas"/>
              </a:rPr>
              <a:t>cost_run = Σ(in × p_in + out × p_out)</a:t>
            </a:r>
          </a:p>
        </p:txBody>
      </p:sp>
      <p:sp>
        <p:nvSpPr>
          <p:cNvPr id="24" name="TextBox 24"/>
          <p:cNvSpPr txBox="1"/>
          <p:nvPr/>
        </p:nvSpPr>
        <p:spPr>
          <a:xfrm>
            <a:off x="6126861" y="3246596"/>
            <a:ext cx="116144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单次成本累加</a:t>
            </a:r>
          </a:p>
        </p:txBody>
      </p:sp>
      <p:sp>
        <p:nvSpPr>
          <p:cNvPr id="25" name="TextBox 25"/>
          <p:cNvSpPr txBox="1"/>
          <p:nvPr/>
        </p:nvSpPr>
        <p:spPr>
          <a:xfrm>
            <a:off x="6126861" y="3541871"/>
            <a:ext cx="390459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citable_rate = citable / claims = 1.0</a:t>
            </a:r>
          </a:p>
        </p:txBody>
      </p:sp>
      <p:sp>
        <p:nvSpPr>
          <p:cNvPr id="26" name="TextBox 26"/>
          <p:cNvSpPr txBox="1"/>
          <p:nvPr/>
        </p:nvSpPr>
        <p:spPr>
          <a:xfrm>
            <a:off x="6126861" y="3741896"/>
            <a:ext cx="116144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可回查引用率</a:t>
            </a:r>
          </a:p>
        </p:txBody>
      </p:sp>
      <p:sp>
        <p:nvSpPr>
          <p:cNvPr id="27" name="TextBox 27"/>
          <p:cNvSpPr txBox="1"/>
          <p:nvPr/>
        </p:nvSpPr>
        <p:spPr>
          <a:xfrm>
            <a:off x="6126861" y="4037171"/>
            <a:ext cx="4220007"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saving = 1 − cost_cached / cost_cold = 1</a:t>
            </a:r>
          </a:p>
        </p:txBody>
      </p:sp>
      <p:sp>
        <p:nvSpPr>
          <p:cNvPr id="28" name="TextBox 28"/>
          <p:cNvSpPr txBox="1"/>
          <p:nvPr/>
        </p:nvSpPr>
        <p:spPr>
          <a:xfrm>
            <a:off x="6126861" y="4237196"/>
            <a:ext cx="77912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缓存节省</a:t>
            </a:r>
          </a:p>
        </p:txBody>
      </p:sp>
      <p:sp>
        <p:nvSpPr>
          <p:cNvPr id="29" name="TextBox 29"/>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0" name="TextBox 30"/>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1" name="TextBox 31"/>
          <p:cNvSpPr txBox="1"/>
          <p:nvPr/>
        </p:nvSpPr>
        <p:spPr>
          <a:xfrm>
            <a:off x="2850261" y="5732621"/>
            <a:ext cx="742094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feasible and cheap; the gateway must catch truncation that looks like an empty success</a:t>
            </a:r>
          </a:p>
        </p:txBody>
      </p:sp>
      <p:sp>
        <p:nvSpPr>
          <p:cNvPr id="32" name="Rectangle 32"/>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3" name="Rectangle 33"/>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4" name="TextBox 34"/>
          <p:cNvSpPr txBox="1"/>
          <p:nvPr/>
        </p:nvSpPr>
        <p:spPr>
          <a:xfrm>
            <a:off x="850011" y="6237446"/>
            <a:ext cx="2251404"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Loop feasible and cheap</a:t>
            </a:r>
          </a:p>
        </p:txBody>
      </p:sp>
      <p:sp>
        <p:nvSpPr>
          <p:cNvPr id="35" name="TextBox 35"/>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6" name="TextBox 36"/>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19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46829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7 · GUARDS AND INJECTION (S6)</a:t>
            </a:r>
          </a:p>
        </p:txBody>
      </p:sp>
      <p:sp>
        <p:nvSpPr>
          <p:cNvPr id="4" name="TextBox 4"/>
          <p:cNvSpPr txBox="1"/>
          <p:nvPr/>
        </p:nvSpPr>
        <p:spPr>
          <a:xfrm>
            <a:off x="594360" y="723900"/>
            <a:ext cx="6596484"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Do the guards fire, and only then?</a:t>
            </a:r>
          </a:p>
        </p:txBody>
      </p:sp>
      <p:sp>
        <p:nvSpPr>
          <p:cNvPr id="5" name="TextBox 5"/>
          <p:cNvSpPr txBox="1"/>
          <p:nvPr/>
        </p:nvSpPr>
        <p:spPr>
          <a:xfrm>
            <a:off x="602361" y="1179671"/>
            <a:ext cx="2088568"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7：守卫与故障注入</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7351767"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Every injected fault was caught, once, with no false alarms</a:t>
            </a:r>
          </a:p>
        </p:txBody>
      </p:sp>
      <p:sp>
        <p:nvSpPr>
          <p:cNvPr id="9" name="TextBox 9"/>
          <p:cNvSpPr txBox="1"/>
          <p:nvPr/>
        </p:nvSpPr>
        <p:spPr>
          <a:xfrm>
            <a:off x="907161" y="2055971"/>
            <a:ext cx="6964344"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detection 1.00 (15/15) · false positives 0/3 · thresholds block 0.0777 / warn 0.0867</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532739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calibrated drift thresholds on real corpora (24 on-topic vs 8 real</a:t>
            </a:r>
          </a:p>
        </p:txBody>
      </p:sp>
      <p:sp>
        <p:nvSpPr>
          <p:cNvPr id="13" name="TextBox 13"/>
          <p:cNvSpPr txBox="1"/>
          <p:nvPr/>
        </p:nvSpPr>
        <p:spPr>
          <a:xfrm>
            <a:off x="602361" y="3275171"/>
            <a:ext cx="493490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off-topic papers, 15 building the centroid and 9 held back);</a:t>
            </a:r>
          </a:p>
        </p:txBody>
      </p:sp>
      <p:sp>
        <p:nvSpPr>
          <p:cNvPr id="14" name="TextBox 14"/>
          <p:cNvSpPr txBox="1"/>
          <p:nvPr/>
        </p:nvSpPr>
        <p:spPr>
          <a:xfrm>
            <a:off x="602361" y="3503771"/>
            <a:ext cx="329773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injected six scenarios three times each</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487067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seed-corpus centroid separates the distributions: on-topic</a:t>
            </a:r>
          </a:p>
        </p:txBody>
      </p:sp>
      <p:sp>
        <p:nvSpPr>
          <p:cNvPr id="18" name="TextBox 18"/>
          <p:cNvSpPr txBox="1"/>
          <p:nvPr/>
        </p:nvSpPr>
        <p:spPr>
          <a:xfrm>
            <a:off x="602361" y="4665821"/>
            <a:ext cx="490374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0.0885–0.2149 vs off-topic 0.0330–0.0670, gap 0.0215 →</a:t>
            </a:r>
          </a:p>
        </p:txBody>
      </p:sp>
      <p:sp>
        <p:nvSpPr>
          <p:cNvPr id="19" name="TextBox 19"/>
          <p:cNvSpPr txBox="1"/>
          <p:nvPr/>
        </p:nvSpPr>
        <p:spPr>
          <a:xfrm>
            <a:off x="602361" y="4894421"/>
            <a:ext cx="305611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TPR 1.0 / FPR 0.0; five families 3/3</a:t>
            </a:r>
          </a:p>
        </p:txBody>
      </p:sp>
      <p:sp>
        <p:nvSpPr>
          <p:cNvPr id="20" name="TextBox 20"/>
          <p:cNvSpPr txBox="1"/>
          <p:nvPr/>
        </p:nvSpPr>
        <p:spPr>
          <a:xfrm>
            <a:off x="602361" y="5142071"/>
            <a:ext cx="4026876"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keyword scope: no threshold worked</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316862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block = (min_on + max_off) / 2</a:t>
            </a:r>
          </a:p>
        </p:txBody>
      </p:sp>
      <p:sp>
        <p:nvSpPr>
          <p:cNvPr id="24" name="TextBox 24"/>
          <p:cNvSpPr txBox="1"/>
          <p:nvPr/>
        </p:nvSpPr>
        <p:spPr>
          <a:xfrm>
            <a:off x="6298311" y="3246596"/>
            <a:ext cx="3378901"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Consolas"/>
                <a:ea typeface="Consolas"/>
                <a:cs typeface="Consolas"/>
              </a:rPr>
              <a:t>= (0.0885 + 0.0670) / 2 = 0.0777</a:t>
            </a:r>
          </a:p>
        </p:txBody>
      </p:sp>
      <p:sp>
        <p:nvSpPr>
          <p:cNvPr id="25" name="TextBox 25"/>
          <p:cNvSpPr txBox="1"/>
          <p:nvPr/>
        </p:nvSpPr>
        <p:spPr>
          <a:xfrm>
            <a:off x="6126861" y="3446621"/>
            <a:ext cx="1352601"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阈值取间隙中点</a:t>
            </a:r>
          </a:p>
        </p:txBody>
      </p:sp>
      <p:sp>
        <p:nvSpPr>
          <p:cNvPr id="26" name="TextBox 26"/>
          <p:cNvSpPr txBox="1"/>
          <p:nvPr/>
        </p:nvSpPr>
        <p:spPr>
          <a:xfrm>
            <a:off x="6126861" y="3741896"/>
            <a:ext cx="295834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warn = min_on × (1 − margin)</a:t>
            </a:r>
          </a:p>
        </p:txBody>
      </p:sp>
      <p:sp>
        <p:nvSpPr>
          <p:cNvPr id="27" name="TextBox 27"/>
          <p:cNvSpPr txBox="1"/>
          <p:nvPr/>
        </p:nvSpPr>
        <p:spPr>
          <a:xfrm>
            <a:off x="6298311" y="3941921"/>
            <a:ext cx="2537795"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Consolas"/>
                <a:ea typeface="Consolas"/>
                <a:cs typeface="Consolas"/>
              </a:rPr>
              <a:t>= 0.0885 × 0.98 = 0.0867</a:t>
            </a:r>
          </a:p>
        </p:txBody>
      </p:sp>
      <p:sp>
        <p:nvSpPr>
          <p:cNvPr id="28" name="TextBox 28"/>
          <p:cNvSpPr txBox="1"/>
          <p:nvPr/>
        </p:nvSpPr>
        <p:spPr>
          <a:xfrm>
            <a:off x="6126861" y="4141946"/>
            <a:ext cx="1543761"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预警取正样本下界</a:t>
            </a:r>
          </a:p>
        </p:txBody>
      </p:sp>
      <p:sp>
        <p:nvSpPr>
          <p:cNvPr id="29" name="TextBox 29"/>
          <p:cNvSpPr txBox="1"/>
          <p:nvPr/>
        </p:nvSpPr>
        <p:spPr>
          <a:xfrm>
            <a:off x="6126861" y="4437221"/>
            <a:ext cx="285321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separable: min_on &gt; max_off</a:t>
            </a:r>
          </a:p>
        </p:txBody>
      </p:sp>
      <p:sp>
        <p:nvSpPr>
          <p:cNvPr id="30" name="TextBox 30"/>
          <p:cNvSpPr txBox="1"/>
          <p:nvPr/>
        </p:nvSpPr>
        <p:spPr>
          <a:xfrm>
            <a:off x="6126861" y="463724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可分性判据</a:t>
            </a:r>
          </a:p>
        </p:txBody>
      </p:sp>
      <p:sp>
        <p:nvSpPr>
          <p:cNvPr id="31" name="TextBox 31"/>
          <p:cNvSpPr txBox="1"/>
          <p:nvPr/>
        </p:nvSpPr>
        <p:spPr>
          <a:xfrm>
            <a:off x="6126861" y="4932521"/>
            <a:ext cx="390260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TPR = TP/(TP+FN) · FPR = FP/(FP+TN)</a:t>
            </a:r>
          </a:p>
        </p:txBody>
      </p:sp>
      <p:sp>
        <p:nvSpPr>
          <p:cNvPr id="32" name="TextBox 32"/>
          <p:cNvSpPr txBox="1"/>
          <p:nvPr/>
        </p:nvSpPr>
        <p:spPr>
          <a:xfrm>
            <a:off x="6126861" y="5132546"/>
            <a:ext cx="1352601"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检出率与误报率</a:t>
            </a:r>
          </a:p>
        </p:txBody>
      </p:sp>
      <p:sp>
        <p:nvSpPr>
          <p:cNvPr id="33" name="TextBox 33"/>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4" name="TextBox 34"/>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5" name="TextBox 35"/>
          <p:cNvSpPr txBox="1"/>
          <p:nvPr/>
        </p:nvSpPr>
        <p:spPr>
          <a:xfrm>
            <a:off x="2850261" y="5732621"/>
            <a:ext cx="8069404"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scope representation and calibration became frozen rules; retrieval and guard share one scorer</a:t>
            </a:r>
          </a:p>
        </p:txBody>
      </p:sp>
      <p:sp>
        <p:nvSpPr>
          <p:cNvPr id="36" name="Rectangle 36"/>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7" name="Rectangle 37"/>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8" name="TextBox 38"/>
          <p:cNvSpPr txBox="1"/>
          <p:nvPr/>
        </p:nvSpPr>
        <p:spPr>
          <a:xfrm>
            <a:off x="850011" y="6237446"/>
            <a:ext cx="1380577"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Guards proven</a:t>
            </a:r>
          </a:p>
        </p:txBody>
      </p:sp>
      <p:sp>
        <p:nvSpPr>
          <p:cNvPr id="39" name="TextBox 39"/>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40" name="TextBox 40"/>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20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76200" cy="285750"/>
          </a:xfrm>
          <a:prstGeom prst="roundRect">
            <a:avLst>
              <a:gd name="adj" fmla="val 37500"/>
            </a:avLst>
          </a:prstGeom>
          <a:solidFill>
            <a:srgbClr val="2563EB"/>
          </a:solidFill>
          <a:ln>
            <a:noFill/>
          </a:ln>
        </p:spPr>
        <p:txBody>
          <a:bodyPr/>
          <a:lstStyle/>
          <a:p>
            <a:endParaRPr lang="zh-CN" altLang="en-US"/>
          </a:p>
        </p:txBody>
      </p:sp>
      <p:sp>
        <p:nvSpPr>
          <p:cNvPr id="3" name="TextBox 3"/>
          <p:cNvSpPr txBox="1"/>
          <p:nvPr/>
        </p:nvSpPr>
        <p:spPr>
          <a:xfrm>
            <a:off x="811911" y="474821"/>
            <a:ext cx="3122963"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VERIFICATION 8 · METRICS (S7)</a:t>
            </a:r>
          </a:p>
        </p:txBody>
      </p:sp>
      <p:sp>
        <p:nvSpPr>
          <p:cNvPr id="4" name="TextBox 4"/>
          <p:cNvSpPr txBox="1"/>
          <p:nvPr/>
        </p:nvSpPr>
        <p:spPr>
          <a:xfrm>
            <a:off x="594360" y="723900"/>
            <a:ext cx="8998941" cy="586740"/>
          </a:xfrm>
          <a:prstGeom prst="rect">
            <a:avLst/>
          </a:prstGeom>
          <a:noFill/>
          <a:ln>
            <a:noFill/>
          </a:ln>
        </p:spPr>
        <p:txBody>
          <a:bodyPr wrap="none" lIns="0" tIns="0" rIns="0" bIns="0" anchor="t" anchorCtr="0">
            <a:spAutoFit/>
          </a:bodyPr>
          <a:lstStyle/>
          <a:p>
            <a:pPr algn="l"/>
            <a:r>
              <a:rPr lang="en-US" sz="3000" b="1" dirty="0">
                <a:solidFill>
                  <a:srgbClr val="0F172A"/>
                </a:solidFill>
                <a:latin typeface="Arial"/>
                <a:ea typeface="Arial"/>
                <a:cs typeface="Arial"/>
              </a:rPr>
              <a:t>Can the numbers be recomputed from events?</a:t>
            </a:r>
          </a:p>
        </p:txBody>
      </p:sp>
      <p:sp>
        <p:nvSpPr>
          <p:cNvPr id="5" name="TextBox 5"/>
          <p:cNvSpPr txBox="1"/>
          <p:nvPr/>
        </p:nvSpPr>
        <p:spPr>
          <a:xfrm>
            <a:off x="602361" y="1179671"/>
            <a:ext cx="2279729"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验证 8：指标可从事件复算</a:t>
            </a:r>
          </a:p>
        </p:txBody>
      </p:sp>
      <p:sp>
        <p:nvSpPr>
          <p:cNvPr id="6" name="Line 6"/>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rgbClr val="E2E8F0"/>
            </a:solidFill>
          </a:ln>
        </p:spPr>
        <p:txBody>
          <a:bodyPr/>
          <a:lstStyle/>
          <a:p>
            <a:endParaRPr lang="zh-CN" altLang="en-US"/>
          </a:p>
        </p:txBody>
      </p:sp>
      <p:sp>
        <p:nvSpPr>
          <p:cNvPr id="7" name="Rectangle 7"/>
          <p:cNvSpPr/>
          <p:nvPr/>
        </p:nvSpPr>
        <p:spPr>
          <a:xfrm>
            <a:off x="609600" y="1638300"/>
            <a:ext cx="10972800" cy="723900"/>
          </a:xfrm>
          <a:prstGeom prst="roundRect">
            <a:avLst>
              <a:gd name="adj" fmla="val 10526"/>
            </a:avLst>
          </a:prstGeom>
          <a:solidFill>
            <a:srgbClr val="DBEAFE"/>
          </a:solidFill>
          <a:ln w="9525">
            <a:solidFill>
              <a:srgbClr val="2563EB"/>
            </a:solidFill>
          </a:ln>
        </p:spPr>
        <p:txBody>
          <a:bodyPr/>
          <a:lstStyle/>
          <a:p>
            <a:endParaRPr lang="zh-CN" altLang="en-US"/>
          </a:p>
        </p:txBody>
      </p:sp>
      <p:sp>
        <p:nvSpPr>
          <p:cNvPr id="8" name="TextBox 8"/>
          <p:cNvSpPr txBox="1"/>
          <p:nvPr/>
        </p:nvSpPr>
        <p:spPr>
          <a:xfrm>
            <a:off x="904494" y="1732598"/>
            <a:ext cx="9467017" cy="381381"/>
          </a:xfrm>
          <a:prstGeom prst="rect">
            <a:avLst/>
          </a:prstGeom>
          <a:noFill/>
          <a:ln>
            <a:noFill/>
          </a:ln>
        </p:spPr>
        <p:txBody>
          <a:bodyPr wrap="none" lIns="0" tIns="0" rIns="0" bIns="0" anchor="t" anchorCtr="0">
            <a:spAutoFit/>
          </a:bodyPr>
          <a:lstStyle/>
          <a:p>
            <a:pPr algn="l"/>
            <a:r>
              <a:rPr lang="en-US" sz="1950" b="1" dirty="0">
                <a:solidFill>
                  <a:srgbClr val="0F172A"/>
                </a:solidFill>
                <a:latin typeface="Arial"/>
                <a:ea typeface="Arial"/>
                <a:cs typeface="Arial"/>
              </a:rPr>
              <a:t>Every headline number is recomputed from events and reproduces by hand</a:t>
            </a:r>
          </a:p>
        </p:txBody>
      </p:sp>
      <p:sp>
        <p:nvSpPr>
          <p:cNvPr id="9" name="TextBox 9"/>
          <p:cNvSpPr txBox="1"/>
          <p:nvPr/>
        </p:nvSpPr>
        <p:spPr>
          <a:xfrm>
            <a:off x="907161" y="2055971"/>
            <a:ext cx="9037249" cy="278702"/>
          </a:xfrm>
          <a:prstGeom prst="rect">
            <a:avLst/>
          </a:prstGeom>
          <a:noFill/>
          <a:ln>
            <a:noFill/>
          </a:ln>
        </p:spPr>
        <p:txBody>
          <a:bodyPr wrap="none" lIns="0" tIns="0" rIns="0" bIns="0" anchor="t" anchorCtr="0">
            <a:spAutoFit/>
          </a:bodyPr>
          <a:lstStyle/>
          <a:p>
            <a:pPr algn="l"/>
            <a:r>
              <a:rPr lang="en-US" sz="1420" dirty="0">
                <a:solidFill>
                  <a:srgbClr val="64748B"/>
                </a:solidFill>
                <a:latin typeface="Arial"/>
                <a:ea typeface="Arial"/>
                <a:cs typeface="Arial"/>
              </a:rPr>
              <a:t>grounding 0.7949 (31/39) · hallucination 0.2051 (8/39) · cost $0.006294 per run · hand check 16 / 1 / 6 / 23</a:t>
            </a:r>
          </a:p>
        </p:txBody>
      </p:sp>
      <p:sp>
        <p:nvSpPr>
          <p:cNvPr id="10" name="TextBox 10"/>
          <p:cNvSpPr txBox="1"/>
          <p:nvPr/>
        </p:nvSpPr>
        <p:spPr>
          <a:xfrm>
            <a:off x="600456" y="2529840"/>
            <a:ext cx="214174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How we measured</a:t>
            </a:r>
          </a:p>
        </p:txBody>
      </p:sp>
      <p:sp>
        <p:nvSpPr>
          <p:cNvPr id="11" name="TextBox 11"/>
          <p:cNvSpPr txBox="1"/>
          <p:nvPr/>
        </p:nvSpPr>
        <p:spPr>
          <a:xfrm>
            <a:off x="6023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测量方法</a:t>
            </a:r>
          </a:p>
        </p:txBody>
      </p:sp>
      <p:sp>
        <p:nvSpPr>
          <p:cNvPr id="12" name="TextBox 12"/>
          <p:cNvSpPr txBox="1"/>
          <p:nvPr/>
        </p:nvSpPr>
        <p:spPr>
          <a:xfrm>
            <a:off x="602361" y="3046571"/>
            <a:ext cx="500839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aggregated five metrics from the event log only, never from</a:t>
            </a:r>
          </a:p>
        </p:txBody>
      </p:sp>
      <p:sp>
        <p:nvSpPr>
          <p:cNvPr id="13" name="TextBox 13"/>
          <p:cNvSpPr txBox="1"/>
          <p:nvPr/>
        </p:nvSpPr>
        <p:spPr>
          <a:xfrm>
            <a:off x="602361" y="3275171"/>
            <a:ext cx="4721382"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summary files, over a defined campaign (last 3 runs per</a:t>
            </a:r>
          </a:p>
        </p:txBody>
      </p:sp>
      <p:sp>
        <p:nvSpPr>
          <p:cNvPr id="14" name="TextBox 14"/>
          <p:cNvSpPr txBox="1"/>
          <p:nvPr/>
        </p:nvSpPr>
        <p:spPr>
          <a:xfrm>
            <a:off x="602361" y="3503771"/>
            <a:ext cx="3223105"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scenario, last 2 report runs, cold start)</a:t>
            </a:r>
          </a:p>
        </p:txBody>
      </p:sp>
      <p:sp>
        <p:nvSpPr>
          <p:cNvPr id="15" name="TextBox 15"/>
          <p:cNvSpPr txBox="1"/>
          <p:nvPr/>
        </p:nvSpPr>
        <p:spPr>
          <a:xfrm>
            <a:off x="600456" y="3939540"/>
            <a:ext cx="90070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Results</a:t>
            </a:r>
          </a:p>
        </p:txBody>
      </p:sp>
      <p:sp>
        <p:nvSpPr>
          <p:cNvPr id="16" name="TextBox 16"/>
          <p:cNvSpPr txBox="1"/>
          <p:nvPr/>
        </p:nvSpPr>
        <p:spPr>
          <a:xfrm>
            <a:off x="602361" y="41895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实测结果</a:t>
            </a:r>
          </a:p>
        </p:txBody>
      </p:sp>
      <p:sp>
        <p:nvSpPr>
          <p:cNvPr id="17" name="TextBox 17"/>
          <p:cNvSpPr txBox="1"/>
          <p:nvPr/>
        </p:nvSpPr>
        <p:spPr>
          <a:xfrm>
            <a:off x="602361" y="4437221"/>
            <a:ext cx="472179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citation-resolvable rate 1.0; injection TPR 1.0; FPR 0.0;</a:t>
            </a:r>
          </a:p>
        </p:txBody>
      </p:sp>
      <p:sp>
        <p:nvSpPr>
          <p:cNvPr id="18" name="TextBox 18"/>
          <p:cNvSpPr txBox="1"/>
          <p:nvPr/>
        </p:nvSpPr>
        <p:spPr>
          <a:xfrm>
            <a:off x="602361" y="4665821"/>
            <a:ext cx="4913498"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topicality 0.0699; cold-start cost max $0.012589; the hand</a:t>
            </a:r>
          </a:p>
        </p:txBody>
      </p:sp>
      <p:sp>
        <p:nvSpPr>
          <p:cNvPr id="19" name="TextBox 19"/>
          <p:cNvSpPr txBox="1"/>
          <p:nvPr/>
        </p:nvSpPr>
        <p:spPr>
          <a:xfrm>
            <a:off x="602361" y="4894421"/>
            <a:ext cx="4126529"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check (16 / 1 / 6 / 23) matched the event statistic</a:t>
            </a:r>
          </a:p>
        </p:txBody>
      </p:sp>
      <p:sp>
        <p:nvSpPr>
          <p:cNvPr id="20" name="TextBox 20"/>
          <p:cNvSpPr txBox="1"/>
          <p:nvPr/>
        </p:nvSpPr>
        <p:spPr>
          <a:xfrm>
            <a:off x="602361" y="5142071"/>
            <a:ext cx="4801895"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Caveat — labels are model-self-reported (llm_self_label)</a:t>
            </a:r>
          </a:p>
        </p:txBody>
      </p:sp>
      <p:sp>
        <p:nvSpPr>
          <p:cNvPr id="21" name="TextBox 21"/>
          <p:cNvSpPr txBox="1"/>
          <p:nvPr/>
        </p:nvSpPr>
        <p:spPr>
          <a:xfrm>
            <a:off x="6124956" y="2529840"/>
            <a:ext cx="111666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Formulas</a:t>
            </a:r>
          </a:p>
        </p:txBody>
      </p:sp>
      <p:sp>
        <p:nvSpPr>
          <p:cNvPr id="22" name="TextBox 22"/>
          <p:cNvSpPr txBox="1"/>
          <p:nvPr/>
        </p:nvSpPr>
        <p:spPr>
          <a:xfrm>
            <a:off x="6126861" y="27798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计算公式</a:t>
            </a:r>
          </a:p>
        </p:txBody>
      </p:sp>
      <p:sp>
        <p:nvSpPr>
          <p:cNvPr id="23" name="TextBox 23"/>
          <p:cNvSpPr txBox="1"/>
          <p:nvPr/>
        </p:nvSpPr>
        <p:spPr>
          <a:xfrm>
            <a:off x="6126861" y="3046571"/>
            <a:ext cx="453542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grounding = supported / verifiable = 0.7949</a:t>
            </a:r>
          </a:p>
        </p:txBody>
      </p:sp>
      <p:sp>
        <p:nvSpPr>
          <p:cNvPr id="24" name="TextBox 24"/>
          <p:cNvSpPr txBox="1"/>
          <p:nvPr/>
        </p:nvSpPr>
        <p:spPr>
          <a:xfrm>
            <a:off x="6126861" y="3246596"/>
            <a:ext cx="587959"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支持率</a:t>
            </a:r>
          </a:p>
        </p:txBody>
      </p:sp>
      <p:sp>
        <p:nvSpPr>
          <p:cNvPr id="25" name="TextBox 25"/>
          <p:cNvSpPr txBox="1"/>
          <p:nvPr/>
        </p:nvSpPr>
        <p:spPr>
          <a:xfrm>
            <a:off x="6126861" y="3541871"/>
            <a:ext cx="400973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hallucination = 1 − grounding = 0.2051</a:t>
            </a:r>
          </a:p>
        </p:txBody>
      </p:sp>
      <p:sp>
        <p:nvSpPr>
          <p:cNvPr id="26" name="TextBox 26"/>
          <p:cNvSpPr txBox="1"/>
          <p:nvPr/>
        </p:nvSpPr>
        <p:spPr>
          <a:xfrm>
            <a:off x="6126861" y="3741896"/>
            <a:ext cx="1706248"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幻觉率 = 1 − 支持率</a:t>
            </a:r>
          </a:p>
        </p:txBody>
      </p:sp>
      <p:sp>
        <p:nvSpPr>
          <p:cNvPr id="27" name="TextBox 27"/>
          <p:cNvSpPr txBox="1"/>
          <p:nvPr/>
        </p:nvSpPr>
        <p:spPr>
          <a:xfrm>
            <a:off x="6126861" y="4037171"/>
            <a:ext cx="4535421"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Consolas"/>
                <a:ea typeface="Consolas"/>
                <a:cs typeface="Consolas"/>
              </a:rPr>
              <a:t>severe = contradicted / verifiable = 0.0513</a:t>
            </a:r>
          </a:p>
        </p:txBody>
      </p:sp>
      <p:sp>
        <p:nvSpPr>
          <p:cNvPr id="28" name="TextBox 28"/>
          <p:cNvSpPr txBox="1"/>
          <p:nvPr/>
        </p:nvSpPr>
        <p:spPr>
          <a:xfrm>
            <a:off x="6126861" y="4237196"/>
            <a:ext cx="97028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严重幻觉率</a:t>
            </a:r>
          </a:p>
        </p:txBody>
      </p:sp>
      <p:sp>
        <p:nvSpPr>
          <p:cNvPr id="29" name="TextBox 29"/>
          <p:cNvSpPr txBox="1"/>
          <p:nvPr/>
        </p:nvSpPr>
        <p:spPr>
          <a:xfrm>
            <a:off x="6126861" y="4532471"/>
            <a:ext cx="3917545" cy="278702"/>
          </a:xfrm>
          <a:prstGeom prst="rect">
            <a:avLst/>
          </a:prstGeom>
          <a:noFill/>
          <a:ln>
            <a:noFill/>
          </a:ln>
        </p:spPr>
        <p:txBody>
          <a:bodyPr wrap="none" lIns="0" tIns="0" rIns="0" bIns="0" anchor="t" anchorCtr="0">
            <a:spAutoFit/>
          </a:bodyPr>
          <a:lstStyle/>
          <a:p>
            <a:pPr algn="l"/>
            <a:r>
              <a:rPr lang="el-GR" sz="1420" dirty="0">
                <a:solidFill>
                  <a:srgbClr val="0F172A"/>
                </a:solidFill>
                <a:latin typeface="Consolas"/>
                <a:ea typeface="Consolas"/>
                <a:cs typeface="Consolas"/>
              </a:rPr>
              <a:t>cost_mean = Σ cost / runs = $0.006294</a:t>
            </a:r>
          </a:p>
        </p:txBody>
      </p:sp>
      <p:sp>
        <p:nvSpPr>
          <p:cNvPr id="30" name="TextBox 30"/>
          <p:cNvSpPr txBox="1"/>
          <p:nvPr/>
        </p:nvSpPr>
        <p:spPr>
          <a:xfrm>
            <a:off x="6126861" y="4732496"/>
            <a:ext cx="1161440" cy="278702"/>
          </a:xfrm>
          <a:prstGeom prst="rect">
            <a:avLst/>
          </a:prstGeom>
          <a:noFill/>
          <a:ln>
            <a:noFill/>
          </a:ln>
        </p:spPr>
        <p:txBody>
          <a:bodyPr wrap="none" lIns="0" tIns="0" rIns="0" bIns="0" anchor="t" anchorCtr="0">
            <a:spAutoFit/>
          </a:bodyPr>
          <a:lstStyle/>
          <a:p>
            <a:pPr algn="l"/>
            <a:r>
              <a:rPr lang="zh-CN" sz="1420" dirty="0">
                <a:solidFill>
                  <a:srgbClr val="94A3B8"/>
                </a:solidFill>
                <a:latin typeface="Microsoft YaHei"/>
                <a:ea typeface="Microsoft YaHei"/>
                <a:cs typeface="Microsoft YaHei"/>
              </a:rPr>
              <a:t>单次平均成本</a:t>
            </a:r>
          </a:p>
        </p:txBody>
      </p:sp>
      <p:sp>
        <p:nvSpPr>
          <p:cNvPr id="31" name="TextBox 31"/>
          <p:cNvSpPr txBox="1"/>
          <p:nvPr/>
        </p:nvSpPr>
        <p:spPr>
          <a:xfrm>
            <a:off x="600456" y="5749290"/>
            <a:ext cx="806689" cy="352044"/>
          </a:xfrm>
          <a:prstGeom prst="rect">
            <a:avLst/>
          </a:prstGeom>
          <a:noFill/>
          <a:ln>
            <a:noFill/>
          </a:ln>
        </p:spPr>
        <p:txBody>
          <a:bodyPr wrap="none" lIns="0" tIns="0" rIns="0" bIns="0" anchor="t" anchorCtr="0">
            <a:spAutoFit/>
          </a:bodyPr>
          <a:lstStyle/>
          <a:p>
            <a:pPr algn="l"/>
            <a:r>
              <a:rPr lang="en-US" sz="1800" b="1" dirty="0">
                <a:solidFill>
                  <a:srgbClr val="2563EB"/>
                </a:solidFill>
                <a:latin typeface="Arial"/>
                <a:ea typeface="Arial"/>
                <a:cs typeface="Arial"/>
              </a:rPr>
              <a:t>Impact</a:t>
            </a:r>
          </a:p>
        </p:txBody>
      </p:sp>
      <p:sp>
        <p:nvSpPr>
          <p:cNvPr id="32" name="TextBox 32"/>
          <p:cNvSpPr txBox="1"/>
          <p:nvPr/>
        </p:nvSpPr>
        <p:spPr>
          <a:xfrm>
            <a:off x="1688211" y="5789771"/>
            <a:ext cx="779120" cy="278702"/>
          </a:xfrm>
          <a:prstGeom prst="rect">
            <a:avLst/>
          </a:prstGeom>
          <a:noFill/>
          <a:ln>
            <a:noFill/>
          </a:ln>
        </p:spPr>
        <p:txBody>
          <a:bodyPr wrap="none" lIns="0" tIns="0" rIns="0" bIns="0" anchor="t" anchorCtr="0">
            <a:spAutoFit/>
          </a:bodyPr>
          <a:lstStyle/>
          <a:p>
            <a:pPr algn="l"/>
            <a:r>
              <a:rPr lang="zh-CN" sz="1420" dirty="0">
                <a:solidFill>
                  <a:srgbClr val="64748B"/>
                </a:solidFill>
                <a:latin typeface="Microsoft YaHei"/>
                <a:ea typeface="Microsoft YaHei"/>
                <a:cs typeface="Microsoft YaHei"/>
              </a:rPr>
              <a:t>结论影响</a:t>
            </a:r>
          </a:p>
        </p:txBody>
      </p:sp>
      <p:sp>
        <p:nvSpPr>
          <p:cNvPr id="33" name="TextBox 33"/>
          <p:cNvSpPr txBox="1"/>
          <p:nvPr/>
        </p:nvSpPr>
        <p:spPr>
          <a:xfrm>
            <a:off x="2850261" y="5732621"/>
            <a:ext cx="7171370" cy="278702"/>
          </a:xfrm>
          <a:prstGeom prst="rect">
            <a:avLst/>
          </a:prstGeom>
          <a:noFill/>
          <a:ln>
            <a:noFill/>
          </a:ln>
        </p:spPr>
        <p:txBody>
          <a:bodyPr wrap="none" lIns="0" tIns="0" rIns="0" bIns="0" anchor="t" anchorCtr="0">
            <a:spAutoFit/>
          </a:bodyPr>
          <a:lstStyle/>
          <a:p>
            <a:pPr algn="l"/>
            <a:r>
              <a:rPr lang="en-US" sz="1420" dirty="0">
                <a:solidFill>
                  <a:srgbClr val="0F172A"/>
                </a:solidFill>
                <a:latin typeface="Arial"/>
                <a:ea typeface="Arial"/>
                <a:cs typeface="Arial"/>
              </a:rPr>
              <a:t>three instrumentation points were added; a gold fact set + cross-vendor judge is next</a:t>
            </a:r>
          </a:p>
        </p:txBody>
      </p:sp>
      <p:sp>
        <p:nvSpPr>
          <p:cNvPr id="34" name="Rectangle 34"/>
          <p:cNvSpPr/>
          <p:nvPr/>
        </p:nvSpPr>
        <p:spPr>
          <a:xfrm>
            <a:off x="609600" y="6096000"/>
            <a:ext cx="10972800" cy="457200"/>
          </a:xfrm>
          <a:prstGeom prst="rect">
            <a:avLst/>
          </a:prstGeom>
          <a:solidFill>
            <a:srgbClr val="F1F5F9"/>
          </a:solidFill>
          <a:ln>
            <a:noFill/>
          </a:ln>
        </p:spPr>
        <p:txBody>
          <a:bodyPr/>
          <a:lstStyle/>
          <a:p>
            <a:endParaRPr lang="zh-CN" altLang="en-US"/>
          </a:p>
        </p:txBody>
      </p:sp>
      <p:sp>
        <p:nvSpPr>
          <p:cNvPr id="35" name="Rectangle 35"/>
          <p:cNvSpPr/>
          <p:nvPr/>
        </p:nvSpPr>
        <p:spPr>
          <a:xfrm>
            <a:off x="609600" y="6096000"/>
            <a:ext cx="57150" cy="457200"/>
          </a:xfrm>
          <a:prstGeom prst="rect">
            <a:avLst/>
          </a:prstGeom>
          <a:solidFill>
            <a:srgbClr val="2563EB"/>
          </a:solidFill>
          <a:ln>
            <a:noFill/>
          </a:ln>
        </p:spPr>
        <p:txBody>
          <a:bodyPr/>
          <a:lstStyle/>
          <a:p>
            <a:endParaRPr lang="zh-CN" altLang="en-US"/>
          </a:p>
        </p:txBody>
      </p:sp>
      <p:sp>
        <p:nvSpPr>
          <p:cNvPr id="36" name="TextBox 36"/>
          <p:cNvSpPr txBox="1"/>
          <p:nvPr/>
        </p:nvSpPr>
        <p:spPr>
          <a:xfrm>
            <a:off x="850011" y="6237446"/>
            <a:ext cx="1741392" cy="278702"/>
          </a:xfrm>
          <a:prstGeom prst="rect">
            <a:avLst/>
          </a:prstGeom>
          <a:noFill/>
          <a:ln>
            <a:noFill/>
          </a:ln>
        </p:spPr>
        <p:txBody>
          <a:bodyPr wrap="none" lIns="0" tIns="0" rIns="0" bIns="0" anchor="t" anchorCtr="0">
            <a:spAutoFit/>
          </a:bodyPr>
          <a:lstStyle/>
          <a:p>
            <a:pPr algn="l"/>
            <a:r>
              <a:rPr lang="en-US" sz="1420" b="1" dirty="0">
                <a:solidFill>
                  <a:srgbClr val="0F172A"/>
                </a:solidFill>
                <a:latin typeface="Arial"/>
                <a:ea typeface="Arial"/>
                <a:cs typeface="Arial"/>
              </a:rPr>
              <a:t>Numbers auditable</a:t>
            </a:r>
          </a:p>
        </p:txBody>
      </p:sp>
      <p:sp>
        <p:nvSpPr>
          <p:cNvPr id="37" name="TextBox 37"/>
          <p:cNvSpPr txBox="1"/>
          <p:nvPr/>
        </p:nvSpPr>
        <p:spPr>
          <a:xfrm>
            <a:off x="602361" y="6627971"/>
            <a:ext cx="3651911" cy="278702"/>
          </a:xfrm>
          <a:prstGeom prst="rect">
            <a:avLst/>
          </a:prstGeom>
          <a:noFill/>
          <a:ln>
            <a:noFill/>
          </a:ln>
        </p:spPr>
        <p:txBody>
          <a:bodyPr wrap="none" lIns="0" tIns="0" rIns="0" bIns="0" anchor="t" anchorCtr="0">
            <a:spAutoFit/>
          </a:bodyPr>
          <a:lstStyle/>
          <a:p>
            <a:pPr algn="l"/>
            <a:r>
              <a:rPr lang="en-US" sz="1420" dirty="0">
                <a:solidFill>
                  <a:srgbClr val="94A3B8"/>
                </a:solidFill>
                <a:latin typeface="Arial"/>
                <a:ea typeface="Arial"/>
                <a:cs typeface="Arial"/>
              </a:rPr>
              <a:t>Phase 0 Progress Report · EE5003 · NUS</a:t>
            </a:r>
          </a:p>
        </p:txBody>
      </p:sp>
      <p:sp>
        <p:nvSpPr>
          <p:cNvPr id="38" name="TextBox 38"/>
          <p:cNvSpPr txBox="1"/>
          <p:nvPr/>
        </p:nvSpPr>
        <p:spPr>
          <a:xfrm>
            <a:off x="10990554" y="6627971"/>
            <a:ext cx="599085" cy="278702"/>
          </a:xfrm>
          <a:prstGeom prst="rect">
            <a:avLst/>
          </a:prstGeom>
          <a:noFill/>
          <a:ln>
            <a:noFill/>
          </a:ln>
        </p:spPr>
        <p:txBody>
          <a:bodyPr wrap="none" lIns="0" tIns="0" rIns="0" bIns="0" anchor="t" anchorCtr="0">
            <a:spAutoFit/>
          </a:bodyPr>
          <a:lstStyle/>
          <a:p>
            <a:pPr algn="r"/>
            <a:r>
              <a:rPr lang="en-US" sz="1420" dirty="0">
                <a:solidFill>
                  <a:srgbClr val="94A3B8"/>
                </a:solidFill>
                <a:latin typeface="Arial"/>
                <a:ea typeface="Arial"/>
                <a:cs typeface="Arial"/>
              </a:rPr>
              <a:t>21 / 21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gm1013v4">
  <a:themeElements>
    <a:clrScheme name="gm1013v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1013v4">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m1013v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m1013v4">
  <a:themeElements>
    <a:clrScheme name="gm1013v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1013v4">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m1013v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TotalTime>
  <Words>8327</Words>
  <Application>Microsoft Office PowerPoint</Application>
  <PresentationFormat>宽屏</PresentationFormat>
  <Paragraphs>613</Paragraphs>
  <Slides>21</Slides>
  <Notes>21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21</vt:i4>
      </vt:variant>
    </vt:vector>
  </HeadingPairs>
  <TitlesOfParts>
    <vt:vector size="26" baseType="lpstr">
      <vt:lpstr>Microsoft YaHei</vt:lpstr>
      <vt:lpstr>Arial</vt:lpstr>
      <vt:lpstr>Calibri</vt:lpstr>
      <vt:lpstr>Consolas</vt:lpstr>
      <vt:lpstr>gm1013v4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贺鹏 周</cp:lastModifiedBy>
  <cp:revision>2</cp:revision>
  <dcterms:created xsi:type="dcterms:W3CDTF">2026-10-14T04:44:28Z</dcterms:created>
  <dcterms:modified xsi:type="dcterms:W3CDTF">2026-10-14T05:32:17Z</dcterms:modified>
  <cp:category/>
  <cp:contentStatus/>
  <dc:language/>
</cp:coreProperties>
</file>